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91" r:id="rId3"/>
    <p:sldId id="396" r:id="rId4"/>
    <p:sldId id="260" r:id="rId5"/>
    <p:sldId id="397" r:id="rId6"/>
    <p:sldId id="332" r:id="rId7"/>
    <p:sldId id="336" r:id="rId8"/>
    <p:sldId id="337" r:id="rId9"/>
    <p:sldId id="476" r:id="rId10"/>
    <p:sldId id="380" r:id="rId11"/>
    <p:sldId id="387" r:id="rId12"/>
    <p:sldId id="461" r:id="rId13"/>
    <p:sldId id="469" r:id="rId14"/>
    <p:sldId id="470" r:id="rId15"/>
    <p:sldId id="472" r:id="rId16"/>
    <p:sldId id="471" r:id="rId17"/>
    <p:sldId id="473" r:id="rId18"/>
    <p:sldId id="474" r:id="rId19"/>
    <p:sldId id="445" r:id="rId20"/>
    <p:sldId id="475" r:id="rId21"/>
    <p:sldId id="384" r:id="rId22"/>
    <p:sldId id="385" r:id="rId23"/>
    <p:sldId id="386" r:id="rId24"/>
    <p:sldId id="446" r:id="rId25"/>
    <p:sldId id="392" r:id="rId26"/>
    <p:sldId id="453" r:id="rId27"/>
    <p:sldId id="346" r:id="rId28"/>
    <p:sldId id="477" r:id="rId29"/>
    <p:sldId id="274" r:id="rId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99"/>
    <a:srgbClr val="99CC00"/>
    <a:srgbClr val="99FF33"/>
    <a:srgbClr val="00CC99"/>
    <a:srgbClr val="009999"/>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07" autoAdjust="0"/>
    <p:restoredTop sz="94635" autoAdjust="0"/>
  </p:normalViewPr>
  <p:slideViewPr>
    <p:cSldViewPr>
      <p:cViewPr>
        <p:scale>
          <a:sx n="110" d="100"/>
          <a:sy n="110" d="100"/>
        </p:scale>
        <p:origin x="-228" y="4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FB4B90-D8A0-4331-A5F2-D53055D4E4E7}" type="doc">
      <dgm:prSet loTypeId="urn:microsoft.com/office/officeart/2005/8/layout/cycle5" loCatId="cycle" qsTypeId="urn:microsoft.com/office/officeart/2005/8/quickstyle/3d5" qsCatId="3D" csTypeId="urn:microsoft.com/office/officeart/2005/8/colors/accent1_2" csCatId="accent1" phldr="1"/>
      <dgm:spPr/>
      <dgm:t>
        <a:bodyPr/>
        <a:lstStyle/>
        <a:p>
          <a:endParaRPr lang="en-US"/>
        </a:p>
      </dgm:t>
    </dgm:pt>
    <dgm:pt modelId="{E31A4724-B8CD-4684-A3EC-FA9D42BF8953}">
      <dgm:prSet phldrT="[Text]"/>
      <dgm:spPr/>
      <dgm:t>
        <a:bodyPr/>
        <a:lstStyle/>
        <a:p>
          <a:r>
            <a:rPr lang="zh-CN" altLang="en-US" dirty="0" smtClean="0"/>
            <a:t>客户识别</a:t>
          </a:r>
          <a:endParaRPr lang="en-US" dirty="0"/>
        </a:p>
      </dgm:t>
    </dgm:pt>
    <dgm:pt modelId="{E65828D8-727C-4F36-A593-65FCE466D50C}" type="parTrans" cxnId="{72A16F6E-D811-4E84-A6BA-6269710201A8}">
      <dgm:prSet/>
      <dgm:spPr/>
      <dgm:t>
        <a:bodyPr/>
        <a:lstStyle/>
        <a:p>
          <a:endParaRPr lang="en-US"/>
        </a:p>
      </dgm:t>
    </dgm:pt>
    <dgm:pt modelId="{8DED6A3B-1FF1-4FB4-951C-F66E39971E06}" type="sibTrans" cxnId="{72A16F6E-D811-4E84-A6BA-6269710201A8}">
      <dgm:prSet/>
      <dgm:spPr>
        <a:ln w="38100">
          <a:solidFill>
            <a:schemeClr val="accent1">
              <a:lumMod val="75000"/>
            </a:schemeClr>
          </a:solidFill>
        </a:ln>
        <a:effectLst>
          <a:outerShdw blurRad="50800" dist="38100" dir="2700000" algn="tl" rotWithShape="0">
            <a:prstClr val="black">
              <a:alpha val="40000"/>
            </a:prstClr>
          </a:outerShdw>
        </a:effectLst>
      </dgm:spPr>
      <dgm:t>
        <a:bodyPr/>
        <a:lstStyle/>
        <a:p>
          <a:endParaRPr lang="en-US"/>
        </a:p>
      </dgm:t>
    </dgm:pt>
    <dgm:pt modelId="{8635FE97-EA83-4483-80F3-C8CE1CA4D098}">
      <dgm:prSet phldrT="[Text]"/>
      <dgm:spPr/>
      <dgm:t>
        <a:bodyPr/>
        <a:lstStyle/>
        <a:p>
          <a:r>
            <a:rPr lang="zh-CN" altLang="en-US" dirty="0" smtClean="0"/>
            <a:t>客户获取</a:t>
          </a:r>
          <a:endParaRPr lang="en-US" dirty="0"/>
        </a:p>
      </dgm:t>
    </dgm:pt>
    <dgm:pt modelId="{F0F90D06-7DB8-406C-ABE3-9CFC72B8C319}" type="parTrans" cxnId="{E12791F2-D914-41D0-B82D-851CBA808228}">
      <dgm:prSet/>
      <dgm:spPr/>
      <dgm:t>
        <a:bodyPr/>
        <a:lstStyle/>
        <a:p>
          <a:endParaRPr lang="en-US"/>
        </a:p>
      </dgm:t>
    </dgm:pt>
    <dgm:pt modelId="{AA1FC8E1-D54B-4291-8F50-0A456860CCAC}" type="sibTrans" cxnId="{E12791F2-D914-41D0-B82D-851CBA808228}">
      <dgm:prSet/>
      <dgm:spPr>
        <a:ln w="38100">
          <a:solidFill>
            <a:schemeClr val="accent1">
              <a:lumMod val="75000"/>
            </a:schemeClr>
          </a:solidFill>
        </a:ln>
        <a:effectLst>
          <a:outerShdw blurRad="50800" dist="38100" dir="2700000" algn="tl" rotWithShape="0">
            <a:prstClr val="black">
              <a:alpha val="40000"/>
            </a:prstClr>
          </a:outerShdw>
        </a:effectLst>
      </dgm:spPr>
      <dgm:t>
        <a:bodyPr/>
        <a:lstStyle/>
        <a:p>
          <a:endParaRPr lang="en-US"/>
        </a:p>
      </dgm:t>
    </dgm:pt>
    <dgm:pt modelId="{7336583D-894F-4A52-8867-7D157747696A}">
      <dgm:prSet phldrT="[Text]"/>
      <dgm:spPr/>
      <dgm:t>
        <a:bodyPr/>
        <a:lstStyle/>
        <a:p>
          <a:r>
            <a:rPr lang="zh-CN" altLang="en-US" dirty="0" smtClean="0"/>
            <a:t>客户保留</a:t>
          </a:r>
          <a:endParaRPr lang="en-US" dirty="0"/>
        </a:p>
      </dgm:t>
    </dgm:pt>
    <dgm:pt modelId="{A14EB25D-20C9-4797-A161-2257E117ED8C}" type="parTrans" cxnId="{0053B28E-D89B-465A-99D9-321CB4511EAD}">
      <dgm:prSet/>
      <dgm:spPr/>
      <dgm:t>
        <a:bodyPr/>
        <a:lstStyle/>
        <a:p>
          <a:endParaRPr lang="en-US"/>
        </a:p>
      </dgm:t>
    </dgm:pt>
    <dgm:pt modelId="{1D24E17B-2540-4CC0-B2C2-5D8EB360581B}" type="sibTrans" cxnId="{0053B28E-D89B-465A-99D9-321CB4511EAD}">
      <dgm:prSet/>
      <dgm:spPr>
        <a:ln w="38100">
          <a:solidFill>
            <a:schemeClr val="accent1">
              <a:lumMod val="75000"/>
            </a:schemeClr>
          </a:solidFill>
        </a:ln>
        <a:effectLst>
          <a:outerShdw blurRad="50800" dist="38100" dir="2700000" algn="tl" rotWithShape="0">
            <a:prstClr val="black">
              <a:alpha val="40000"/>
            </a:prstClr>
          </a:outerShdw>
        </a:effectLst>
      </dgm:spPr>
      <dgm:t>
        <a:bodyPr/>
        <a:lstStyle/>
        <a:p>
          <a:endParaRPr lang="en-US"/>
        </a:p>
      </dgm:t>
    </dgm:pt>
    <dgm:pt modelId="{6C78DDBB-1871-4C3A-A34F-53F5FF7ECB47}" type="pres">
      <dgm:prSet presAssocID="{FFFB4B90-D8A0-4331-A5F2-D53055D4E4E7}" presName="cycle" presStyleCnt="0">
        <dgm:presLayoutVars>
          <dgm:dir/>
          <dgm:resizeHandles val="exact"/>
        </dgm:presLayoutVars>
      </dgm:prSet>
      <dgm:spPr/>
      <dgm:t>
        <a:bodyPr/>
        <a:lstStyle/>
        <a:p>
          <a:endParaRPr lang="en-US"/>
        </a:p>
      </dgm:t>
    </dgm:pt>
    <dgm:pt modelId="{233A4506-1CFB-47B9-A506-848845CA27D3}" type="pres">
      <dgm:prSet presAssocID="{E31A4724-B8CD-4684-A3EC-FA9D42BF8953}" presName="node" presStyleLbl="node1" presStyleIdx="0" presStyleCnt="3" custRadScaleRad="105573" custRadScaleInc="5367">
        <dgm:presLayoutVars>
          <dgm:bulletEnabled val="1"/>
        </dgm:presLayoutVars>
      </dgm:prSet>
      <dgm:spPr/>
      <dgm:t>
        <a:bodyPr/>
        <a:lstStyle/>
        <a:p>
          <a:endParaRPr lang="en-US"/>
        </a:p>
      </dgm:t>
    </dgm:pt>
    <dgm:pt modelId="{03FEA463-75FC-4E95-845A-9959BCE523CB}" type="pres">
      <dgm:prSet presAssocID="{E31A4724-B8CD-4684-A3EC-FA9D42BF8953}" presName="spNode" presStyleCnt="0"/>
      <dgm:spPr/>
    </dgm:pt>
    <dgm:pt modelId="{9BB48D1A-E10B-42E7-B46B-EE4239DE1F18}" type="pres">
      <dgm:prSet presAssocID="{8DED6A3B-1FF1-4FB4-951C-F66E39971E06}" presName="sibTrans" presStyleLbl="sibTrans1D1" presStyleIdx="0" presStyleCnt="3"/>
      <dgm:spPr/>
      <dgm:t>
        <a:bodyPr/>
        <a:lstStyle/>
        <a:p>
          <a:endParaRPr lang="en-US"/>
        </a:p>
      </dgm:t>
    </dgm:pt>
    <dgm:pt modelId="{A5D2F56A-5909-472D-8624-5B90DD87C16B}" type="pres">
      <dgm:prSet presAssocID="{8635FE97-EA83-4483-80F3-C8CE1CA4D098}" presName="node" presStyleLbl="node1" presStyleIdx="1" presStyleCnt="3">
        <dgm:presLayoutVars>
          <dgm:bulletEnabled val="1"/>
        </dgm:presLayoutVars>
      </dgm:prSet>
      <dgm:spPr/>
      <dgm:t>
        <a:bodyPr/>
        <a:lstStyle/>
        <a:p>
          <a:endParaRPr lang="en-US"/>
        </a:p>
      </dgm:t>
    </dgm:pt>
    <dgm:pt modelId="{56B4804A-CE88-4196-A26E-83E1A82F69EE}" type="pres">
      <dgm:prSet presAssocID="{8635FE97-EA83-4483-80F3-C8CE1CA4D098}" presName="spNode" presStyleCnt="0"/>
      <dgm:spPr/>
    </dgm:pt>
    <dgm:pt modelId="{D0BC7817-0D76-4C43-97F0-95A035854744}" type="pres">
      <dgm:prSet presAssocID="{AA1FC8E1-D54B-4291-8F50-0A456860CCAC}" presName="sibTrans" presStyleLbl="sibTrans1D1" presStyleIdx="1" presStyleCnt="3"/>
      <dgm:spPr/>
      <dgm:t>
        <a:bodyPr/>
        <a:lstStyle/>
        <a:p>
          <a:endParaRPr lang="en-US"/>
        </a:p>
      </dgm:t>
    </dgm:pt>
    <dgm:pt modelId="{02A00B32-6663-41A8-902A-172CCAD7A427}" type="pres">
      <dgm:prSet presAssocID="{7336583D-894F-4A52-8867-7D157747696A}" presName="node" presStyleLbl="node1" presStyleIdx="2" presStyleCnt="3">
        <dgm:presLayoutVars>
          <dgm:bulletEnabled val="1"/>
        </dgm:presLayoutVars>
      </dgm:prSet>
      <dgm:spPr/>
      <dgm:t>
        <a:bodyPr/>
        <a:lstStyle/>
        <a:p>
          <a:endParaRPr lang="en-US"/>
        </a:p>
      </dgm:t>
    </dgm:pt>
    <dgm:pt modelId="{7DD64504-24DF-4BE5-9A43-AE81F18660A1}" type="pres">
      <dgm:prSet presAssocID="{7336583D-894F-4A52-8867-7D157747696A}" presName="spNode" presStyleCnt="0"/>
      <dgm:spPr/>
    </dgm:pt>
    <dgm:pt modelId="{80DB7226-3DB5-43BE-95DE-26823127AE23}" type="pres">
      <dgm:prSet presAssocID="{1D24E17B-2540-4CC0-B2C2-5D8EB360581B}" presName="sibTrans" presStyleLbl="sibTrans1D1" presStyleIdx="2" presStyleCnt="3"/>
      <dgm:spPr/>
      <dgm:t>
        <a:bodyPr/>
        <a:lstStyle/>
        <a:p>
          <a:endParaRPr lang="en-US"/>
        </a:p>
      </dgm:t>
    </dgm:pt>
  </dgm:ptLst>
  <dgm:cxnLst>
    <dgm:cxn modelId="{72A16F6E-D811-4E84-A6BA-6269710201A8}" srcId="{FFFB4B90-D8A0-4331-A5F2-D53055D4E4E7}" destId="{E31A4724-B8CD-4684-A3EC-FA9D42BF8953}" srcOrd="0" destOrd="0" parTransId="{E65828D8-727C-4F36-A593-65FCE466D50C}" sibTransId="{8DED6A3B-1FF1-4FB4-951C-F66E39971E06}"/>
    <dgm:cxn modelId="{E12791F2-D914-41D0-B82D-851CBA808228}" srcId="{FFFB4B90-D8A0-4331-A5F2-D53055D4E4E7}" destId="{8635FE97-EA83-4483-80F3-C8CE1CA4D098}" srcOrd="1" destOrd="0" parTransId="{F0F90D06-7DB8-406C-ABE3-9CFC72B8C319}" sibTransId="{AA1FC8E1-D54B-4291-8F50-0A456860CCAC}"/>
    <dgm:cxn modelId="{4EC1FCBA-B632-42B6-94FC-F4140326E951}" type="presOf" srcId="{7336583D-894F-4A52-8867-7D157747696A}" destId="{02A00B32-6663-41A8-902A-172CCAD7A427}" srcOrd="0" destOrd="0" presId="urn:microsoft.com/office/officeart/2005/8/layout/cycle5"/>
    <dgm:cxn modelId="{1B136417-F40B-43C0-B5A5-45CE069A35F1}" type="presOf" srcId="{1D24E17B-2540-4CC0-B2C2-5D8EB360581B}" destId="{80DB7226-3DB5-43BE-95DE-26823127AE23}" srcOrd="0" destOrd="0" presId="urn:microsoft.com/office/officeart/2005/8/layout/cycle5"/>
    <dgm:cxn modelId="{0053B28E-D89B-465A-99D9-321CB4511EAD}" srcId="{FFFB4B90-D8A0-4331-A5F2-D53055D4E4E7}" destId="{7336583D-894F-4A52-8867-7D157747696A}" srcOrd="2" destOrd="0" parTransId="{A14EB25D-20C9-4797-A161-2257E117ED8C}" sibTransId="{1D24E17B-2540-4CC0-B2C2-5D8EB360581B}"/>
    <dgm:cxn modelId="{7B25140F-59A3-4815-B148-EC51CA45D7CA}" type="presOf" srcId="{FFFB4B90-D8A0-4331-A5F2-D53055D4E4E7}" destId="{6C78DDBB-1871-4C3A-A34F-53F5FF7ECB47}" srcOrd="0" destOrd="0" presId="urn:microsoft.com/office/officeart/2005/8/layout/cycle5"/>
    <dgm:cxn modelId="{ADDFE102-33B6-4F19-859D-BA7BB0CB2391}" type="presOf" srcId="{8DED6A3B-1FF1-4FB4-951C-F66E39971E06}" destId="{9BB48D1A-E10B-42E7-B46B-EE4239DE1F18}" srcOrd="0" destOrd="0" presId="urn:microsoft.com/office/officeart/2005/8/layout/cycle5"/>
    <dgm:cxn modelId="{A38579DE-AE09-4597-8A02-2DEDE8A5364D}" type="presOf" srcId="{8635FE97-EA83-4483-80F3-C8CE1CA4D098}" destId="{A5D2F56A-5909-472D-8624-5B90DD87C16B}" srcOrd="0" destOrd="0" presId="urn:microsoft.com/office/officeart/2005/8/layout/cycle5"/>
    <dgm:cxn modelId="{896EBB18-E13E-4742-9D69-1B7FCF3C80C7}" type="presOf" srcId="{E31A4724-B8CD-4684-A3EC-FA9D42BF8953}" destId="{233A4506-1CFB-47B9-A506-848845CA27D3}" srcOrd="0" destOrd="0" presId="urn:microsoft.com/office/officeart/2005/8/layout/cycle5"/>
    <dgm:cxn modelId="{C801A6E0-47FE-4833-87FC-2A6668B04320}" type="presOf" srcId="{AA1FC8E1-D54B-4291-8F50-0A456860CCAC}" destId="{D0BC7817-0D76-4C43-97F0-95A035854744}" srcOrd="0" destOrd="0" presId="urn:microsoft.com/office/officeart/2005/8/layout/cycle5"/>
    <dgm:cxn modelId="{C91D0B79-A181-448C-BDE6-5E2D51D503C2}" type="presParOf" srcId="{6C78DDBB-1871-4C3A-A34F-53F5FF7ECB47}" destId="{233A4506-1CFB-47B9-A506-848845CA27D3}" srcOrd="0" destOrd="0" presId="urn:microsoft.com/office/officeart/2005/8/layout/cycle5"/>
    <dgm:cxn modelId="{7E554203-D1F0-4D82-A4E2-D97B56697683}" type="presParOf" srcId="{6C78DDBB-1871-4C3A-A34F-53F5FF7ECB47}" destId="{03FEA463-75FC-4E95-845A-9959BCE523CB}" srcOrd="1" destOrd="0" presId="urn:microsoft.com/office/officeart/2005/8/layout/cycle5"/>
    <dgm:cxn modelId="{53AC61E5-D0BB-4A30-B4E5-9B914ADB80CC}" type="presParOf" srcId="{6C78DDBB-1871-4C3A-A34F-53F5FF7ECB47}" destId="{9BB48D1A-E10B-42E7-B46B-EE4239DE1F18}" srcOrd="2" destOrd="0" presId="urn:microsoft.com/office/officeart/2005/8/layout/cycle5"/>
    <dgm:cxn modelId="{7EC862D1-149D-4265-ACAC-0A97EEA67D0C}" type="presParOf" srcId="{6C78DDBB-1871-4C3A-A34F-53F5FF7ECB47}" destId="{A5D2F56A-5909-472D-8624-5B90DD87C16B}" srcOrd="3" destOrd="0" presId="urn:microsoft.com/office/officeart/2005/8/layout/cycle5"/>
    <dgm:cxn modelId="{1C130A07-B818-454B-A6F5-BBA0A0F5927B}" type="presParOf" srcId="{6C78DDBB-1871-4C3A-A34F-53F5FF7ECB47}" destId="{56B4804A-CE88-4196-A26E-83E1A82F69EE}" srcOrd="4" destOrd="0" presId="urn:microsoft.com/office/officeart/2005/8/layout/cycle5"/>
    <dgm:cxn modelId="{96C4E397-1836-41B4-830E-2D5D30E31ADF}" type="presParOf" srcId="{6C78DDBB-1871-4C3A-A34F-53F5FF7ECB47}" destId="{D0BC7817-0D76-4C43-97F0-95A035854744}" srcOrd="5" destOrd="0" presId="urn:microsoft.com/office/officeart/2005/8/layout/cycle5"/>
    <dgm:cxn modelId="{0D0531FB-56A7-464F-9ADF-C10D1164788A}" type="presParOf" srcId="{6C78DDBB-1871-4C3A-A34F-53F5FF7ECB47}" destId="{02A00B32-6663-41A8-902A-172CCAD7A427}" srcOrd="6" destOrd="0" presId="urn:microsoft.com/office/officeart/2005/8/layout/cycle5"/>
    <dgm:cxn modelId="{C242A5F6-2903-4122-8DA0-60601A32CEC3}" type="presParOf" srcId="{6C78DDBB-1871-4C3A-A34F-53F5FF7ECB47}" destId="{7DD64504-24DF-4BE5-9A43-AE81F18660A1}" srcOrd="7" destOrd="0" presId="urn:microsoft.com/office/officeart/2005/8/layout/cycle5"/>
    <dgm:cxn modelId="{372039F3-A70B-4C8D-9D47-135EC673BC70}" type="presParOf" srcId="{6C78DDBB-1871-4C3A-A34F-53F5FF7ECB47}" destId="{80DB7226-3DB5-43BE-95DE-26823127AE23}"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3A4506-1CFB-47B9-A506-848845CA27D3}">
      <dsp:nvSpPr>
        <dsp:cNvPr id="0" name=""/>
        <dsp:cNvSpPr/>
      </dsp:nvSpPr>
      <dsp:spPr>
        <a:xfrm>
          <a:off x="1500201" y="0"/>
          <a:ext cx="1523543" cy="990303"/>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客户识别</a:t>
          </a:r>
          <a:endParaRPr lang="en-US" sz="2400" kern="1200" dirty="0"/>
        </a:p>
      </dsp:txBody>
      <dsp:txXfrm>
        <a:off x="1548544" y="48343"/>
        <a:ext cx="1426857" cy="893617"/>
      </dsp:txXfrm>
    </dsp:sp>
    <dsp:sp modelId="{9BB48D1A-E10B-42E7-B46B-EE4239DE1F18}">
      <dsp:nvSpPr>
        <dsp:cNvPr id="0" name=""/>
        <dsp:cNvSpPr/>
      </dsp:nvSpPr>
      <dsp:spPr>
        <a:xfrm>
          <a:off x="890493" y="493786"/>
          <a:ext cx="2639217" cy="2639217"/>
        </a:xfrm>
        <a:custGeom>
          <a:avLst/>
          <a:gdLst/>
          <a:ahLst/>
          <a:cxnLst/>
          <a:rect l="0" t="0" r="0" b="0"/>
          <a:pathLst>
            <a:path>
              <a:moveTo>
                <a:pt x="2321382" y="460645"/>
              </a:moveTo>
              <a:arcTo wR="1319608" hR="1319608" stAng="19163329" swAng="2193956"/>
            </a:path>
          </a:pathLst>
        </a:custGeom>
        <a:noFill/>
        <a:ln w="38100" cap="flat" cmpd="sng" algn="ctr">
          <a:solidFill>
            <a:schemeClr val="accent1">
              <a:lumMod val="75000"/>
            </a:schemeClr>
          </a:solidFill>
          <a:prstDash val="solid"/>
          <a:tailEnd type="arrow"/>
        </a:ln>
        <a:effectLst>
          <a:outerShdw blurRad="50800" dist="38100" dir="2700000" algn="tl" rotWithShape="0">
            <a:prstClr val="black">
              <a:alpha val="40000"/>
            </a:prstClr>
          </a:outerShdw>
        </a:effectLst>
        <a:sp3d z="-40000" prstMaterial="matte"/>
      </dsp:spPr>
      <dsp:style>
        <a:lnRef idx="1">
          <a:scrgbClr r="0" g="0" b="0"/>
        </a:lnRef>
        <a:fillRef idx="0">
          <a:scrgbClr r="0" g="0" b="0"/>
        </a:fillRef>
        <a:effectRef idx="0">
          <a:scrgbClr r="0" g="0" b="0"/>
        </a:effectRef>
        <a:fontRef idx="minor"/>
      </dsp:style>
    </dsp:sp>
    <dsp:sp modelId="{A5D2F56A-5909-472D-8624-5B90DD87C16B}">
      <dsp:nvSpPr>
        <dsp:cNvPr id="0" name=""/>
        <dsp:cNvSpPr/>
      </dsp:nvSpPr>
      <dsp:spPr>
        <a:xfrm>
          <a:off x="2590828" y="1980540"/>
          <a:ext cx="1523543" cy="990303"/>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客户获取</a:t>
          </a:r>
          <a:endParaRPr lang="en-US" sz="2400" kern="1200" dirty="0"/>
        </a:p>
      </dsp:txBody>
      <dsp:txXfrm>
        <a:off x="2639171" y="2028883"/>
        <a:ext cx="1426857" cy="893617"/>
      </dsp:txXfrm>
    </dsp:sp>
    <dsp:sp modelId="{D0BC7817-0D76-4C43-97F0-95A035854744}">
      <dsp:nvSpPr>
        <dsp:cNvPr id="0" name=""/>
        <dsp:cNvSpPr/>
      </dsp:nvSpPr>
      <dsp:spPr>
        <a:xfrm>
          <a:off x="890177" y="496279"/>
          <a:ext cx="2639217" cy="2639217"/>
        </a:xfrm>
        <a:custGeom>
          <a:avLst/>
          <a:gdLst/>
          <a:ahLst/>
          <a:cxnLst/>
          <a:rect l="0" t="0" r="0" b="0"/>
          <a:pathLst>
            <a:path>
              <a:moveTo>
                <a:pt x="1723935" y="2575748"/>
              </a:moveTo>
              <a:arcTo wR="1319608" hR="1319608" stAng="4329460" swAng="2141081"/>
            </a:path>
          </a:pathLst>
        </a:custGeom>
        <a:noFill/>
        <a:ln w="38100" cap="flat" cmpd="sng" algn="ctr">
          <a:solidFill>
            <a:schemeClr val="accent1">
              <a:lumMod val="75000"/>
            </a:schemeClr>
          </a:solidFill>
          <a:prstDash val="solid"/>
          <a:tailEnd type="arrow"/>
        </a:ln>
        <a:effectLst>
          <a:outerShdw blurRad="50800" dist="38100" dir="2700000" algn="tl" rotWithShape="0">
            <a:prstClr val="black">
              <a:alpha val="40000"/>
            </a:prstClr>
          </a:outerShdw>
        </a:effectLst>
        <a:sp3d z="-40000" prstMaterial="matte"/>
      </dsp:spPr>
      <dsp:style>
        <a:lnRef idx="1">
          <a:scrgbClr r="0" g="0" b="0"/>
        </a:lnRef>
        <a:fillRef idx="0">
          <a:scrgbClr r="0" g="0" b="0"/>
        </a:fillRef>
        <a:effectRef idx="0">
          <a:scrgbClr r="0" g="0" b="0"/>
        </a:effectRef>
        <a:fontRef idx="minor"/>
      </dsp:style>
    </dsp:sp>
    <dsp:sp modelId="{02A00B32-6663-41A8-902A-172CCAD7A427}">
      <dsp:nvSpPr>
        <dsp:cNvPr id="0" name=""/>
        <dsp:cNvSpPr/>
      </dsp:nvSpPr>
      <dsp:spPr>
        <a:xfrm>
          <a:off x="305199" y="1980540"/>
          <a:ext cx="1523543" cy="990303"/>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kern="1200" dirty="0" smtClean="0"/>
            <a:t>客户保留</a:t>
          </a:r>
          <a:endParaRPr lang="en-US" sz="2400" kern="1200" dirty="0"/>
        </a:p>
      </dsp:txBody>
      <dsp:txXfrm>
        <a:off x="353542" y="2028883"/>
        <a:ext cx="1426857" cy="893617"/>
      </dsp:txXfrm>
    </dsp:sp>
    <dsp:sp modelId="{80DB7226-3DB5-43BE-95DE-26823127AE23}">
      <dsp:nvSpPr>
        <dsp:cNvPr id="0" name=""/>
        <dsp:cNvSpPr/>
      </dsp:nvSpPr>
      <dsp:spPr>
        <a:xfrm>
          <a:off x="889877" y="493911"/>
          <a:ext cx="2639217" cy="2639217"/>
        </a:xfrm>
        <a:custGeom>
          <a:avLst/>
          <a:gdLst/>
          <a:ahLst/>
          <a:cxnLst/>
          <a:rect l="0" t="0" r="0" b="0"/>
          <a:pathLst>
            <a:path>
              <a:moveTo>
                <a:pt x="5025" y="1204555"/>
              </a:moveTo>
              <a:arcTo wR="1319608" hR="1319608" stAng="11100109" swAng="2412701"/>
            </a:path>
          </a:pathLst>
        </a:custGeom>
        <a:noFill/>
        <a:ln w="38100" cap="flat" cmpd="sng" algn="ctr">
          <a:solidFill>
            <a:schemeClr val="accent1">
              <a:lumMod val="75000"/>
            </a:schemeClr>
          </a:solidFill>
          <a:prstDash val="solid"/>
          <a:tailEnd type="arrow"/>
        </a:ln>
        <a:effectLst>
          <a:outerShdw blurRad="50800" dist="38100" dir="2700000" algn="tl" rotWithShape="0">
            <a:prstClr val="black">
              <a:alpha val="40000"/>
            </a:prstClr>
          </a:outerShdw>
        </a:effectLst>
        <a:sp3d z="-40000" prstMaterial="matte"/>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51A5AF-AEB9-43EB-B316-A11C816CC05A}" type="datetimeFigureOut">
              <a:rPr lang="zh-CN" altLang="en-US" smtClean="0"/>
              <a:pPr/>
              <a:t>2013-01-14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50ECB4-598F-4CBD-8AAE-D553B24077B9}" type="slidenum">
              <a:rPr lang="zh-CN" altLang="en-US" smtClean="0"/>
              <a:pPr/>
              <a:t>‹#›</a:t>
            </a:fld>
            <a:endParaRPr lang="zh-CN" altLang="en-US"/>
          </a:p>
        </p:txBody>
      </p:sp>
    </p:spTree>
    <p:extLst>
      <p:ext uri="{BB962C8B-B14F-4D97-AF65-F5344CB8AC3E}">
        <p14:creationId xmlns:p14="http://schemas.microsoft.com/office/powerpoint/2010/main" val="75077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9BAE3B8-3FD8-401D-80CE-A0BC0D296FDA}" type="slidenum">
              <a:rPr lang="zh-CN" altLang="en-US">
                <a:solidFill>
                  <a:prstClr val="black"/>
                </a:solidFill>
              </a:rPr>
              <a:p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p:spPr>
      </p:sp>
      <p:sp>
        <p:nvSpPr>
          <p:cNvPr id="307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3072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2639C8-7A4B-4464-890B-C82446DD4221}" type="slidenum">
              <a:rPr lang="zh-CN" altLang="en-US">
                <a:latin typeface="Arial" pitchFamily="34" charset="0"/>
              </a:rPr>
              <a:pPr/>
              <a:t>2</a:t>
            </a:fld>
            <a:endParaRPr lang="zh-CN" alt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BA4DD4-2039-424E-A80A-5F2CB2131048}" type="slidenum">
              <a:rPr lang="zh-CN" altLang="en-US"/>
              <a:pPr/>
              <a:t>4</a:t>
            </a:fld>
            <a:endParaRPr lang="en-US" altLang="zh-CN"/>
          </a:p>
        </p:txBody>
      </p:sp>
      <p:sp>
        <p:nvSpPr>
          <p:cNvPr id="1175554" name="Rectangle 2"/>
          <p:cNvSpPr>
            <a:spLocks noGrp="1" noRot="1" noChangeAspect="1" noChangeArrowheads="1" noTextEdit="1"/>
          </p:cNvSpPr>
          <p:nvPr>
            <p:ph type="sldImg"/>
          </p:nvPr>
        </p:nvSpPr>
        <p:spPr>
          <a:ln/>
        </p:spPr>
      </p:sp>
      <p:sp>
        <p:nvSpPr>
          <p:cNvPr id="1175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p:spPr>
      </p:sp>
      <p:sp>
        <p:nvSpPr>
          <p:cNvPr id="307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3072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2639C8-7A4B-4464-890B-C82446DD4221}" type="slidenum">
              <a:rPr lang="zh-CN" altLang="en-US">
                <a:latin typeface="Arial" pitchFamily="34" charset="0"/>
              </a:rPr>
              <a:pPr/>
              <a:t>10</a:t>
            </a:fld>
            <a:endParaRPr lang="zh-CN" alt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13</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16</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17</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50ECB4-598F-4CBD-8AAE-D553B24077B9}" type="slidenum">
              <a:rPr lang="zh-CN" altLang="en-US" smtClean="0"/>
              <a:pPr/>
              <a:t>18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p:spPr>
      </p:sp>
      <p:sp>
        <p:nvSpPr>
          <p:cNvPr id="307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3072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2639C8-7A4B-4464-890B-C82446DD4221}" type="slidenum">
              <a:rPr lang="zh-CN" altLang="en-US">
                <a:latin typeface="Arial" pitchFamily="34" charset="0"/>
              </a:rPr>
              <a:pPr/>
              <a:t>21</a:t>
            </a:fld>
            <a:endParaRPr lang="zh-CN" alt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noChangeArrowheads="1"/>
          </p:cNvSpPr>
          <p:nvPr/>
        </p:nvSpPr>
        <p:spPr bwMode="auto">
          <a:xfrm>
            <a:off x="3884414" y="8685895"/>
            <a:ext cx="2972098" cy="456595"/>
          </a:xfrm>
          <a:prstGeom prst="rect">
            <a:avLst/>
          </a:prstGeom>
          <a:noFill/>
          <a:ln w="9525">
            <a:noFill/>
            <a:miter lim="800000"/>
            <a:headEnd/>
            <a:tailEnd/>
          </a:ln>
        </p:spPr>
        <p:txBody>
          <a:bodyPr lIns="102484" tIns="51243" rIns="102484" bIns="51243" anchor="b"/>
          <a:lstStyle/>
          <a:p>
            <a:pPr algn="r" defTabSz="1025525"/>
            <a:fld id="{A31E9839-50B6-4222-8856-1BE0B00AC5C5}" type="slidenum">
              <a:rPr lang="zh-CN" altLang="en-US" sz="1300"/>
              <a:pPr algn="r" defTabSz="1025525"/>
              <a:t>23</a:t>
            </a:fld>
            <a:endParaRPr lang="en-US" altLang="zh-CN" sz="1300"/>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34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p:spPr>
      </p:sp>
      <p:sp>
        <p:nvSpPr>
          <p:cNvPr id="307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3072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2639C8-7A4B-4464-890B-C82446DD4221}" type="slidenum">
              <a:rPr lang="zh-CN" altLang="en-US">
                <a:latin typeface="Arial" pitchFamily="34" charset="0"/>
              </a:rPr>
              <a:pPr/>
              <a:t>24</a:t>
            </a:fld>
            <a:endParaRPr lang="zh-CN" altLang="en-US">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p:spPr>
      </p:sp>
      <p:sp>
        <p:nvSpPr>
          <p:cNvPr id="30723" name="备注占位符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zh-CN" altLang="en-US" dirty="0" smtClean="0"/>
          </a:p>
        </p:txBody>
      </p:sp>
      <p:sp>
        <p:nvSpPr>
          <p:cNvPr id="3072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2639C8-7A4B-4464-890B-C82446DD4221}" type="slidenum">
              <a:rPr lang="zh-CN" altLang="en-US">
                <a:latin typeface="Arial" pitchFamily="34" charset="0"/>
              </a:rPr>
              <a:pPr/>
              <a:t>27</a:t>
            </a:fld>
            <a:endParaRPr lang="zh-CN" alt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Rectangle 92"/>
          <p:cNvSpPr>
            <a:spLocks noChangeArrowheads="1"/>
          </p:cNvSpPr>
          <p:nvPr/>
        </p:nvSpPr>
        <p:spPr bwMode="gray">
          <a:xfrm>
            <a:off x="3667125" y="4191000"/>
            <a:ext cx="1857375" cy="1276350"/>
          </a:xfrm>
          <a:prstGeom prst="rect">
            <a:avLst/>
          </a:prstGeom>
          <a:solidFill>
            <a:srgbClr val="FFCC00"/>
          </a:solid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5" name="Rectangle 93"/>
          <p:cNvSpPr>
            <a:spLocks noChangeArrowheads="1"/>
          </p:cNvSpPr>
          <p:nvPr/>
        </p:nvSpPr>
        <p:spPr bwMode="gray">
          <a:xfrm>
            <a:off x="1824038" y="2957513"/>
            <a:ext cx="1833562" cy="1233487"/>
          </a:xfrm>
          <a:prstGeom prst="rect">
            <a:avLst/>
          </a:prstGeom>
          <a:solidFill>
            <a:srgbClr val="CF6F9F"/>
          </a:solid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6" name="Rectangle 94"/>
          <p:cNvSpPr>
            <a:spLocks noChangeArrowheads="1"/>
          </p:cNvSpPr>
          <p:nvPr/>
        </p:nvSpPr>
        <p:spPr bwMode="gray">
          <a:xfrm>
            <a:off x="0" y="4198938"/>
            <a:ext cx="1828800" cy="1268412"/>
          </a:xfrm>
          <a:prstGeom prst="rect">
            <a:avLst/>
          </a:prstGeom>
          <a:solidFill>
            <a:srgbClr val="FF9900"/>
          </a:solid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7" name="Rectangle 95"/>
          <p:cNvSpPr>
            <a:spLocks noChangeArrowheads="1"/>
          </p:cNvSpPr>
          <p:nvPr/>
        </p:nvSpPr>
        <p:spPr bwMode="gray">
          <a:xfrm>
            <a:off x="0" y="5461000"/>
            <a:ext cx="9144000" cy="1397000"/>
          </a:xfrm>
          <a:prstGeom prst="rect">
            <a:avLst/>
          </a:prstGeom>
          <a:solidFill>
            <a:schemeClr val="accent1"/>
          </a:solidFill>
          <a:ln w="9525">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8" name="Rectangle 96" descr="01"/>
          <p:cNvSpPr>
            <a:spLocks noChangeArrowheads="1"/>
          </p:cNvSpPr>
          <p:nvPr/>
        </p:nvSpPr>
        <p:spPr bwMode="gray">
          <a:xfrm>
            <a:off x="0" y="2957513"/>
            <a:ext cx="1828800" cy="1241425"/>
          </a:xfrm>
          <a:prstGeom prst="rect">
            <a:avLst/>
          </a:prstGeom>
          <a:blipFill dpi="0" rotWithShape="1">
            <a:blip r:embed="rId2"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9" name="Rectangle 97" descr="02"/>
          <p:cNvSpPr>
            <a:spLocks noChangeArrowheads="1"/>
          </p:cNvSpPr>
          <p:nvPr/>
        </p:nvSpPr>
        <p:spPr bwMode="gray">
          <a:xfrm>
            <a:off x="0" y="4195763"/>
            <a:ext cx="1828800" cy="1268412"/>
          </a:xfrm>
          <a:prstGeom prst="rect">
            <a:avLst/>
          </a:prstGeom>
          <a:blipFill dpi="0" rotWithShape="1">
            <a:blip r:embed="rId3"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0" name="Rectangle 99" descr="04"/>
          <p:cNvSpPr>
            <a:spLocks noChangeArrowheads="1"/>
          </p:cNvSpPr>
          <p:nvPr/>
        </p:nvSpPr>
        <p:spPr bwMode="gray">
          <a:xfrm>
            <a:off x="1828800" y="4191000"/>
            <a:ext cx="1838325" cy="1273175"/>
          </a:xfrm>
          <a:prstGeom prst="rect">
            <a:avLst/>
          </a:prstGeom>
          <a:blipFill dpi="0" rotWithShape="1">
            <a:blip r:embed="rId4"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1" name="Rectangle 100" descr="03"/>
          <p:cNvSpPr>
            <a:spLocks noChangeArrowheads="1"/>
          </p:cNvSpPr>
          <p:nvPr/>
        </p:nvSpPr>
        <p:spPr bwMode="gray">
          <a:xfrm>
            <a:off x="3657600" y="2957513"/>
            <a:ext cx="1866900" cy="1243012"/>
          </a:xfrm>
          <a:prstGeom prst="rect">
            <a:avLst/>
          </a:prstGeom>
          <a:blipFill dpi="0" rotWithShape="1">
            <a:blip r:embed="rId5"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2" name="Rectangle 102"/>
          <p:cNvSpPr>
            <a:spLocks noChangeArrowheads="1"/>
          </p:cNvSpPr>
          <p:nvPr/>
        </p:nvSpPr>
        <p:spPr bwMode="gray">
          <a:xfrm>
            <a:off x="7353300" y="2967038"/>
            <a:ext cx="1790700" cy="1250950"/>
          </a:xfrm>
          <a:prstGeom prst="rect">
            <a:avLst/>
          </a:prstGeom>
          <a:solidFill>
            <a:srgbClr val="99CC00"/>
          </a:solid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3" name="Rectangle 103"/>
          <p:cNvSpPr>
            <a:spLocks noChangeArrowheads="1"/>
          </p:cNvSpPr>
          <p:nvPr/>
        </p:nvSpPr>
        <p:spPr bwMode="gray">
          <a:xfrm>
            <a:off x="7354888" y="4206875"/>
            <a:ext cx="1789112" cy="1255713"/>
          </a:xfrm>
          <a:prstGeom prst="rect">
            <a:avLst/>
          </a:prstGeom>
          <a:blipFill dpi="0" rotWithShape="1">
            <a:blip r:embed="rId6"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4" name="Rectangle 104"/>
          <p:cNvSpPr>
            <a:spLocks noChangeArrowheads="1"/>
          </p:cNvSpPr>
          <p:nvPr/>
        </p:nvSpPr>
        <p:spPr bwMode="gray">
          <a:xfrm>
            <a:off x="5524500" y="2957513"/>
            <a:ext cx="1833563" cy="2505075"/>
          </a:xfrm>
          <a:prstGeom prst="rect">
            <a:avLst/>
          </a:prstGeom>
          <a:solidFill>
            <a:srgbClr val="99CCFF"/>
          </a:solid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5" name="Rectangle 105" descr="07"/>
          <p:cNvSpPr>
            <a:spLocks noChangeArrowheads="1"/>
          </p:cNvSpPr>
          <p:nvPr/>
        </p:nvSpPr>
        <p:spPr bwMode="gray">
          <a:xfrm>
            <a:off x="5524500" y="2962275"/>
            <a:ext cx="1833563" cy="2505075"/>
          </a:xfrm>
          <a:prstGeom prst="rect">
            <a:avLst/>
          </a:prstGeom>
          <a:blipFill dpi="0" rotWithShape="1">
            <a:blip r:embed="rId7"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6" name="Rectangle 106" descr="08"/>
          <p:cNvSpPr>
            <a:spLocks noChangeArrowheads="1"/>
          </p:cNvSpPr>
          <p:nvPr/>
        </p:nvSpPr>
        <p:spPr bwMode="gray">
          <a:xfrm>
            <a:off x="7358063" y="2959100"/>
            <a:ext cx="1785937" cy="1250950"/>
          </a:xfrm>
          <a:prstGeom prst="rect">
            <a:avLst/>
          </a:prstGeom>
          <a:blipFill dpi="0" rotWithShape="1">
            <a:blip r:embed="rId8" cstate="print"/>
            <a:srcRect/>
            <a:stretch>
              <a:fillRect/>
            </a:stretch>
          </a:blipFill>
          <a:ln w="9525" algn="ctr">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pic>
        <p:nvPicPr>
          <p:cNvPr id="17" name="图片 30" descr="leqee logo.jpg"/>
          <p:cNvPicPr>
            <a:picLocks noChangeAspect="1"/>
          </p:cNvPicPr>
          <p:nvPr userDrawn="1"/>
        </p:nvPicPr>
        <p:blipFill>
          <a:blip r:embed="rId9" cstate="print"/>
          <a:srcRect/>
          <a:stretch>
            <a:fillRect/>
          </a:stretch>
        </p:blipFill>
        <p:spPr bwMode="auto">
          <a:xfrm>
            <a:off x="214282" y="214290"/>
            <a:ext cx="2571750" cy="850900"/>
          </a:xfrm>
          <a:prstGeom prst="rect">
            <a:avLst/>
          </a:prstGeom>
          <a:noFill/>
          <a:ln w="9525">
            <a:noFill/>
            <a:miter lim="800000"/>
            <a:headEnd/>
            <a:tailEnd/>
          </a:ln>
        </p:spPr>
      </p:pic>
      <p:sp>
        <p:nvSpPr>
          <p:cNvPr id="3075" name="Rectangle 3"/>
          <p:cNvSpPr>
            <a:spLocks noGrp="1" noChangeArrowheads="1"/>
          </p:cNvSpPr>
          <p:nvPr>
            <p:ph type="subTitle" idx="1"/>
          </p:nvPr>
        </p:nvSpPr>
        <p:spPr bwMode="gray">
          <a:xfrm>
            <a:off x="3590925" y="2286000"/>
            <a:ext cx="5324475" cy="381000"/>
          </a:xfrm>
        </p:spPr>
        <p:txBody>
          <a:bodyPr/>
          <a:lstStyle>
            <a:lvl1pPr marL="0" indent="0" algn="r">
              <a:buFont typeface="Wingdings" pitchFamily="2" charset="2"/>
              <a:buNone/>
              <a:defRPr sz="2200">
                <a:solidFill>
                  <a:srgbClr val="000000"/>
                </a:solidFill>
              </a:defRPr>
            </a:lvl1pPr>
          </a:lstStyle>
          <a:p>
            <a:r>
              <a:rPr lang="zh-CN" altLang="en-US" smtClean="0"/>
              <a:t>单击此处编辑母版副标题样式</a:t>
            </a:r>
            <a:endParaRPr lang="en-US" altLang="zh-CN"/>
          </a:p>
        </p:txBody>
      </p:sp>
      <p:sp>
        <p:nvSpPr>
          <p:cNvPr id="3074" name="Rectangle 2"/>
          <p:cNvSpPr>
            <a:spLocks noGrp="1" noChangeArrowheads="1"/>
          </p:cNvSpPr>
          <p:nvPr>
            <p:ph type="ctrTitle"/>
          </p:nvPr>
        </p:nvSpPr>
        <p:spPr>
          <a:xfrm>
            <a:off x="1905000" y="1447800"/>
            <a:ext cx="7010400" cy="762000"/>
          </a:xfrm>
          <a:effectLst>
            <a:outerShdw dist="17961" dir="2700000" algn="ctr" rotWithShape="0">
              <a:srgbClr val="C0C0C0"/>
            </a:outerShdw>
          </a:effectLst>
        </p:spPr>
        <p:txBody>
          <a:bodyPr/>
          <a:lstStyle>
            <a:lvl1pPr algn="r">
              <a:defRPr sz="3600">
                <a:solidFill>
                  <a:schemeClr val="tx1"/>
                </a:solidFill>
              </a:defRPr>
            </a:lvl1pPr>
          </a:lstStyle>
          <a:p>
            <a:r>
              <a:rPr lang="zh-CN" altLang="en-US" smtClean="0"/>
              <a:t>单击此处编辑母版标题样式</a:t>
            </a:r>
            <a:endParaRPr lang="en-US" altLang="zh-CN"/>
          </a:p>
        </p:txBody>
      </p:sp>
      <p:sp>
        <p:nvSpPr>
          <p:cNvPr id="18" name="Rectangle 4"/>
          <p:cNvSpPr>
            <a:spLocks noGrp="1" noChangeArrowheads="1"/>
          </p:cNvSpPr>
          <p:nvPr>
            <p:ph type="dt" sz="half" idx="10"/>
          </p:nvPr>
        </p:nvSpPr>
        <p:spPr>
          <a:xfrm>
            <a:off x="1066800" y="6461125"/>
            <a:ext cx="1981200" cy="244475"/>
          </a:xfrm>
          <a:prstGeom prst="rect">
            <a:avLst/>
          </a:prstGeom>
        </p:spPr>
        <p:txBody>
          <a:bodyPr/>
          <a:lstStyle>
            <a:lvl1pPr>
              <a:defRPr sz="1200" smtClean="0"/>
            </a:lvl1pPr>
          </a:lstStyle>
          <a:p>
            <a:pPr>
              <a:defRPr/>
            </a:pPr>
            <a:endParaRPr lang="en-US" altLang="zh-CN">
              <a:solidFill>
                <a:srgbClr val="333333"/>
              </a:solidFill>
            </a:endParaRPr>
          </a:p>
        </p:txBody>
      </p:sp>
      <p:sp>
        <p:nvSpPr>
          <p:cNvPr id="19" name="Rectangle 5"/>
          <p:cNvSpPr>
            <a:spLocks noGrp="1" noChangeArrowheads="1"/>
          </p:cNvSpPr>
          <p:nvPr>
            <p:ph type="ftr" sz="quarter" idx="11"/>
          </p:nvPr>
        </p:nvSpPr>
        <p:spPr>
          <a:xfrm>
            <a:off x="7143768" y="6429396"/>
            <a:ext cx="1839913" cy="244475"/>
          </a:xfrm>
          <a:prstGeom prst="rect">
            <a:avLst/>
          </a:prstGeom>
        </p:spPr>
        <p:txBody>
          <a:bodyPr/>
          <a:lstStyle>
            <a:lvl1pPr>
              <a:defRPr sz="1200" b="0" dirty="0" smtClean="0"/>
            </a:lvl1pPr>
          </a:lstStyle>
          <a:p>
            <a:pPr>
              <a:defRPr/>
            </a:pPr>
            <a:endParaRPr lang="en-US" altLang="zh-CN">
              <a:solidFill>
                <a:srgbClr val="333333"/>
              </a:solidFill>
            </a:endParaRPr>
          </a:p>
        </p:txBody>
      </p:sp>
    </p:spTree>
    <p:extLst>
      <p:ext uri="{BB962C8B-B14F-4D97-AF65-F5344CB8AC3E}">
        <p14:creationId xmlns:p14="http://schemas.microsoft.com/office/powerpoint/2010/main" val="1261924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Rectangle 2"/>
          <p:cNvSpPr>
            <a:spLocks noGrp="1" noChangeArrowheads="1"/>
          </p:cNvSpPr>
          <p:nvPr>
            <p:ph type="title"/>
          </p:nvPr>
        </p:nvSpPr>
        <p:spPr bwMode="gray">
          <a:xfrm>
            <a:off x="642910" y="228600"/>
            <a:ext cx="7929618" cy="487363"/>
          </a:xfrm>
          <a:prstGeom prst="rect">
            <a:avLst/>
          </a:prstGeom>
          <a:noFill/>
          <a:ln w="9525">
            <a:noFill/>
            <a:miter lim="800000"/>
            <a:headEnd/>
            <a:tailEnd/>
          </a:ln>
          <a:effectLst>
            <a:outerShdw dist="35921" dir="2700000" algn="ctr" rotWithShape="0">
              <a:srgbClr val="000000"/>
            </a:outerShdw>
          </a:effectLst>
        </p:spPr>
        <p:txBody>
          <a:bodyPr vert="horz" wrap="square" lIns="91440" tIns="45720" rIns="91440" bIns="45720" numCol="1" anchor="ctr" anchorCtr="0" compatLnSpc="1">
            <a:prstTxWarp prst="textNoShape">
              <a:avLst/>
            </a:prstTxWarp>
          </a:bodyPr>
          <a:lstStyle>
            <a:lvl1pPr>
              <a:defRPr b="1"/>
            </a:lvl1pPr>
          </a:lstStyle>
          <a:p>
            <a:pPr lvl="0"/>
            <a:r>
              <a:rPr lang="zh-CN" altLang="en-US" dirty="0" smtClean="0"/>
              <a:t>单击此处编辑母版标题样式</a:t>
            </a:r>
            <a:endParaRPr lang="en-US" altLang="zh-CN" dirty="0" smtClean="0"/>
          </a:p>
        </p:txBody>
      </p:sp>
      <p:sp>
        <p:nvSpPr>
          <p:cNvPr id="6" name="Rectangle 6"/>
          <p:cNvSpPr>
            <a:spLocks noGrp="1" noChangeArrowheads="1"/>
          </p:cNvSpPr>
          <p:nvPr>
            <p:ph type="sldNum" sz="quarter" idx="12"/>
          </p:nvPr>
        </p:nvSpPr>
        <p:spPr>
          <a:xfrm>
            <a:off x="142844" y="6461125"/>
            <a:ext cx="381000" cy="244475"/>
          </a:xfrm>
          <a:prstGeom prst="rect">
            <a:avLst/>
          </a:prstGeom>
        </p:spPr>
        <p:txBody>
          <a:bodyPr/>
          <a:lstStyle>
            <a:lvl1pPr>
              <a:defRPr sz="1200" smtClean="0"/>
            </a:lvl1pPr>
          </a:lstStyle>
          <a:p>
            <a:pPr>
              <a:defRPr/>
            </a:pPr>
            <a:fld id="{842B3DA0-0C8F-47FB-A0DE-CF8DCBCB337C}" type="slidenum">
              <a:rPr lang="en-US" altLang="zh-CN">
                <a:solidFill>
                  <a:srgbClr val="333333"/>
                </a:solidFill>
              </a:rPr>
              <a:pPr>
                <a:defRPr/>
              </a:pPr>
              <a:t>‹#›</a:t>
            </a:fld>
            <a:endParaRPr lang="en-US" altLang="zh-CN" dirty="0">
              <a:solidFill>
                <a:srgbClr val="333333"/>
              </a:solidFill>
            </a:endParaRPr>
          </a:p>
        </p:txBody>
      </p:sp>
    </p:spTree>
    <p:extLst>
      <p:ext uri="{BB962C8B-B14F-4D97-AF65-F5344CB8AC3E}">
        <p14:creationId xmlns:p14="http://schemas.microsoft.com/office/powerpoint/2010/main" val="204669460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48" name="Rectangle 124"/>
          <p:cNvSpPr>
            <a:spLocks noChangeArrowheads="1"/>
          </p:cNvSpPr>
          <p:nvPr/>
        </p:nvSpPr>
        <p:spPr bwMode="gray">
          <a:xfrm>
            <a:off x="0" y="0"/>
            <a:ext cx="9144000" cy="914400"/>
          </a:xfrm>
          <a:prstGeom prst="rect">
            <a:avLst/>
          </a:prstGeom>
          <a:solidFill>
            <a:schemeClr val="accent1"/>
          </a:solidFill>
          <a:ln w="9525">
            <a:noFill/>
            <a:miter lim="800000"/>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150" name="Freeform 126"/>
          <p:cNvSpPr>
            <a:spLocks/>
          </p:cNvSpPr>
          <p:nvPr/>
        </p:nvSpPr>
        <p:spPr bwMode="gray">
          <a:xfrm>
            <a:off x="-12700" y="342900"/>
            <a:ext cx="6032500" cy="679450"/>
          </a:xfrm>
          <a:custGeom>
            <a:avLst/>
            <a:gdLst/>
            <a:ahLst/>
            <a:cxnLst>
              <a:cxn ang="0">
                <a:pos x="0" y="0"/>
              </a:cxn>
              <a:cxn ang="0">
                <a:pos x="3800" y="0"/>
              </a:cxn>
              <a:cxn ang="0">
                <a:pos x="3456" y="428"/>
              </a:cxn>
            </a:cxnLst>
            <a:rect l="0" t="0" r="r" b="b"/>
            <a:pathLst>
              <a:path w="3800" h="428">
                <a:moveTo>
                  <a:pt x="0" y="0"/>
                </a:moveTo>
                <a:lnTo>
                  <a:pt x="3800" y="0"/>
                </a:lnTo>
                <a:lnTo>
                  <a:pt x="3456" y="428"/>
                </a:lnTo>
              </a:path>
            </a:pathLst>
          </a:custGeom>
          <a:noFill/>
          <a:ln w="9525">
            <a:noFill/>
            <a:round/>
            <a:headEnd/>
            <a:tailEnd/>
          </a:ln>
          <a:effectLst/>
        </p:spPr>
        <p:txBody>
          <a:bodyPr wrap="none" anchor="ctr"/>
          <a:lstStyle/>
          <a:p>
            <a:pPr fontAlgn="base">
              <a:spcBef>
                <a:spcPct val="0"/>
              </a:spcBef>
              <a:spcAft>
                <a:spcPct val="0"/>
              </a:spcAft>
            </a:pPr>
            <a:endParaRPr lang="zh-CN" altLang="en-US">
              <a:solidFill>
                <a:srgbClr val="333333"/>
              </a:solidFill>
              <a:ea typeface="宋体" pitchFamily="2" charset="-122"/>
            </a:endParaRPr>
          </a:p>
        </p:txBody>
      </p:sp>
      <p:sp>
        <p:nvSpPr>
          <p:cNvPr id="1151" name="Rectangle 127"/>
          <p:cNvSpPr>
            <a:spLocks noChangeArrowheads="1"/>
          </p:cNvSpPr>
          <p:nvPr/>
        </p:nvSpPr>
        <p:spPr bwMode="gray">
          <a:xfrm>
            <a:off x="7500938" y="6557963"/>
            <a:ext cx="1371600" cy="300037"/>
          </a:xfrm>
          <a:prstGeom prst="rect">
            <a:avLst/>
          </a:prstGeom>
          <a:noFill/>
          <a:ln w="9525">
            <a:noFill/>
            <a:miter lim="800000"/>
            <a:headEnd/>
            <a:tailEnd/>
          </a:ln>
          <a:effectLst/>
        </p:spPr>
        <p:txBody>
          <a:bodyPr/>
          <a:lstStyle/>
          <a:p>
            <a:pPr algn="ctr" fontAlgn="base">
              <a:spcBef>
                <a:spcPct val="0"/>
              </a:spcBef>
              <a:spcAft>
                <a:spcPct val="0"/>
              </a:spcAft>
              <a:defRPr/>
            </a:pPr>
            <a:endParaRPr lang="en-US" altLang="zh-CN" sz="2000" b="1" i="1" dirty="0">
              <a:solidFill>
                <a:srgbClr val="D7181F"/>
              </a:solidFill>
              <a:ea typeface="宋体" charset="-122"/>
            </a:endParaRPr>
          </a:p>
        </p:txBody>
      </p:sp>
      <p:sp>
        <p:nvSpPr>
          <p:cNvPr id="1031" name="Rectangle 3"/>
          <p:cNvSpPr>
            <a:spLocks noGrp="1" noChangeArrowheads="1"/>
          </p:cNvSpPr>
          <p:nvPr>
            <p:ph type="body" idx="1"/>
          </p:nvPr>
        </p:nvSpPr>
        <p:spPr bwMode="black">
          <a:xfrm>
            <a:off x="357188" y="1214438"/>
            <a:ext cx="84201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1026" name="Rectangle 2"/>
          <p:cNvSpPr>
            <a:spLocks noGrp="1" noChangeArrowheads="1"/>
          </p:cNvSpPr>
          <p:nvPr>
            <p:ph type="title"/>
          </p:nvPr>
        </p:nvSpPr>
        <p:spPr bwMode="gray">
          <a:xfrm>
            <a:off x="642910" y="228600"/>
            <a:ext cx="7929618" cy="487363"/>
          </a:xfrm>
          <a:prstGeom prst="rect">
            <a:avLst/>
          </a:prstGeom>
          <a:noFill/>
          <a:ln w="9525">
            <a:noFill/>
            <a:miter lim="800000"/>
            <a:headEnd/>
            <a:tailEnd/>
          </a:ln>
          <a:effectLst>
            <a:outerShdw dist="35921" dir="2700000" algn="ctr" rotWithShape="0">
              <a:srgbClr val="000000"/>
            </a:outerShdw>
          </a:effec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pic>
        <p:nvPicPr>
          <p:cNvPr id="1040" name="图片 16" descr="leqee logo.jpg"/>
          <p:cNvPicPr>
            <a:picLocks noChangeAspect="1"/>
          </p:cNvPicPr>
          <p:nvPr/>
        </p:nvPicPr>
        <p:blipFill>
          <a:blip r:embed="rId4" cstate="print"/>
          <a:srcRect/>
          <a:stretch>
            <a:fillRect/>
          </a:stretch>
        </p:blipFill>
        <p:spPr bwMode="auto">
          <a:xfrm>
            <a:off x="7894066" y="6357144"/>
            <a:ext cx="1214438" cy="401637"/>
          </a:xfrm>
          <a:prstGeom prst="rect">
            <a:avLst/>
          </a:prstGeom>
          <a:noFill/>
          <a:ln w="9525">
            <a:noFill/>
            <a:miter lim="800000"/>
            <a:headEnd/>
            <a:tailEnd/>
          </a:ln>
        </p:spPr>
      </p:pic>
    </p:spTree>
    <p:extLst>
      <p:ext uri="{BB962C8B-B14F-4D97-AF65-F5344CB8AC3E}">
        <p14:creationId xmlns:p14="http://schemas.microsoft.com/office/powerpoint/2010/main" val="2053174628"/>
      </p:ext>
    </p:extLst>
  </p:cSld>
  <p:clrMap bg1="lt1" tx1="dk1" bg2="lt2" tx2="dk2" accent1="accent1" accent2="accent2" accent3="accent3" accent4="accent4" accent5="accent5" accent6="accent6" hlink="hlink" folHlink="folHlink"/>
  <p:sldLayoutIdLst>
    <p:sldLayoutId id="2147483661" r:id="rId1"/>
    <p:sldLayoutId id="2147483662" r:id="rId2"/>
  </p:sldLayoutIdLst>
  <p:timing>
    <p:tnLst>
      <p:par>
        <p:cTn id="1" dur="indefinite" restart="never" nodeType="tmRoot"/>
      </p:par>
    </p:tnLst>
  </p:timing>
  <p:hf hdr="0" ftr="0" dt="0"/>
  <p:txStyles>
    <p:titleStyle>
      <a:lvl1pPr algn="l" rtl="0" fontAlgn="base">
        <a:spcBef>
          <a:spcPct val="0"/>
        </a:spcBef>
        <a:spcAft>
          <a:spcPct val="0"/>
        </a:spcAft>
        <a:defRPr sz="2800" b="1">
          <a:solidFill>
            <a:schemeClr val="bg1"/>
          </a:solidFill>
          <a:latin typeface="+mj-lt"/>
          <a:ea typeface="+mj-ea"/>
          <a:cs typeface="+mj-cs"/>
        </a:defRPr>
      </a:lvl1pPr>
      <a:lvl2pPr algn="l" rtl="0" fontAlgn="base">
        <a:spcBef>
          <a:spcPct val="0"/>
        </a:spcBef>
        <a:spcAft>
          <a:spcPct val="0"/>
        </a:spcAft>
        <a:defRPr sz="3200">
          <a:solidFill>
            <a:schemeClr val="bg1"/>
          </a:solidFill>
          <a:latin typeface="Arial" charset="0"/>
        </a:defRPr>
      </a:lvl2pPr>
      <a:lvl3pPr algn="l" rtl="0" fontAlgn="base">
        <a:spcBef>
          <a:spcPct val="0"/>
        </a:spcBef>
        <a:spcAft>
          <a:spcPct val="0"/>
        </a:spcAft>
        <a:defRPr sz="3200">
          <a:solidFill>
            <a:schemeClr val="bg1"/>
          </a:solidFill>
          <a:latin typeface="Arial" charset="0"/>
        </a:defRPr>
      </a:lvl3pPr>
      <a:lvl4pPr algn="l" rtl="0" fontAlgn="base">
        <a:spcBef>
          <a:spcPct val="0"/>
        </a:spcBef>
        <a:spcAft>
          <a:spcPct val="0"/>
        </a:spcAft>
        <a:defRPr sz="3200">
          <a:solidFill>
            <a:schemeClr val="bg1"/>
          </a:solidFill>
          <a:latin typeface="Arial" charset="0"/>
        </a:defRPr>
      </a:lvl4pPr>
      <a:lvl5pPr algn="l" rtl="0" fontAlgn="base">
        <a:spcBef>
          <a:spcPct val="0"/>
        </a:spcBef>
        <a:spcAft>
          <a:spcPct val="0"/>
        </a:spcAft>
        <a:defRPr sz="3200">
          <a:solidFill>
            <a:schemeClr val="bg1"/>
          </a:solidFill>
          <a:latin typeface="Arial" charset="0"/>
        </a:defRPr>
      </a:lvl5pPr>
      <a:lvl6pPr marL="457200" algn="l" rtl="0" eaLnBrk="1" fontAlgn="base" hangingPunct="1">
        <a:spcBef>
          <a:spcPct val="0"/>
        </a:spcBef>
        <a:spcAft>
          <a:spcPct val="0"/>
        </a:spcAft>
        <a:defRPr sz="3200">
          <a:solidFill>
            <a:schemeClr val="bg1"/>
          </a:solidFill>
          <a:latin typeface="Arial" charset="0"/>
        </a:defRPr>
      </a:lvl6pPr>
      <a:lvl7pPr marL="914400" algn="l" rtl="0" eaLnBrk="1" fontAlgn="base" hangingPunct="1">
        <a:spcBef>
          <a:spcPct val="0"/>
        </a:spcBef>
        <a:spcAft>
          <a:spcPct val="0"/>
        </a:spcAft>
        <a:defRPr sz="3200">
          <a:solidFill>
            <a:schemeClr val="bg1"/>
          </a:solidFill>
          <a:latin typeface="Arial" charset="0"/>
        </a:defRPr>
      </a:lvl7pPr>
      <a:lvl8pPr marL="1371600" algn="l" rtl="0" eaLnBrk="1" fontAlgn="base" hangingPunct="1">
        <a:spcBef>
          <a:spcPct val="0"/>
        </a:spcBef>
        <a:spcAft>
          <a:spcPct val="0"/>
        </a:spcAft>
        <a:defRPr sz="3200">
          <a:solidFill>
            <a:schemeClr val="bg1"/>
          </a:solidFill>
          <a:latin typeface="Arial" charset="0"/>
        </a:defRPr>
      </a:lvl8pPr>
      <a:lvl9pPr marL="1828800" algn="l" rtl="0" eaLnBrk="1" fontAlgn="base" hangingPunct="1">
        <a:spcBef>
          <a:spcPct val="0"/>
        </a:spcBef>
        <a:spcAft>
          <a:spcPct val="0"/>
        </a:spcAft>
        <a:defRPr sz="3200">
          <a:solidFill>
            <a:schemeClr val="bg1"/>
          </a:solidFill>
          <a:latin typeface="Arial" charset="0"/>
        </a:defRPr>
      </a:lvl9pPr>
    </p:titleStyle>
    <p:bodyStyle>
      <a:lvl1pPr marL="342900" indent="-342900" algn="l" rtl="0" fontAlgn="base">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fontAlgn="base">
        <a:spcBef>
          <a:spcPct val="20000"/>
        </a:spcBef>
        <a:spcAft>
          <a:spcPct val="0"/>
        </a:spcAft>
        <a:buClr>
          <a:schemeClr val="accent2"/>
        </a:buClr>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htc.com/c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tags" Target="../tags/tag3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9.jpeg"/><Relationship Id="rId13" Type="http://schemas.openxmlformats.org/officeDocument/2006/relationships/image" Target="../media/image34.png"/><Relationship Id="rId18" Type="http://schemas.openxmlformats.org/officeDocument/2006/relationships/image" Target="../media/image39.png"/><Relationship Id="rId26" Type="http://schemas.openxmlformats.org/officeDocument/2006/relationships/image" Target="../media/image47.png"/><Relationship Id="rId3" Type="http://schemas.openxmlformats.org/officeDocument/2006/relationships/image" Target="../media/image24.png"/><Relationship Id="rId21" Type="http://schemas.openxmlformats.org/officeDocument/2006/relationships/image" Target="../media/image42.tiff"/><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image" Target="../media/image46.png"/><Relationship Id="rId2" Type="http://schemas.openxmlformats.org/officeDocument/2006/relationships/notesSlide" Target="../notesSlides/notesSlide12.xml"/><Relationship Id="rId16" Type="http://schemas.openxmlformats.org/officeDocument/2006/relationships/image" Target="../media/image37.jpeg"/><Relationship Id="rId20" Type="http://schemas.openxmlformats.org/officeDocument/2006/relationships/image" Target="../media/image41.jpe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image" Target="../media/image45.jpe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jpeg"/><Relationship Id="rId9" Type="http://schemas.openxmlformats.org/officeDocument/2006/relationships/image" Target="../media/image30.png"/><Relationship Id="rId14" Type="http://schemas.openxmlformats.org/officeDocument/2006/relationships/image" Target="../media/image35.jpeg"/><Relationship Id="rId22" Type="http://schemas.openxmlformats.org/officeDocument/2006/relationships/image" Target="../media/image43.jpeg"/><Relationship Id="rId27" Type="http://schemas.openxmlformats.org/officeDocument/2006/relationships/image" Target="../media/image48.png"/><Relationship Id="rId30" Type="http://schemas.openxmlformats.org/officeDocument/2006/relationships/image" Target="../media/image5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ctrTitle"/>
          </p:nvPr>
        </p:nvSpPr>
        <p:spPr>
          <a:xfrm>
            <a:off x="1115616" y="1714500"/>
            <a:ext cx="6885408" cy="723900"/>
          </a:xfrm>
        </p:spPr>
        <p:txBody>
          <a:bodyPr/>
          <a:lstStyle/>
          <a:p>
            <a:pPr algn="ctr" fontAlgn="auto">
              <a:spcAft>
                <a:spcPts val="0"/>
              </a:spcAft>
              <a:defRPr/>
            </a:pPr>
            <a:r>
              <a:rPr lang="zh-CN" altLang="en-US" kern="1200" dirty="0" smtClean="0">
                <a:latin typeface="微软雅黑" pitchFamily="34" charset="-122"/>
                <a:ea typeface="微软雅黑" pitchFamily="34" charset="-122"/>
              </a:rPr>
              <a:t>聚芳永官网项目建议书</a:t>
            </a:r>
            <a:endParaRPr lang="en-US" altLang="zh-CN" kern="1200" dirty="0">
              <a:latin typeface="微软雅黑" pitchFamily="34" charset="-122"/>
              <a:ea typeface="微软雅黑" pitchFamily="34" charset="-122"/>
            </a:endParaRPr>
          </a:p>
        </p:txBody>
      </p:sp>
      <p:sp>
        <p:nvSpPr>
          <p:cNvPr id="73733" name="Rectangle 5"/>
          <p:cNvSpPr>
            <a:spLocks noGrp="1" noChangeArrowheads="1"/>
          </p:cNvSpPr>
          <p:nvPr>
            <p:ph type="subTitle" idx="1"/>
          </p:nvPr>
        </p:nvSpPr>
        <p:spPr>
          <a:xfrm>
            <a:off x="3019443" y="2500306"/>
            <a:ext cx="6053151" cy="390524"/>
          </a:xfrm>
        </p:spPr>
        <p:txBody>
          <a:bodyPr/>
          <a:lstStyle/>
          <a:p>
            <a:pPr algn="ctr">
              <a:buClrTx/>
            </a:pPr>
            <a:r>
              <a:rPr lang="zh-CN" altLang="en-US" sz="1800" dirty="0" smtClean="0">
                <a:solidFill>
                  <a:srgbClr val="8F8F8F"/>
                </a:solidFill>
                <a:ea typeface="宋体" pitchFamily="2" charset="-122"/>
              </a:rPr>
              <a:t>乐其网络科技有限公司</a:t>
            </a:r>
            <a:r>
              <a:rPr lang="en-US" altLang="zh-CN" sz="1800" dirty="0" smtClean="0">
                <a:solidFill>
                  <a:srgbClr val="8F8F8F"/>
                </a:solidFill>
                <a:ea typeface="宋体" pitchFamily="2" charset="-122"/>
              </a:rPr>
              <a:t>——</a:t>
            </a:r>
            <a:r>
              <a:rPr lang="zh-CN" altLang="en-US" sz="1800" dirty="0" smtClean="0">
                <a:solidFill>
                  <a:srgbClr val="8F8F8F"/>
                </a:solidFill>
                <a:ea typeface="宋体" pitchFamily="2" charset="-122"/>
              </a:rPr>
              <a:t>专业电子商务解决方案提供商</a:t>
            </a:r>
          </a:p>
        </p:txBody>
      </p:sp>
    </p:spTree>
    <p:extLst>
      <p:ext uri="{BB962C8B-B14F-4D97-AF65-F5344CB8AC3E}">
        <p14:creationId xmlns:p14="http://schemas.microsoft.com/office/powerpoint/2010/main" val="27679796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noChangeArrowheads="1"/>
          </p:cNvSpPr>
          <p:nvPr/>
        </p:nvSpPr>
        <p:spPr bwMode="auto">
          <a:xfrm>
            <a:off x="785786" y="1988840"/>
            <a:ext cx="6072230" cy="592142"/>
          </a:xfrm>
          <a:prstGeom prst="roundRect">
            <a:avLst>
              <a:gd name="adj" fmla="val 16667"/>
            </a:avLst>
          </a:prstGeom>
          <a:solidFill>
            <a:schemeClr val="accent1">
              <a:lumMod val="20000"/>
              <a:lumOff val="80000"/>
            </a:schemeClr>
          </a:solidFill>
          <a:ln w="9525" algn="ctr">
            <a:solidFill>
              <a:schemeClr val="accent1"/>
            </a:solidFill>
            <a:round/>
            <a:headEnd/>
            <a:tailEnd/>
          </a:ln>
          <a:effectLst>
            <a:outerShdw blurRad="50800" dist="38100" dir="2700000" algn="tl" rotWithShape="0">
              <a:prstClr val="black">
                <a:alpha val="40000"/>
              </a:prstClr>
            </a:outerShdw>
          </a:effectLst>
        </p:spPr>
        <p:txBody>
          <a:bodyPr wrap="none"/>
          <a:lstStyle/>
          <a:p>
            <a:pPr algn="ctr">
              <a:spcBef>
                <a:spcPct val="50000"/>
              </a:spcBef>
            </a:pPr>
            <a:endParaRPr lang="en-US" altLang="zh-CN">
              <a:solidFill>
                <a:srgbClr val="3C3C3C"/>
              </a:solidFill>
            </a:endParaRPr>
          </a:p>
        </p:txBody>
      </p:sp>
      <p:sp>
        <p:nvSpPr>
          <p:cNvPr id="212994" name="Rectangle 2"/>
          <p:cNvSpPr>
            <a:spLocks noGrp="1" noChangeArrowheads="1"/>
          </p:cNvSpPr>
          <p:nvPr>
            <p:ph type="title"/>
          </p:nvPr>
        </p:nvSpPr>
        <p:spPr>
          <a:xfrm>
            <a:off x="902958" y="260648"/>
            <a:ext cx="7086600" cy="487363"/>
          </a:xfrm>
        </p:spPr>
        <p:txBody>
          <a:bodyPr/>
          <a:lstStyle/>
          <a:p>
            <a:pPr>
              <a:defRPr/>
            </a:pPr>
            <a:r>
              <a:rPr lang="zh-CN" altLang="en-US" sz="2800" b="1" dirty="0" smtClean="0">
                <a:latin typeface="+mj-ea"/>
              </a:rPr>
              <a:t>目录</a:t>
            </a:r>
            <a:endParaRPr lang="en-US" altLang="zh-CN" sz="2800" b="1" dirty="0">
              <a:latin typeface="+mj-ea"/>
            </a:endParaRPr>
          </a:p>
        </p:txBody>
      </p:sp>
      <p:sp>
        <p:nvSpPr>
          <p:cNvPr id="212995" name="Rectangle 3"/>
          <p:cNvSpPr>
            <a:spLocks noGrp="1" noChangeArrowheads="1"/>
          </p:cNvSpPr>
          <p:nvPr>
            <p:ph type="body" idx="1"/>
          </p:nvPr>
        </p:nvSpPr>
        <p:spPr bwMode="gray">
          <a:xfrm>
            <a:off x="971600" y="1916832"/>
            <a:ext cx="6643734" cy="2232248"/>
          </a:xfrm>
          <a:noFill/>
        </p:spPr>
        <p:txBody>
          <a:bodyPr/>
          <a:lstStyle/>
          <a:p>
            <a:pPr>
              <a:lnSpc>
                <a:spcPct val="150000"/>
              </a:lnSpc>
            </a:pPr>
            <a:r>
              <a:rPr lang="en-US" altLang="zh-CN" b="1" dirty="0" smtClean="0"/>
              <a:t> </a:t>
            </a:r>
            <a:r>
              <a:rPr lang="zh-CN" altLang="en-US" b="1" dirty="0"/>
              <a:t>聚芳</a:t>
            </a:r>
            <a:r>
              <a:rPr lang="zh-CN" altLang="en-US" b="1" dirty="0" smtClean="0"/>
              <a:t>永官网项目背景理解</a:t>
            </a:r>
            <a:endParaRPr lang="en-US" altLang="zh-CN" b="1" dirty="0" smtClean="0"/>
          </a:p>
          <a:p>
            <a:pPr>
              <a:lnSpc>
                <a:spcPct val="150000"/>
              </a:lnSpc>
            </a:pPr>
            <a:r>
              <a:rPr lang="en-US" altLang="zh-CN" b="1" dirty="0" smtClean="0">
                <a:ea typeface="宋体" pitchFamily="2" charset="-122"/>
              </a:rPr>
              <a:t> </a:t>
            </a:r>
            <a:r>
              <a:rPr lang="zh-CN" altLang="en-US" b="1" dirty="0">
                <a:ea typeface="宋体" pitchFamily="2" charset="-122"/>
              </a:rPr>
              <a:t>聚芳</a:t>
            </a:r>
            <a:r>
              <a:rPr lang="zh-CN" altLang="en-US" b="1" dirty="0" smtClean="0">
                <a:ea typeface="宋体" pitchFamily="2" charset="-122"/>
              </a:rPr>
              <a:t>永官网项目实施建议</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为什么选择乐其</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项目报价</a:t>
            </a:r>
            <a:r>
              <a:rPr lang="en-US" altLang="zh-CN" dirty="0" smtClean="0">
                <a:ea typeface="宋体" pitchFamily="2" charset="-122"/>
              </a:rPr>
              <a:t/>
            </a:r>
            <a:br>
              <a:rPr lang="en-US" altLang="zh-CN" dirty="0" smtClean="0">
                <a:ea typeface="宋体" pitchFamily="2" charset="-122"/>
              </a:rPr>
            </a:br>
            <a:endParaRPr lang="en-US" altLang="zh-CN" dirty="0" smtClean="0">
              <a:ea typeface="宋体" pitchFamily="2" charset="-122"/>
            </a:endParaRPr>
          </a:p>
        </p:txBody>
      </p:sp>
      <p:sp>
        <p:nvSpPr>
          <p:cNvPr id="6" name="Slide Number Placeholder 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a:t>
            </a:fld>
            <a:endParaRPr lang="en-US" altLang="zh-CN" dirty="0">
              <a:solidFill>
                <a:srgbClr val="333333"/>
              </a:solidFill>
            </a:endParaRPr>
          </a:p>
        </p:txBody>
      </p:sp>
    </p:spTree>
    <p:extLst>
      <p:ext uri="{BB962C8B-B14F-4D97-AF65-F5344CB8AC3E}">
        <p14:creationId xmlns:p14="http://schemas.microsoft.com/office/powerpoint/2010/main" val="27265755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p:cNvSpPr txBox="1"/>
          <p:nvPr/>
        </p:nvSpPr>
        <p:spPr>
          <a:xfrm>
            <a:off x="2500298" y="5143511"/>
            <a:ext cx="5400000" cy="1296000"/>
          </a:xfrm>
          <a:prstGeom prst="rect">
            <a:avLst/>
          </a:prstGeom>
          <a:gradFill>
            <a:gsLst>
              <a:gs pos="0">
                <a:schemeClr val="accent1">
                  <a:lumMod val="20000"/>
                  <a:lumOff val="80000"/>
                </a:schemeClr>
              </a:gs>
              <a:gs pos="35000">
                <a:schemeClr val="accent1">
                  <a:lumMod val="40000"/>
                  <a:lumOff val="60000"/>
                </a:schemeClr>
              </a:gs>
              <a:gs pos="100000">
                <a:schemeClr val="accent1">
                  <a:lumMod val="20000"/>
                  <a:lumOff val="80000"/>
                </a:schemeClr>
              </a:gs>
            </a:gsLst>
            <a:lin ang="5400000" scaled="1"/>
          </a:gradFill>
          <a:ln>
            <a:noFill/>
          </a:ln>
          <a:effectLst/>
          <a:scene3d>
            <a:camera prst="orthographicFront"/>
            <a:lightRig rig="threePt" dir="t"/>
          </a:scene3d>
          <a:sp3d>
            <a:bevelT w="165100" prst="coolSlant"/>
          </a:sp3d>
        </p:spPr>
        <p:txBody>
          <a:bodyPr wrap="square" tIns="180000" bIns="72000" rtlCol="0" anchor="ctr" anchorCtr="0">
            <a:noAutofit/>
          </a:bodyPr>
          <a:lstStyle/>
          <a:p>
            <a:pPr>
              <a:buFont typeface="Wingdings" pitchFamily="2" charset="2"/>
              <a:buChar char="l"/>
            </a:pPr>
            <a:r>
              <a:rPr lang="zh-CN" altLang="en-US" sz="1600" dirty="0" smtClean="0"/>
              <a:t> 支持</a:t>
            </a:r>
            <a:r>
              <a:rPr lang="en-US" altLang="zh-CN" sz="1600" dirty="0" smtClean="0"/>
              <a:t>xTao</a:t>
            </a:r>
            <a:r>
              <a:rPr lang="zh-CN" altLang="en-US" sz="1600" dirty="0" smtClean="0"/>
              <a:t>技术在线购物</a:t>
            </a:r>
            <a:endParaRPr lang="en-US" altLang="zh-CN" sz="1600" dirty="0" smtClean="0"/>
          </a:p>
          <a:p>
            <a:pPr>
              <a:buFont typeface="Wingdings" pitchFamily="2" charset="2"/>
              <a:buChar char="l"/>
            </a:pPr>
            <a:r>
              <a:rPr lang="zh-CN" altLang="en-US" sz="1600" dirty="0" smtClean="0"/>
              <a:t> 移动</a:t>
            </a:r>
            <a:r>
              <a:rPr lang="en-US" altLang="zh-CN" sz="1600" dirty="0" smtClean="0"/>
              <a:t>APP</a:t>
            </a:r>
            <a:r>
              <a:rPr lang="zh-CN" altLang="en-US" sz="1600" dirty="0" smtClean="0"/>
              <a:t>接入官网</a:t>
            </a:r>
            <a:endParaRPr lang="en-US" altLang="zh-CN" sz="1600" dirty="0" smtClean="0"/>
          </a:p>
          <a:p>
            <a:pPr>
              <a:buFont typeface="Wingdings" pitchFamily="2" charset="2"/>
              <a:buChar char="l"/>
            </a:pPr>
            <a:r>
              <a:rPr lang="zh-CN" altLang="en-US" sz="1600" dirty="0" smtClean="0"/>
              <a:t> 品牌塑造、凝聚目标客户、实现流量转化</a:t>
            </a:r>
            <a:endParaRPr lang="zh-CN" altLang="en-US" sz="1600" dirty="0"/>
          </a:p>
        </p:txBody>
      </p:sp>
      <p:sp>
        <p:nvSpPr>
          <p:cNvPr id="90" name="TextBox 89"/>
          <p:cNvSpPr txBox="1"/>
          <p:nvPr/>
        </p:nvSpPr>
        <p:spPr>
          <a:xfrm>
            <a:off x="2500298" y="3214686"/>
            <a:ext cx="5400000" cy="1296000"/>
          </a:xfrm>
          <a:prstGeom prst="rect">
            <a:avLst/>
          </a:prstGeom>
          <a:gradFill>
            <a:gsLst>
              <a:gs pos="0">
                <a:schemeClr val="accent1">
                  <a:lumMod val="20000"/>
                  <a:lumOff val="80000"/>
                </a:schemeClr>
              </a:gs>
              <a:gs pos="35000">
                <a:schemeClr val="accent1">
                  <a:lumMod val="40000"/>
                  <a:lumOff val="60000"/>
                </a:schemeClr>
              </a:gs>
              <a:gs pos="100000">
                <a:schemeClr val="accent1">
                  <a:lumMod val="20000"/>
                  <a:lumOff val="80000"/>
                </a:schemeClr>
              </a:gs>
            </a:gsLst>
            <a:lin ang="5400000" scaled="1"/>
          </a:gradFill>
          <a:ln>
            <a:noFill/>
          </a:ln>
          <a:effectLst/>
          <a:scene3d>
            <a:camera prst="orthographicFront"/>
            <a:lightRig rig="threePt" dir="t"/>
          </a:scene3d>
          <a:sp3d>
            <a:bevelT w="165100" prst="coolSlant"/>
          </a:sp3d>
        </p:spPr>
        <p:txBody>
          <a:bodyPr wrap="square" tIns="180000" bIns="72000" rtlCol="0" anchor="ctr" anchorCtr="0">
            <a:noAutofit/>
          </a:bodyPr>
          <a:lstStyle/>
          <a:p>
            <a:pPr>
              <a:buFont typeface="Wingdings" pitchFamily="2" charset="2"/>
              <a:buChar char="l"/>
            </a:pPr>
            <a:r>
              <a:rPr lang="zh-CN" altLang="en-US" sz="1600" dirty="0" smtClean="0"/>
              <a:t>吸纳新顾客：丰富多样互动方式（评论、微博、导购） </a:t>
            </a:r>
            <a:endParaRPr lang="en-US" altLang="zh-CN" sz="1600" dirty="0" smtClean="0"/>
          </a:p>
          <a:p>
            <a:pPr>
              <a:buFont typeface="Wingdings" pitchFamily="2" charset="2"/>
              <a:buChar char="l"/>
            </a:pPr>
            <a:r>
              <a:rPr lang="zh-CN" altLang="en-US" sz="1600" dirty="0" smtClean="0"/>
              <a:t>保留老顾客：各类</a:t>
            </a:r>
            <a:r>
              <a:rPr lang="en-US" altLang="zh-CN" sz="1600" dirty="0" smtClean="0"/>
              <a:t>CRM</a:t>
            </a:r>
            <a:r>
              <a:rPr lang="zh-CN" altLang="en-US" sz="1600" dirty="0" smtClean="0"/>
              <a:t>活动及客户关怀</a:t>
            </a:r>
            <a:endParaRPr lang="en-US" altLang="zh-CN" sz="1600" dirty="0" smtClean="0"/>
          </a:p>
          <a:p>
            <a:pPr>
              <a:buFont typeface="Wingdings" pitchFamily="2" charset="2"/>
              <a:buChar char="l"/>
            </a:pPr>
            <a:r>
              <a:rPr lang="zh-CN" altLang="en-US" sz="1600" dirty="0" smtClean="0"/>
              <a:t> 数据分析、用户</a:t>
            </a:r>
            <a:r>
              <a:rPr lang="zh-CN" altLang="en-US" sz="1600" dirty="0"/>
              <a:t>细分</a:t>
            </a:r>
            <a:r>
              <a:rPr lang="zh-CN" altLang="en-US" sz="1600" dirty="0" smtClean="0"/>
              <a:t>、精准营销</a:t>
            </a:r>
            <a:endParaRPr lang="en-US" altLang="zh-CN" sz="1600" dirty="0" smtClean="0"/>
          </a:p>
        </p:txBody>
      </p:sp>
      <p:sp>
        <p:nvSpPr>
          <p:cNvPr id="89" name="TextBox 88"/>
          <p:cNvSpPr txBox="1"/>
          <p:nvPr/>
        </p:nvSpPr>
        <p:spPr>
          <a:xfrm>
            <a:off x="2500298" y="1285860"/>
            <a:ext cx="5400000" cy="1296000"/>
          </a:xfrm>
          <a:prstGeom prst="rect">
            <a:avLst/>
          </a:prstGeom>
          <a:gradFill>
            <a:gsLst>
              <a:gs pos="0">
                <a:schemeClr val="accent1">
                  <a:lumMod val="20000"/>
                  <a:lumOff val="80000"/>
                </a:schemeClr>
              </a:gs>
              <a:gs pos="35000">
                <a:schemeClr val="accent1">
                  <a:lumMod val="40000"/>
                  <a:lumOff val="60000"/>
                </a:schemeClr>
              </a:gs>
              <a:gs pos="100000">
                <a:schemeClr val="accent1">
                  <a:lumMod val="20000"/>
                  <a:lumOff val="80000"/>
                </a:schemeClr>
              </a:gs>
            </a:gsLst>
            <a:lin ang="5400000" scaled="1"/>
          </a:gradFill>
          <a:ln>
            <a:noFill/>
          </a:ln>
          <a:effectLst/>
          <a:scene3d>
            <a:camera prst="orthographicFront"/>
            <a:lightRig rig="threePt" dir="t"/>
          </a:scene3d>
          <a:sp3d>
            <a:bevelT w="165100" prst="coolSlant"/>
          </a:sp3d>
        </p:spPr>
        <p:txBody>
          <a:bodyPr wrap="square" tIns="180000" bIns="72000" rtlCol="0" anchor="ctr" anchorCtr="0">
            <a:noAutofit/>
          </a:bodyPr>
          <a:lstStyle/>
          <a:p>
            <a:pPr>
              <a:buFont typeface="Wingdings" pitchFamily="2" charset="2"/>
              <a:buChar char="l"/>
            </a:pPr>
            <a:r>
              <a:rPr lang="zh-CN" altLang="en-US" sz="1600" dirty="0" smtClean="0"/>
              <a:t> 形式：参照</a:t>
            </a:r>
            <a:r>
              <a:rPr lang="en-US" altLang="zh-CN" sz="1600" u="sng" dirty="0">
                <a:hlinkClick r:id="rId2"/>
              </a:rPr>
              <a:t>http://www.htc.com/cn/</a:t>
            </a:r>
            <a:endParaRPr lang="en-US" altLang="zh-CN" sz="1600" dirty="0" smtClean="0"/>
          </a:p>
          <a:p>
            <a:pPr>
              <a:buFont typeface="Wingdings" pitchFamily="2" charset="2"/>
              <a:buChar char="l"/>
            </a:pPr>
            <a:r>
              <a:rPr lang="zh-CN" altLang="en-US" sz="1600" dirty="0" smtClean="0"/>
              <a:t> 内容：产品展示</a:t>
            </a:r>
            <a:endParaRPr lang="en-US" altLang="zh-CN" sz="1600" dirty="0" smtClean="0"/>
          </a:p>
          <a:p>
            <a:pPr>
              <a:buFont typeface="Wingdings" pitchFamily="2" charset="2"/>
              <a:buChar char="l"/>
            </a:pPr>
            <a:r>
              <a:rPr lang="zh-CN" altLang="en-US" sz="1600" dirty="0" smtClean="0"/>
              <a:t> 静态展示为主，树立产品形象</a:t>
            </a:r>
            <a:endParaRPr lang="zh-CN" altLang="en-US" sz="1600" dirty="0"/>
          </a:p>
        </p:txBody>
      </p:sp>
      <p:sp>
        <p:nvSpPr>
          <p:cNvPr id="2" name="标题 1"/>
          <p:cNvSpPr>
            <a:spLocks noGrp="1"/>
          </p:cNvSpPr>
          <p:nvPr>
            <p:ph type="title"/>
          </p:nvPr>
        </p:nvSpPr>
        <p:spPr/>
        <p:txBody>
          <a:bodyPr/>
          <a:lstStyle/>
          <a:p>
            <a:r>
              <a:rPr lang="zh-CN" altLang="en-US" dirty="0" smtClean="0"/>
              <a:t>我们理解聚芳永本次官网项目的需求是</a:t>
            </a:r>
            <a:r>
              <a:rPr lang="en-US" altLang="zh-CN" dirty="0" smtClean="0"/>
              <a:t>……</a:t>
            </a:r>
            <a:endParaRPr lang="zh-CN" altLang="en-US" dirty="0"/>
          </a:p>
        </p:txBody>
      </p:sp>
      <p:sp>
        <p:nvSpPr>
          <p:cNvPr id="82" name="AutoShape 20"/>
          <p:cNvSpPr>
            <a:spLocks noChangeArrowheads="1"/>
          </p:cNvSpPr>
          <p:nvPr/>
        </p:nvSpPr>
        <p:spPr bwMode="gray">
          <a:xfrm>
            <a:off x="1860349" y="1042640"/>
            <a:ext cx="54000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innerShdw blurRad="63500" dist="50800" dir="2700000">
              <a:prstClr val="black">
                <a:alpha val="50000"/>
              </a:prstClr>
            </a:innerShdw>
          </a:effectLst>
        </p:spPr>
        <p:txBody>
          <a:bodyPr wrap="none" lIns="180000" anchor="ctr"/>
          <a:lstStyle/>
          <a:p>
            <a:r>
              <a:rPr lang="zh-CN" altLang="en-US" sz="1600" b="1" dirty="0" smtClean="0"/>
              <a:t>树立产品形象</a:t>
            </a:r>
          </a:p>
        </p:txBody>
      </p:sp>
      <p:sp>
        <p:nvSpPr>
          <p:cNvPr id="84" name="AutoShape 20"/>
          <p:cNvSpPr>
            <a:spLocks noChangeArrowheads="1"/>
          </p:cNvSpPr>
          <p:nvPr/>
        </p:nvSpPr>
        <p:spPr bwMode="gray">
          <a:xfrm>
            <a:off x="1860349" y="2928934"/>
            <a:ext cx="54000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innerShdw blurRad="63500" dist="50800" dir="2700000">
              <a:prstClr val="black">
                <a:alpha val="50000"/>
              </a:prstClr>
            </a:innerShdw>
          </a:effectLst>
        </p:spPr>
        <p:txBody>
          <a:bodyPr wrap="none" lIns="180000" anchor="ctr"/>
          <a:lstStyle/>
          <a:p>
            <a:r>
              <a:rPr lang="en-US" altLang="zh-CN" sz="1600" b="1" dirty="0" smtClean="0"/>
              <a:t>CRM</a:t>
            </a:r>
            <a:r>
              <a:rPr lang="zh-CN" altLang="en-US" sz="1600" b="1" dirty="0" smtClean="0"/>
              <a:t>客户关系管理</a:t>
            </a:r>
            <a:endParaRPr lang="en-US" altLang="zh-CN" sz="1600" b="1" dirty="0" smtClean="0"/>
          </a:p>
        </p:txBody>
      </p:sp>
      <p:sp>
        <p:nvSpPr>
          <p:cNvPr id="86" name="AutoShape 20"/>
          <p:cNvSpPr>
            <a:spLocks noChangeArrowheads="1"/>
          </p:cNvSpPr>
          <p:nvPr/>
        </p:nvSpPr>
        <p:spPr bwMode="gray">
          <a:xfrm>
            <a:off x="1860349" y="4868876"/>
            <a:ext cx="54000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innerShdw blurRad="63500" dist="50800" dir="2700000">
              <a:prstClr val="black">
                <a:alpha val="50000"/>
              </a:prstClr>
            </a:innerShdw>
          </a:effectLst>
        </p:spPr>
        <p:txBody>
          <a:bodyPr wrap="none" lIns="180000" anchor="ctr"/>
          <a:lstStyle/>
          <a:p>
            <a:r>
              <a:rPr lang="zh-CN" altLang="en-US" sz="1600" b="1" dirty="0" smtClean="0"/>
              <a:t>在线购物</a:t>
            </a:r>
            <a:endParaRPr lang="en-US" altLang="en-US" sz="1600" b="1" dirty="0" smtClean="0"/>
          </a:p>
        </p:txBody>
      </p:sp>
      <p:sp>
        <p:nvSpPr>
          <p:cNvPr id="92" name="圆角右箭头 91"/>
          <p:cNvSpPr/>
          <p:nvPr/>
        </p:nvSpPr>
        <p:spPr>
          <a:xfrm>
            <a:off x="909959" y="1510807"/>
            <a:ext cx="785818" cy="1418127"/>
          </a:xfrm>
          <a:prstGeom prst="bentArrow">
            <a:avLst/>
          </a:prstGeom>
          <a:solidFill>
            <a:schemeClr val="bg1">
              <a:lumMod val="65000"/>
            </a:scheme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solidFill>
                <a:schemeClr val="tx1"/>
              </a:solidFill>
            </a:endParaRPr>
          </a:p>
        </p:txBody>
      </p:sp>
      <p:sp>
        <p:nvSpPr>
          <p:cNvPr id="93" name="圆角右箭头 92"/>
          <p:cNvSpPr/>
          <p:nvPr/>
        </p:nvSpPr>
        <p:spPr>
          <a:xfrm flipV="1">
            <a:off x="884046" y="4572008"/>
            <a:ext cx="785818" cy="1571636"/>
          </a:xfrm>
          <a:prstGeom prst="bentArrow">
            <a:avLst/>
          </a:prstGeom>
          <a:solidFill>
            <a:schemeClr val="bg1">
              <a:lumMod val="65000"/>
            </a:scheme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solidFill>
                <a:schemeClr val="tx1"/>
              </a:solidFill>
            </a:endParaRPr>
          </a:p>
        </p:txBody>
      </p:sp>
      <p:sp>
        <p:nvSpPr>
          <p:cNvPr id="94" name="右箭头 93"/>
          <p:cNvSpPr/>
          <p:nvPr/>
        </p:nvSpPr>
        <p:spPr>
          <a:xfrm>
            <a:off x="1751026" y="3643314"/>
            <a:ext cx="463520" cy="357190"/>
          </a:xfrm>
          <a:prstGeom prst="rightArrow">
            <a:avLst/>
          </a:prstGeom>
          <a:solidFill>
            <a:schemeClr val="bg1">
              <a:lumMod val="65000"/>
            </a:scheme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solidFill>
                <a:schemeClr val="tx1"/>
              </a:solidFill>
            </a:endParaRPr>
          </a:p>
        </p:txBody>
      </p:sp>
      <p:pic>
        <p:nvPicPr>
          <p:cNvPr id="95" name="Picture 4" descr="whiteline_006"/>
          <p:cNvPicPr>
            <a:picLocks noChangeAspect="1" noChangeArrowheads="1"/>
          </p:cNvPicPr>
          <p:nvPr/>
        </p:nvPicPr>
        <p:blipFill>
          <a:blip r:embed="rId3"/>
          <a:srcRect/>
          <a:stretch>
            <a:fillRect/>
          </a:stretch>
        </p:blipFill>
        <p:spPr bwMode="auto">
          <a:xfrm>
            <a:off x="285355" y="3071810"/>
            <a:ext cx="1394556" cy="1387476"/>
          </a:xfrm>
          <a:prstGeom prst="rect">
            <a:avLst/>
          </a:prstGeom>
          <a:noFill/>
        </p:spPr>
      </p:pic>
      <p:sp>
        <p:nvSpPr>
          <p:cNvPr id="80" name="Rectangle 184"/>
          <p:cNvSpPr>
            <a:spLocks noChangeArrowheads="1"/>
          </p:cNvSpPr>
          <p:nvPr/>
        </p:nvSpPr>
        <p:spPr bwMode="gray">
          <a:xfrm>
            <a:off x="411734" y="3423369"/>
            <a:ext cx="1120331" cy="646331"/>
          </a:xfrm>
          <a:prstGeom prst="rect">
            <a:avLst/>
          </a:prstGeom>
          <a:noFill/>
          <a:ln w="9525" algn="ctr">
            <a:noFill/>
            <a:miter lim="800000"/>
            <a:headEnd/>
            <a:tailEnd/>
          </a:ln>
          <a:effectLst/>
        </p:spPr>
        <p:txBody>
          <a:bodyPr wrap="square">
            <a:spAutoFit/>
          </a:bodyPr>
          <a:lstStyle/>
          <a:p>
            <a:pPr algn="ctr"/>
            <a:r>
              <a:rPr lang="zh-CN" altLang="en-US" b="1" dirty="0">
                <a:ea typeface="宋体" charset="-122"/>
              </a:rPr>
              <a:t>聚芳</a:t>
            </a:r>
            <a:r>
              <a:rPr lang="zh-CN" altLang="en-US" b="1" dirty="0" smtClean="0">
                <a:ea typeface="宋体" charset="-122"/>
              </a:rPr>
              <a:t>永</a:t>
            </a:r>
            <a:endParaRPr lang="en-US" altLang="zh-CN" b="1" dirty="0" smtClean="0">
              <a:ea typeface="宋体" charset="-122"/>
            </a:endParaRPr>
          </a:p>
          <a:p>
            <a:pPr algn="ctr"/>
            <a:r>
              <a:rPr lang="zh-CN" altLang="en-US" b="1" dirty="0" smtClean="0">
                <a:ea typeface="宋体" charset="-122"/>
              </a:rPr>
              <a:t>项目需求</a:t>
            </a:r>
            <a:endParaRPr lang="en-US" altLang="zh-CN" b="1" dirty="0">
              <a:ea typeface="宋体" charset="-122"/>
            </a:endParaRPr>
          </a:p>
        </p:txBody>
      </p:sp>
      <p:sp>
        <p:nvSpPr>
          <p:cNvPr id="20" name="Oval 19"/>
          <p:cNvSpPr/>
          <p:nvPr/>
        </p:nvSpPr>
        <p:spPr>
          <a:xfrm>
            <a:off x="1690404" y="1100635"/>
            <a:ext cx="360000" cy="360000"/>
          </a:xfrm>
          <a:prstGeom prst="ellipse">
            <a:avLst/>
          </a:prstGeom>
          <a:ln w="12700"/>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smtClean="0"/>
              <a:t>1</a:t>
            </a:r>
            <a:endParaRPr lang="en-US" sz="1600" dirty="0"/>
          </a:p>
        </p:txBody>
      </p:sp>
      <p:sp>
        <p:nvSpPr>
          <p:cNvPr id="21" name="Oval 20"/>
          <p:cNvSpPr/>
          <p:nvPr/>
        </p:nvSpPr>
        <p:spPr>
          <a:xfrm>
            <a:off x="1690404" y="2979106"/>
            <a:ext cx="360000" cy="360000"/>
          </a:xfrm>
          <a:prstGeom prst="ellipse">
            <a:avLst/>
          </a:prstGeom>
          <a:ln w="12700"/>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smtClean="0"/>
              <a:t>2</a:t>
            </a:r>
            <a:endParaRPr lang="en-US" sz="1600" dirty="0"/>
          </a:p>
        </p:txBody>
      </p:sp>
      <p:sp>
        <p:nvSpPr>
          <p:cNvPr id="22" name="Oval 21"/>
          <p:cNvSpPr/>
          <p:nvPr/>
        </p:nvSpPr>
        <p:spPr>
          <a:xfrm>
            <a:off x="1690404" y="4929198"/>
            <a:ext cx="360000" cy="360000"/>
          </a:xfrm>
          <a:prstGeom prst="ellipse">
            <a:avLst/>
          </a:prstGeom>
          <a:ln w="12700"/>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smtClean="0"/>
              <a:t>3</a:t>
            </a:r>
            <a:endParaRPr lang="en-US"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925899" y="1886620"/>
            <a:ext cx="2016000" cy="828000"/>
          </a:xfrm>
          <a:prstGeom prst="roundRect">
            <a:avLst/>
          </a:pr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技术系统？</a:t>
            </a:r>
            <a:endParaRPr lang="en-US" sz="1600" dirty="0"/>
          </a:p>
        </p:txBody>
      </p:sp>
      <p:sp>
        <p:nvSpPr>
          <p:cNvPr id="4" name="Rounded Rectangle 3"/>
          <p:cNvSpPr/>
          <p:nvPr/>
        </p:nvSpPr>
        <p:spPr>
          <a:xfrm>
            <a:off x="925899" y="3243942"/>
            <a:ext cx="2016000" cy="828000"/>
          </a:xfrm>
          <a:prstGeom prst="roundRect">
            <a:avLst/>
          </a:pr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营销策略？</a:t>
            </a:r>
            <a:endParaRPr lang="en-US" sz="1600" dirty="0"/>
          </a:p>
        </p:txBody>
      </p:sp>
      <p:sp>
        <p:nvSpPr>
          <p:cNvPr id="5" name="Rounded Rectangle 4"/>
          <p:cNvSpPr/>
          <p:nvPr/>
        </p:nvSpPr>
        <p:spPr>
          <a:xfrm>
            <a:off x="925899" y="4601264"/>
            <a:ext cx="2016000" cy="828000"/>
          </a:xfrm>
          <a:prstGeom prst="roundRect">
            <a:avLst/>
          </a:pr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品牌推广策略？</a:t>
            </a:r>
            <a:endParaRPr lang="en-US" sz="1600" dirty="0"/>
          </a:p>
        </p:txBody>
      </p:sp>
      <p:sp>
        <p:nvSpPr>
          <p:cNvPr id="6" name="Rectangle 5"/>
          <p:cNvSpPr/>
          <p:nvPr/>
        </p:nvSpPr>
        <p:spPr>
          <a:xfrm>
            <a:off x="4038214" y="1965996"/>
            <a:ext cx="4534314" cy="3444760"/>
          </a:xfrm>
          <a:prstGeom prst="rect">
            <a:avLst/>
          </a:prstGeom>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55600" indent="-355600">
              <a:spcBef>
                <a:spcPts val="1600"/>
              </a:spcBef>
              <a:buFont typeface="Wingdings" pitchFamily="2" charset="2"/>
              <a:buChar char="Ø"/>
            </a:pPr>
            <a:r>
              <a:rPr lang="zh-CN" altLang="en-US" sz="1600" dirty="0" smtClean="0"/>
              <a:t>聚芳永官网 </a:t>
            </a:r>
            <a:r>
              <a:rPr lang="en-US" altLang="zh-CN" sz="1600" dirty="0" smtClean="0"/>
              <a:t>= </a:t>
            </a:r>
            <a:r>
              <a:rPr lang="zh-CN" altLang="en-US" sz="1600" dirty="0" smtClean="0"/>
              <a:t>信息提供型 </a:t>
            </a:r>
            <a:r>
              <a:rPr lang="en-US" altLang="zh-CN" sz="1600" dirty="0" smtClean="0"/>
              <a:t>+ </a:t>
            </a:r>
            <a:r>
              <a:rPr lang="zh-CN" altLang="en-US" sz="1600" dirty="0" smtClean="0"/>
              <a:t>电子商务型；</a:t>
            </a:r>
            <a:endParaRPr lang="en-US" altLang="zh-CN" sz="1600" dirty="0" smtClean="0"/>
          </a:p>
          <a:p>
            <a:pPr marL="355600" indent="-355600">
              <a:spcBef>
                <a:spcPts val="1600"/>
              </a:spcBef>
              <a:buFont typeface="Wingdings" pitchFamily="2" charset="2"/>
              <a:buChar char="Ø"/>
            </a:pPr>
            <a:r>
              <a:rPr lang="zh-CN" altLang="en-US" sz="1600" dirty="0" smtClean="0"/>
              <a:t>信息展示以树立产品形象</a:t>
            </a:r>
            <a:r>
              <a:rPr lang="zh-CN" altLang="en-US" sz="1600" dirty="0"/>
              <a:t>为主，融入品牌</a:t>
            </a:r>
            <a:r>
              <a:rPr lang="zh-CN" altLang="en-US" sz="1600" dirty="0" smtClean="0"/>
              <a:t>和公司形象</a:t>
            </a:r>
            <a:endParaRPr lang="en-US" altLang="zh-CN" sz="1600" dirty="0" smtClean="0"/>
          </a:p>
          <a:p>
            <a:pPr marL="355600" indent="-355600">
              <a:spcBef>
                <a:spcPts val="1600"/>
              </a:spcBef>
              <a:buFont typeface="Wingdings" pitchFamily="2" charset="2"/>
              <a:buChar char="Ø"/>
            </a:pPr>
            <a:r>
              <a:rPr lang="en-US" sz="1600" dirty="0" smtClean="0"/>
              <a:t>CRM</a:t>
            </a:r>
            <a:r>
              <a:rPr lang="zh-CN" altLang="en-US" sz="1600" dirty="0" smtClean="0"/>
              <a:t>的目的就是要</a:t>
            </a:r>
            <a:r>
              <a:rPr lang="zh-CN" altLang="en-US" sz="1600" b="1" dirty="0" smtClean="0"/>
              <a:t>最大化企业的盈利率</a:t>
            </a:r>
            <a:r>
              <a:rPr lang="zh-CN" altLang="en-US" sz="1600" dirty="0" smtClean="0"/>
              <a:t>；其途径是通过</a:t>
            </a:r>
            <a:r>
              <a:rPr lang="zh-CN" altLang="en-US" sz="1600" b="1" dirty="0" smtClean="0"/>
              <a:t>客户识别</a:t>
            </a:r>
            <a:r>
              <a:rPr lang="en-US" sz="1600" dirty="0" smtClean="0"/>
              <a:t>(Customer Identifying)</a:t>
            </a:r>
            <a:r>
              <a:rPr lang="zh-CN" altLang="en-US" sz="1600" dirty="0" smtClean="0"/>
              <a:t>、</a:t>
            </a:r>
            <a:r>
              <a:rPr lang="zh-CN" altLang="en-US" sz="1600" b="1" dirty="0" smtClean="0"/>
              <a:t>客户获取</a:t>
            </a:r>
            <a:r>
              <a:rPr lang="en-US" sz="1600" dirty="0" smtClean="0"/>
              <a:t>(Customer Acquiring)</a:t>
            </a:r>
            <a:r>
              <a:rPr lang="zh-CN" altLang="en-US" sz="1600" dirty="0" smtClean="0"/>
              <a:t>、</a:t>
            </a:r>
            <a:r>
              <a:rPr lang="zh-CN" altLang="en-US" sz="1600" b="1" dirty="0" smtClean="0"/>
              <a:t>客户保留</a:t>
            </a:r>
            <a:r>
              <a:rPr lang="en-US" sz="1600" dirty="0" smtClean="0"/>
              <a:t>(Customer Retaining)</a:t>
            </a:r>
            <a:r>
              <a:rPr lang="zh-CN" altLang="en-US" sz="1600" dirty="0" smtClean="0"/>
              <a:t>来发现有价值客户，挖掘潜在的客户，实现客户长期价值。</a:t>
            </a:r>
            <a:endParaRPr lang="en-US" altLang="zh-CN" sz="1600" dirty="0" smtClean="0"/>
          </a:p>
          <a:p>
            <a:pPr marL="355600" indent="-355600">
              <a:spcBef>
                <a:spcPts val="1600"/>
              </a:spcBef>
              <a:buFont typeface="Wingdings" pitchFamily="2" charset="2"/>
              <a:buChar char="Ø"/>
            </a:pPr>
            <a:r>
              <a:rPr lang="zh-CN" altLang="en-US" sz="1600" dirty="0" smtClean="0"/>
              <a:t>在线购物及移动</a:t>
            </a:r>
            <a:r>
              <a:rPr lang="en-US" altLang="zh-CN" sz="1600" dirty="0" smtClean="0"/>
              <a:t>APP</a:t>
            </a:r>
            <a:r>
              <a:rPr lang="zh-CN" altLang="en-US" sz="1600" dirty="0" smtClean="0"/>
              <a:t>目的均是为了品牌塑造及推广，引导消费者转化。</a:t>
            </a:r>
            <a:endParaRPr lang="en-US" sz="1600" dirty="0" smtClean="0"/>
          </a:p>
        </p:txBody>
      </p:sp>
      <p:sp>
        <p:nvSpPr>
          <p:cNvPr id="8" name="Right Arrow 7"/>
          <p:cNvSpPr/>
          <p:nvPr/>
        </p:nvSpPr>
        <p:spPr>
          <a:xfrm>
            <a:off x="3426229" y="2743876"/>
            <a:ext cx="214314" cy="1928826"/>
          </a:xfrm>
          <a:prstGeom prst="rightArrow">
            <a:avLst>
              <a:gd name="adj1" fmla="val 50000"/>
              <a:gd name="adj2" fmla="val 100000"/>
            </a:avLst>
          </a:prstGeom>
          <a:solidFill>
            <a:schemeClr val="accent1">
              <a:lumMod val="60000"/>
              <a:lumOff val="40000"/>
            </a:schemeClr>
          </a:solidFill>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600" dirty="0" smtClean="0"/>
          </a:p>
        </p:txBody>
      </p:sp>
      <p:sp>
        <p:nvSpPr>
          <p:cNvPr id="9" name="Slide Number Placeholder 8"/>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4</a:t>
            </a:fld>
            <a:endParaRPr lang="en-US" altLang="zh-CN" dirty="0">
              <a:solidFill>
                <a:srgbClr val="333333"/>
              </a:solidFill>
            </a:endParaRPr>
          </a:p>
        </p:txBody>
      </p:sp>
      <p:sp>
        <p:nvSpPr>
          <p:cNvPr id="10" name="Title 9"/>
          <p:cNvSpPr>
            <a:spLocks noGrp="1"/>
          </p:cNvSpPr>
          <p:nvPr>
            <p:ph type="title"/>
          </p:nvPr>
        </p:nvSpPr>
        <p:spPr/>
        <p:txBody>
          <a:bodyPr/>
          <a:lstStyle/>
          <a:p>
            <a:r>
              <a:rPr lang="zh-CN" altLang="en-US" dirty="0" smtClean="0"/>
              <a:t>乐其对</a:t>
            </a:r>
            <a:r>
              <a:rPr lang="zh-CN" altLang="en-US" dirty="0"/>
              <a:t>聚芳</a:t>
            </a:r>
            <a:r>
              <a:rPr lang="zh-CN" altLang="en-US" dirty="0" smtClean="0"/>
              <a:t>永官网体系的理解是</a:t>
            </a:r>
            <a:r>
              <a:rPr lang="en-US" altLang="zh-CN" dirty="0" smtClean="0"/>
              <a:t>……</a:t>
            </a:r>
            <a:endParaRPr lang="en-US" dirty="0"/>
          </a:p>
        </p:txBody>
      </p:sp>
    </p:spTree>
    <p:extLst>
      <p:ext uri="{BB962C8B-B14F-4D97-AF65-F5344CB8AC3E}">
        <p14:creationId xmlns:p14="http://schemas.microsoft.com/office/powerpoint/2010/main" val="7856947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par>
                                <p:cTn id="8" presetID="3" presetClass="entr" presetSubtype="5" fill="hold" grpId="1"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P spid="8"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无数的项目经验告诉我们聚芳永官网项目成功的关键为以下四个方面</a:t>
            </a:r>
            <a:endParaRPr lang="zh-CN" altLang="en-US" dirty="0"/>
          </a:p>
        </p:txBody>
      </p:sp>
      <p:sp>
        <p:nvSpPr>
          <p:cNvPr id="13" name="Freeform 7"/>
          <p:cNvSpPr>
            <a:spLocks/>
          </p:cNvSpPr>
          <p:nvPr/>
        </p:nvSpPr>
        <p:spPr bwMode="gray">
          <a:xfrm>
            <a:off x="3216758" y="4572008"/>
            <a:ext cx="942320" cy="1071570"/>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headEnd/>
            <a:tailEnd/>
          </a:ln>
          <a:effectLst>
            <a:innerShdw blurRad="63500" dist="50800">
              <a:prstClr val="black">
                <a:alpha val="50000"/>
              </a:prstClr>
            </a:innerShdw>
          </a:effectLst>
        </p:spPr>
        <p:txBody>
          <a:bodyPr/>
          <a:lstStyle/>
          <a:p>
            <a:endParaRPr lang="zh-CN" altLang="en-US"/>
          </a:p>
        </p:txBody>
      </p:sp>
      <p:sp>
        <p:nvSpPr>
          <p:cNvPr id="14" name="Freeform 9"/>
          <p:cNvSpPr>
            <a:spLocks/>
          </p:cNvSpPr>
          <p:nvPr/>
        </p:nvSpPr>
        <p:spPr bwMode="gray">
          <a:xfrm flipH="1">
            <a:off x="4605979" y="4572008"/>
            <a:ext cx="1000132" cy="1143008"/>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a:effectLst>
            <a:innerShdw blurRad="63500" dist="50800">
              <a:prstClr val="black">
                <a:alpha val="50000"/>
              </a:prstClr>
            </a:innerShdw>
          </a:effectLst>
        </p:spPr>
        <p:txBody>
          <a:bodyPr/>
          <a:lstStyle/>
          <a:p>
            <a:endParaRPr lang="zh-CN" altLang="en-US"/>
          </a:p>
        </p:txBody>
      </p:sp>
      <p:sp>
        <p:nvSpPr>
          <p:cNvPr id="15" name="Freeform 7"/>
          <p:cNvSpPr>
            <a:spLocks/>
          </p:cNvSpPr>
          <p:nvPr/>
        </p:nvSpPr>
        <p:spPr bwMode="gray">
          <a:xfrm flipV="1">
            <a:off x="3216758" y="1714488"/>
            <a:ext cx="928694" cy="1170224"/>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headEnd/>
            <a:tailEnd/>
          </a:ln>
          <a:effectLst>
            <a:innerShdw blurRad="63500" dist="50800">
              <a:prstClr val="black">
                <a:alpha val="50000"/>
              </a:prstClr>
            </a:innerShdw>
          </a:effectLst>
        </p:spPr>
        <p:txBody>
          <a:bodyPr/>
          <a:lstStyle/>
          <a:p>
            <a:endParaRPr lang="zh-CN" altLang="en-US"/>
          </a:p>
        </p:txBody>
      </p:sp>
      <p:sp>
        <p:nvSpPr>
          <p:cNvPr id="16" name="Freeform 9"/>
          <p:cNvSpPr>
            <a:spLocks/>
          </p:cNvSpPr>
          <p:nvPr/>
        </p:nvSpPr>
        <p:spPr bwMode="gray">
          <a:xfrm flipH="1" flipV="1">
            <a:off x="4645518" y="1754027"/>
            <a:ext cx="1000132" cy="1136526"/>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headEnd/>
            <a:tailEnd/>
          </a:ln>
          <a:effectLst>
            <a:innerShdw blurRad="63500" dist="50800">
              <a:prstClr val="black">
                <a:alpha val="50000"/>
              </a:prstClr>
            </a:innerShdw>
          </a:effectLst>
        </p:spPr>
        <p:txBody>
          <a:bodyPr/>
          <a:lstStyle/>
          <a:p>
            <a:endParaRPr lang="zh-CN" altLang="en-US"/>
          </a:p>
        </p:txBody>
      </p:sp>
      <p:grpSp>
        <p:nvGrpSpPr>
          <p:cNvPr id="3" name="Group 11"/>
          <p:cNvGrpSpPr>
            <a:grpSpLocks/>
          </p:cNvGrpSpPr>
          <p:nvPr/>
        </p:nvGrpSpPr>
        <p:grpSpPr bwMode="auto">
          <a:xfrm>
            <a:off x="3216758" y="3151084"/>
            <a:ext cx="2357454" cy="1135172"/>
            <a:chOff x="1973" y="1027"/>
            <a:chExt cx="1926" cy="937"/>
          </a:xfrm>
          <a:effectLst>
            <a:innerShdw blurRad="63500" dist="50800">
              <a:prstClr val="black">
                <a:alpha val="50000"/>
              </a:prstClr>
            </a:innerShdw>
          </a:effectLst>
        </p:grpSpPr>
        <p:sp>
          <p:nvSpPr>
            <p:cNvPr id="10" name="Oval 12"/>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endParaRPr lang="zh-CN" altLang="en-US"/>
            </a:p>
          </p:txBody>
        </p:sp>
        <p:sp>
          <p:nvSpPr>
            <p:cNvPr id="11" name="Oval 13"/>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endParaRPr lang="zh-CN" altLang="en-US"/>
            </a:p>
          </p:txBody>
        </p:sp>
      </p:grpSp>
      <p:sp>
        <p:nvSpPr>
          <p:cNvPr id="17" name="Freeform 4"/>
          <p:cNvSpPr>
            <a:spLocks noEditPoints="1"/>
          </p:cNvSpPr>
          <p:nvPr/>
        </p:nvSpPr>
        <p:spPr bwMode="gray">
          <a:xfrm rot="20241944">
            <a:off x="2951867" y="3256578"/>
            <a:ext cx="2956594" cy="700112"/>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headEnd/>
            <a:tailEnd/>
          </a:ln>
          <a:effectLst>
            <a:innerShdw blurRad="63500" dist="50800">
              <a:prstClr val="black">
                <a:alpha val="50000"/>
              </a:prstClr>
            </a:innerShdw>
          </a:effectLst>
        </p:spPr>
        <p:txBody>
          <a:bodyPr/>
          <a:lstStyle/>
          <a:p>
            <a:endParaRPr lang="zh-CN" altLang="en-US"/>
          </a:p>
        </p:txBody>
      </p:sp>
      <p:sp>
        <p:nvSpPr>
          <p:cNvPr id="18" name="圆角矩形 17"/>
          <p:cNvSpPr/>
          <p:nvPr/>
        </p:nvSpPr>
        <p:spPr>
          <a:xfrm>
            <a:off x="357158" y="1428736"/>
            <a:ext cx="2571768" cy="2286016"/>
          </a:xfrm>
          <a:prstGeom prst="roundRect">
            <a:avLst>
              <a:gd name="adj" fmla="val 0"/>
            </a:avLst>
          </a:prstGeom>
          <a:no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357158" y="2071678"/>
            <a:ext cx="2571768" cy="1571636"/>
          </a:xfrm>
          <a:prstGeom prst="rect">
            <a:avLst/>
          </a:prstGeom>
          <a:noFill/>
        </p:spPr>
        <p:txBody>
          <a:bodyPr wrap="square" rtlCol="0">
            <a:noAutofit/>
          </a:bodyPr>
          <a:lstStyle/>
          <a:p>
            <a:pPr marL="180975" indent="-180975">
              <a:buFont typeface="Wingdings" pitchFamily="2" charset="2"/>
              <a:buChar char="Ø"/>
            </a:pPr>
            <a:r>
              <a:rPr lang="zh-CN" altLang="en-US" sz="1600" dirty="0" smtClean="0"/>
              <a:t>长远、有效的战略目标规划是其成功的方向性保障</a:t>
            </a:r>
            <a:endParaRPr lang="en-US" altLang="zh-CN" sz="1600" dirty="0" smtClean="0"/>
          </a:p>
          <a:p>
            <a:pPr marL="180975" indent="-180975">
              <a:buFont typeface="Wingdings" pitchFamily="2" charset="2"/>
              <a:buChar char="Ø"/>
            </a:pPr>
            <a:r>
              <a:rPr lang="zh-CN" altLang="en-US" sz="1600" dirty="0" smtClean="0"/>
              <a:t>各类借助网络</a:t>
            </a:r>
            <a:r>
              <a:rPr lang="zh-CN" altLang="en-US" sz="1600" dirty="0"/>
              <a:t>渠道</a:t>
            </a:r>
            <a:r>
              <a:rPr lang="zh-CN" altLang="en-US" sz="1600" dirty="0" smtClean="0"/>
              <a:t>塑造品牌的规划是确保项目成功落地的前提</a:t>
            </a:r>
          </a:p>
        </p:txBody>
      </p:sp>
      <p:sp>
        <p:nvSpPr>
          <p:cNvPr id="30" name="圆角矩形 29"/>
          <p:cNvSpPr/>
          <p:nvPr/>
        </p:nvSpPr>
        <p:spPr>
          <a:xfrm>
            <a:off x="5929322" y="4071942"/>
            <a:ext cx="2571768" cy="2286016"/>
          </a:xfrm>
          <a:prstGeom prst="roundRect">
            <a:avLst>
              <a:gd name="adj" fmla="val 0"/>
            </a:avLst>
          </a:prstGeom>
          <a:no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357158" y="4071942"/>
            <a:ext cx="2571768" cy="2286016"/>
          </a:xfrm>
          <a:prstGeom prst="roundRect">
            <a:avLst>
              <a:gd name="adj" fmla="val 853"/>
            </a:avLst>
          </a:prstGeom>
          <a:no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5929322" y="1428736"/>
            <a:ext cx="2571768" cy="2286016"/>
          </a:xfrm>
          <a:prstGeom prst="roundRect">
            <a:avLst>
              <a:gd name="adj" fmla="val 0"/>
            </a:avLst>
          </a:prstGeom>
          <a:noFill/>
          <a:ln w="28575">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357158" y="1428736"/>
            <a:ext cx="2571768" cy="646331"/>
          </a:xfrm>
          <a:prstGeom prst="rect">
            <a:avLst/>
          </a:prstGeom>
          <a:solidFill>
            <a:schemeClr val="accent1"/>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oAutofit/>
          </a:bodyPr>
          <a:lstStyle/>
          <a:p>
            <a:r>
              <a:rPr lang="zh-CN" altLang="en-US" dirty="0" smtClean="0">
                <a:solidFill>
                  <a:schemeClr val="bg1"/>
                </a:solidFill>
              </a:rPr>
              <a:t>前瞻性并可落地的</a:t>
            </a:r>
            <a:endParaRPr lang="en-US" altLang="zh-CN" dirty="0" smtClean="0">
              <a:solidFill>
                <a:schemeClr val="bg1"/>
              </a:solidFill>
            </a:endParaRPr>
          </a:p>
          <a:p>
            <a:r>
              <a:rPr lang="zh-CN" altLang="en-US" b="1" dirty="0" smtClean="0">
                <a:solidFill>
                  <a:schemeClr val="bg1"/>
                </a:solidFill>
              </a:rPr>
              <a:t>战略规划</a:t>
            </a:r>
            <a:endParaRPr lang="en-US" altLang="zh-CN" b="1" dirty="0" smtClean="0">
              <a:solidFill>
                <a:schemeClr val="bg1"/>
              </a:solidFill>
            </a:endParaRPr>
          </a:p>
        </p:txBody>
      </p:sp>
      <p:sp>
        <p:nvSpPr>
          <p:cNvPr id="45" name="TextBox 44"/>
          <p:cNvSpPr txBox="1"/>
          <p:nvPr/>
        </p:nvSpPr>
        <p:spPr>
          <a:xfrm>
            <a:off x="3288196" y="3318083"/>
            <a:ext cx="2143140" cy="830997"/>
          </a:xfrm>
          <a:prstGeom prst="rect">
            <a:avLst/>
          </a:prstGeom>
          <a:noFill/>
        </p:spPr>
        <p:txBody>
          <a:bodyPr wrap="square" rtlCol="0">
            <a:spAutoFit/>
          </a:bodyPr>
          <a:lstStyle/>
          <a:p>
            <a:pPr algn="ctr"/>
            <a:r>
              <a:rPr lang="zh-CN" altLang="en-US" sz="2400" b="1" dirty="0" smtClean="0"/>
              <a:t>聚芳永官网</a:t>
            </a:r>
            <a:endParaRPr lang="en-US" altLang="zh-CN" sz="2400" b="1" dirty="0" smtClean="0"/>
          </a:p>
          <a:p>
            <a:pPr algn="ctr"/>
            <a:r>
              <a:rPr lang="zh-CN" altLang="en-US" sz="2400" b="1" dirty="0" smtClean="0"/>
              <a:t>成功关键</a:t>
            </a:r>
            <a:endParaRPr lang="zh-CN" altLang="en-US" sz="2400" b="1" dirty="0"/>
          </a:p>
        </p:txBody>
      </p:sp>
      <p:sp>
        <p:nvSpPr>
          <p:cNvPr id="33" name="TextBox 32"/>
          <p:cNvSpPr txBox="1"/>
          <p:nvPr/>
        </p:nvSpPr>
        <p:spPr>
          <a:xfrm>
            <a:off x="5929322" y="1428736"/>
            <a:ext cx="2571768" cy="646331"/>
          </a:xfrm>
          <a:prstGeom prst="rect">
            <a:avLst/>
          </a:prstGeom>
          <a:solidFill>
            <a:schemeClr val="accent1"/>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oAutofit/>
          </a:bodyPr>
          <a:lstStyle/>
          <a:p>
            <a:r>
              <a:rPr lang="zh-CN" altLang="en-US" dirty="0" smtClean="0">
                <a:solidFill>
                  <a:schemeClr val="bg1"/>
                </a:solidFill>
              </a:rPr>
              <a:t>灵活、稳定、集成性的</a:t>
            </a:r>
            <a:endParaRPr lang="en-US" altLang="zh-CN" dirty="0" smtClean="0">
              <a:solidFill>
                <a:schemeClr val="bg1"/>
              </a:solidFill>
            </a:endParaRPr>
          </a:p>
          <a:p>
            <a:r>
              <a:rPr lang="en-US" altLang="zh-CN" b="1" dirty="0" smtClean="0">
                <a:solidFill>
                  <a:schemeClr val="bg1"/>
                </a:solidFill>
              </a:rPr>
              <a:t>CRM</a:t>
            </a:r>
            <a:r>
              <a:rPr lang="zh-CN" altLang="en-US" b="1" dirty="0" smtClean="0">
                <a:solidFill>
                  <a:schemeClr val="bg1"/>
                </a:solidFill>
              </a:rPr>
              <a:t>系统</a:t>
            </a:r>
          </a:p>
        </p:txBody>
      </p:sp>
      <p:sp>
        <p:nvSpPr>
          <p:cNvPr id="35" name="TextBox 34"/>
          <p:cNvSpPr txBox="1"/>
          <p:nvPr/>
        </p:nvSpPr>
        <p:spPr>
          <a:xfrm>
            <a:off x="5929322" y="4071942"/>
            <a:ext cx="2571768" cy="646331"/>
          </a:xfrm>
          <a:prstGeom prst="rect">
            <a:avLst/>
          </a:prstGeom>
          <a:solidFill>
            <a:schemeClr val="accent1"/>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oAutofit/>
          </a:bodyPr>
          <a:lstStyle/>
          <a:p>
            <a:r>
              <a:rPr lang="zh-CN" altLang="en-US" dirty="0" smtClean="0">
                <a:solidFill>
                  <a:schemeClr val="bg1"/>
                </a:solidFill>
              </a:rPr>
              <a:t>多样性、可依托的</a:t>
            </a:r>
            <a:endParaRPr lang="en-US" altLang="zh-CN" dirty="0" smtClean="0">
              <a:solidFill>
                <a:schemeClr val="bg1"/>
              </a:solidFill>
            </a:endParaRPr>
          </a:p>
          <a:p>
            <a:r>
              <a:rPr lang="zh-CN" altLang="en-US" b="1" dirty="0" smtClean="0">
                <a:solidFill>
                  <a:schemeClr val="bg1"/>
                </a:solidFill>
              </a:rPr>
              <a:t>在线购物平台</a:t>
            </a:r>
          </a:p>
        </p:txBody>
      </p:sp>
      <p:sp>
        <p:nvSpPr>
          <p:cNvPr id="36" name="TextBox 35"/>
          <p:cNvSpPr txBox="1"/>
          <p:nvPr/>
        </p:nvSpPr>
        <p:spPr>
          <a:xfrm>
            <a:off x="357158" y="4071942"/>
            <a:ext cx="2571768" cy="646331"/>
          </a:xfrm>
          <a:prstGeom prst="rect">
            <a:avLst/>
          </a:prstGeom>
          <a:solidFill>
            <a:schemeClr val="accent1"/>
          </a:solidFill>
          <a:effectLst>
            <a:outerShdw blurRad="50800" dist="38100" dir="2700000" algn="tl" rotWithShape="0">
              <a:prstClr val="black">
                <a:alpha val="40000"/>
              </a:prstClr>
            </a:outerShdw>
          </a:effectLst>
          <a:scene3d>
            <a:camera prst="orthographicFront"/>
            <a:lightRig rig="threePt" dir="t"/>
          </a:scene3d>
          <a:sp3d>
            <a:bevelT/>
          </a:sp3d>
        </p:spPr>
        <p:txBody>
          <a:bodyPr wrap="square" rtlCol="0">
            <a:noAutofit/>
          </a:bodyPr>
          <a:lstStyle/>
          <a:p>
            <a:r>
              <a:rPr lang="zh-CN" altLang="en-US" dirty="0" smtClean="0">
                <a:solidFill>
                  <a:schemeClr val="bg1"/>
                </a:solidFill>
              </a:rPr>
              <a:t>丰富经验的</a:t>
            </a:r>
            <a:endParaRPr lang="en-US" altLang="zh-CN" dirty="0" smtClean="0">
              <a:solidFill>
                <a:schemeClr val="bg1"/>
              </a:solidFill>
            </a:endParaRPr>
          </a:p>
          <a:p>
            <a:r>
              <a:rPr lang="zh-CN" altLang="en-US" b="1" dirty="0" smtClean="0">
                <a:solidFill>
                  <a:schemeClr val="bg1"/>
                </a:solidFill>
              </a:rPr>
              <a:t>执行团队</a:t>
            </a:r>
          </a:p>
        </p:txBody>
      </p:sp>
      <p:sp>
        <p:nvSpPr>
          <p:cNvPr id="38" name="TextBox 37"/>
          <p:cNvSpPr txBox="1"/>
          <p:nvPr/>
        </p:nvSpPr>
        <p:spPr>
          <a:xfrm>
            <a:off x="5929322" y="2071678"/>
            <a:ext cx="2571768" cy="1571636"/>
          </a:xfrm>
          <a:prstGeom prst="rect">
            <a:avLst/>
          </a:prstGeom>
          <a:noFill/>
        </p:spPr>
        <p:txBody>
          <a:bodyPr wrap="square" rtlCol="0">
            <a:noAutofit/>
          </a:bodyPr>
          <a:lstStyle/>
          <a:p>
            <a:pPr marL="180975" indent="-180975">
              <a:buFont typeface="Wingdings" pitchFamily="2" charset="2"/>
              <a:buChar char="Ø"/>
            </a:pPr>
            <a:r>
              <a:rPr lang="zh-CN" altLang="en-US" sz="1600" dirty="0" smtClean="0"/>
              <a:t>稳定可靠的</a:t>
            </a:r>
            <a:r>
              <a:rPr lang="en-US" altLang="zh-CN" sz="1600" dirty="0" smtClean="0"/>
              <a:t>CRM</a:t>
            </a:r>
            <a:r>
              <a:rPr lang="zh-CN" altLang="en-US" sz="1600" dirty="0" smtClean="0"/>
              <a:t>系统是支持</a:t>
            </a:r>
            <a:r>
              <a:rPr lang="en-US" altLang="zh-CN" sz="1600" dirty="0" smtClean="0"/>
              <a:t>CRM</a:t>
            </a:r>
            <a:r>
              <a:rPr lang="zh-CN" altLang="en-US" sz="1600" dirty="0" smtClean="0"/>
              <a:t>运作的关键工具</a:t>
            </a:r>
            <a:endParaRPr lang="en-US" altLang="zh-CN" sz="1600" dirty="0" smtClean="0"/>
          </a:p>
          <a:p>
            <a:pPr marL="180975" indent="-180975">
              <a:buFont typeface="Wingdings" pitchFamily="2" charset="2"/>
              <a:buChar char="Ø"/>
            </a:pPr>
            <a:r>
              <a:rPr lang="zh-CN" altLang="en-US" sz="1600" dirty="0" smtClean="0"/>
              <a:t>灵活、多平台、良好集成的</a:t>
            </a:r>
            <a:r>
              <a:rPr lang="en-US" altLang="zh-CN" sz="1600" dirty="0" smtClean="0"/>
              <a:t>CRM</a:t>
            </a:r>
            <a:r>
              <a:rPr lang="zh-CN" altLang="en-US" sz="1600" dirty="0" smtClean="0"/>
              <a:t>系统是有效推广各类</a:t>
            </a:r>
            <a:r>
              <a:rPr lang="en-US" altLang="zh-CN" sz="1600" dirty="0" smtClean="0"/>
              <a:t>CRM</a:t>
            </a:r>
            <a:r>
              <a:rPr lang="zh-CN" altLang="en-US" sz="1600" dirty="0" smtClean="0"/>
              <a:t>活动的基础</a:t>
            </a:r>
          </a:p>
        </p:txBody>
      </p:sp>
      <p:sp>
        <p:nvSpPr>
          <p:cNvPr id="39" name="TextBox 38"/>
          <p:cNvSpPr txBox="1"/>
          <p:nvPr/>
        </p:nvSpPr>
        <p:spPr>
          <a:xfrm>
            <a:off x="357158" y="4714884"/>
            <a:ext cx="2571768" cy="1571636"/>
          </a:xfrm>
          <a:prstGeom prst="rect">
            <a:avLst/>
          </a:prstGeom>
          <a:noFill/>
        </p:spPr>
        <p:txBody>
          <a:bodyPr wrap="square" rtlCol="0">
            <a:noAutofit/>
          </a:bodyPr>
          <a:lstStyle/>
          <a:p>
            <a:pPr marL="180975" indent="-180975">
              <a:buFont typeface="Wingdings" pitchFamily="2" charset="2"/>
              <a:buChar char="Ø"/>
            </a:pPr>
            <a:r>
              <a:rPr lang="zh-CN" altLang="en-US" sz="1600" dirty="0" smtClean="0"/>
              <a:t>只有经验丰富的</a:t>
            </a:r>
            <a:r>
              <a:rPr lang="zh-CN" altLang="en-US" sz="1600" dirty="0"/>
              <a:t>电商</a:t>
            </a:r>
            <a:r>
              <a:rPr lang="zh-CN" altLang="en-US" sz="1600" dirty="0" smtClean="0"/>
              <a:t>团队才能制定切实可行的规划和活动并执行到位</a:t>
            </a:r>
            <a:endParaRPr lang="en-US" altLang="zh-CN" sz="1600" dirty="0" smtClean="0"/>
          </a:p>
          <a:p>
            <a:pPr marL="180975" indent="-180975">
              <a:buFont typeface="Wingdings" pitchFamily="2" charset="2"/>
              <a:buChar char="Ø"/>
            </a:pPr>
            <a:r>
              <a:rPr lang="zh-CN" altLang="en-US" sz="1600" dirty="0" smtClean="0"/>
              <a:t>各类活动及平台</a:t>
            </a:r>
            <a:r>
              <a:rPr lang="zh-CN" altLang="en-US" sz="1600" dirty="0"/>
              <a:t>的运作均需要依赖一个好的客服中心平台</a:t>
            </a:r>
            <a:r>
              <a:rPr lang="zh-CN" altLang="en-US" sz="1600" dirty="0" smtClean="0"/>
              <a:t>推广</a:t>
            </a:r>
            <a:endParaRPr lang="en-US" altLang="zh-CN" sz="1600" dirty="0"/>
          </a:p>
        </p:txBody>
      </p:sp>
      <p:sp>
        <p:nvSpPr>
          <p:cNvPr id="41" name="TextBox 40"/>
          <p:cNvSpPr txBox="1"/>
          <p:nvPr/>
        </p:nvSpPr>
        <p:spPr>
          <a:xfrm>
            <a:off x="5929322" y="4714884"/>
            <a:ext cx="2571768" cy="1571636"/>
          </a:xfrm>
          <a:prstGeom prst="rect">
            <a:avLst/>
          </a:prstGeom>
          <a:noFill/>
        </p:spPr>
        <p:txBody>
          <a:bodyPr wrap="square" rtlCol="0">
            <a:noAutofit/>
          </a:bodyPr>
          <a:lstStyle/>
          <a:p>
            <a:pPr marL="180975" indent="-180975">
              <a:buFont typeface="Wingdings" pitchFamily="2" charset="2"/>
              <a:buChar char="Ø"/>
            </a:pPr>
            <a:r>
              <a:rPr lang="zh-CN" altLang="en-US" sz="1600" dirty="0" smtClean="0"/>
              <a:t>低成本且快速化的</a:t>
            </a:r>
            <a:r>
              <a:rPr lang="en-US" altLang="zh-CN" sz="1600" dirty="0" smtClean="0"/>
              <a:t>xTao</a:t>
            </a:r>
            <a:r>
              <a:rPr lang="zh-CN" altLang="en-US" sz="1600" dirty="0" smtClean="0"/>
              <a:t>网站合作模式可更高效快速的实现在线购物</a:t>
            </a:r>
            <a:endParaRPr lang="en-US" altLang="zh-CN" sz="1600" dirty="0" smtClean="0"/>
          </a:p>
          <a:p>
            <a:pPr marL="180975" indent="-180975">
              <a:buFont typeface="Wingdings" pitchFamily="2" charset="2"/>
              <a:buChar char="Ø"/>
            </a:pPr>
            <a:r>
              <a:rPr lang="zh-CN" altLang="en-US" sz="1600" dirty="0"/>
              <a:t>无任何时何地，移动</a:t>
            </a:r>
            <a:r>
              <a:rPr lang="en-US" altLang="zh-CN" sz="1600" dirty="0"/>
              <a:t>APP</a:t>
            </a:r>
            <a:r>
              <a:rPr lang="zh-CN" altLang="en-US" sz="1600" dirty="0"/>
              <a:t>将</a:t>
            </a:r>
            <a:r>
              <a:rPr lang="zh-CN" altLang="en-US" sz="1600" dirty="0" smtClean="0"/>
              <a:t>提供便捷的一站式购物体验</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0" y="-2286040"/>
            <a:ext cx="9144000" cy="7477052"/>
            <a:chOff x="0" y="-1752600"/>
            <a:chExt cx="9144000" cy="7477052"/>
          </a:xfrm>
        </p:grpSpPr>
        <p:sp>
          <p:nvSpPr>
            <p:cNvPr id="50" name="AutoShape 3"/>
            <p:cNvSpPr>
              <a:spLocks noChangeArrowheads="1"/>
            </p:cNvSpPr>
            <p:nvPr/>
          </p:nvSpPr>
          <p:spPr bwMode="gray">
            <a:xfrm flipV="1">
              <a:off x="0" y="-1752600"/>
              <a:ext cx="9144000" cy="6248400"/>
            </a:xfrm>
            <a:custGeom>
              <a:avLst/>
              <a:gdLst>
                <a:gd name="G0" fmla="+- 7224 0 0"/>
                <a:gd name="G1" fmla="+- -9175604 0 0"/>
                <a:gd name="G2" fmla="+- 0 0 -9175604"/>
                <a:gd name="T0" fmla="*/ 0 256 1"/>
                <a:gd name="T1" fmla="*/ 180 256 1"/>
                <a:gd name="G3" fmla="+- -9175604 T0 T1"/>
                <a:gd name="T2" fmla="*/ 0 256 1"/>
                <a:gd name="T3" fmla="*/ 90 256 1"/>
                <a:gd name="G4" fmla="+- -9175604 T2 T3"/>
                <a:gd name="G5" fmla="*/ G4 2 1"/>
                <a:gd name="T4" fmla="*/ 90 256 1"/>
                <a:gd name="T5" fmla="*/ 0 256 1"/>
                <a:gd name="G6" fmla="+- -9175604 T4 T5"/>
                <a:gd name="G7" fmla="*/ G6 2 1"/>
                <a:gd name="G8" fmla="abs -9175604"/>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224"/>
                <a:gd name="G18" fmla="*/ 7224 1 2"/>
                <a:gd name="G19" fmla="+- G18 5400 0"/>
                <a:gd name="G20" fmla="cos G19 -9175604"/>
                <a:gd name="G21" fmla="sin G19 -9175604"/>
                <a:gd name="G22" fmla="+- G20 10800 0"/>
                <a:gd name="G23" fmla="+- G21 10800 0"/>
                <a:gd name="G24" fmla="+- 10800 0 G20"/>
                <a:gd name="G25" fmla="+- 7224 10800 0"/>
                <a:gd name="G26" fmla="?: G9 G17 G25"/>
                <a:gd name="G27" fmla="?: G9 0 21600"/>
                <a:gd name="G28" fmla="cos 10800 -9175604"/>
                <a:gd name="G29" fmla="sin 10800 -9175604"/>
                <a:gd name="G30" fmla="sin 7224 -9175604"/>
                <a:gd name="G31" fmla="+- G28 10800 0"/>
                <a:gd name="G32" fmla="+- G29 10800 0"/>
                <a:gd name="G33" fmla="+- G30 10800 0"/>
                <a:gd name="G34" fmla="?: G4 0 G31"/>
                <a:gd name="G35" fmla="?: -9175604 G34 0"/>
                <a:gd name="G36" fmla="?: G6 G35 G31"/>
                <a:gd name="G37" fmla="+- 21600 0 G36"/>
                <a:gd name="G38" fmla="?: G4 0 G33"/>
                <a:gd name="G39" fmla="?: -9175604 G38 G32"/>
                <a:gd name="G40" fmla="?: G6 G39 0"/>
                <a:gd name="G41" fmla="?: G4 G32 21600"/>
                <a:gd name="G42" fmla="?: G6 G41 G33"/>
                <a:gd name="T12" fmla="*/ 10800 w 21600"/>
                <a:gd name="T13" fmla="*/ 0 h 21600"/>
                <a:gd name="T14" fmla="*/ 3895 w 21600"/>
                <a:gd name="T15" fmla="*/ 5008 h 21600"/>
                <a:gd name="T16" fmla="*/ 10800 w 21600"/>
                <a:gd name="T17" fmla="*/ 3576 h 21600"/>
                <a:gd name="T18" fmla="*/ 17705 w 21600"/>
                <a:gd name="T19" fmla="*/ 500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265" y="6157"/>
                  </a:moveTo>
                  <a:cubicBezTo>
                    <a:pt x="6637" y="4521"/>
                    <a:pt x="8664" y="3575"/>
                    <a:pt x="10800" y="3576"/>
                  </a:cubicBezTo>
                  <a:cubicBezTo>
                    <a:pt x="12935" y="3576"/>
                    <a:pt x="14962" y="4521"/>
                    <a:pt x="16334" y="6157"/>
                  </a:cubicBezTo>
                  <a:lnTo>
                    <a:pt x="19074" y="3859"/>
                  </a:lnTo>
                  <a:cubicBezTo>
                    <a:pt x="17022" y="1412"/>
                    <a:pt x="13992" y="-1"/>
                    <a:pt x="10799" y="0"/>
                  </a:cubicBezTo>
                  <a:cubicBezTo>
                    <a:pt x="7607" y="0"/>
                    <a:pt x="4577" y="1412"/>
                    <a:pt x="2525" y="3859"/>
                  </a:cubicBezTo>
                  <a:close/>
                </a:path>
              </a:pathLst>
            </a:custGeom>
            <a:gradFill rotWithShape="1">
              <a:gsLst>
                <a:gs pos="0">
                  <a:srgbClr val="006699"/>
                </a:gs>
                <a:gs pos="100000">
                  <a:srgbClr val="BDCBDB"/>
                </a:gs>
              </a:gsLst>
              <a:lin ang="0" scaled="1"/>
            </a:gradFill>
            <a:ln w="9525">
              <a:miter lim="800000"/>
              <a:headEnd/>
              <a:tailEnd/>
            </a:ln>
            <a:effectLst/>
            <a:scene3d>
              <a:camera prst="legacyPerspectiveBottom">
                <a:rot lat="20099999" lon="0" rev="0"/>
              </a:camera>
              <a:lightRig rig="legacyHarsh3" dir="l"/>
            </a:scene3d>
            <a:sp3d extrusionH="2259000" prstMaterial="legacyPlastic">
              <a:bevelT w="13500" h="13500" prst="angle"/>
              <a:bevelB w="13500" h="13500" prst="angle"/>
              <a:extrusionClr>
                <a:srgbClr val="003366"/>
              </a:extrusionClr>
            </a:sp3d>
          </p:spPr>
          <p:txBody>
            <a:bodyPr wrap="none" anchor="ctr">
              <a:flatTx/>
            </a:bodyPr>
            <a:lstStyle/>
            <a:p>
              <a:endParaRPr lang="en-US"/>
            </a:p>
          </p:txBody>
        </p:sp>
        <p:sp>
          <p:nvSpPr>
            <p:cNvPr id="7" name="Freeform 4"/>
            <p:cNvSpPr>
              <a:spLocks/>
            </p:cNvSpPr>
            <p:nvPr/>
          </p:nvSpPr>
          <p:spPr bwMode="gray">
            <a:xfrm>
              <a:off x="692150" y="2981200"/>
              <a:ext cx="7767638" cy="2743252"/>
            </a:xfrm>
            <a:custGeom>
              <a:avLst/>
              <a:gdLst/>
              <a:ahLst/>
              <a:cxnLst>
                <a:cxn ang="0">
                  <a:pos x="4878" y="0"/>
                </a:cxn>
                <a:cxn ang="0">
                  <a:pos x="4893" y="440"/>
                </a:cxn>
                <a:cxn ang="0">
                  <a:pos x="2467" y="1917"/>
                </a:cxn>
                <a:cxn ang="0">
                  <a:pos x="21" y="500"/>
                </a:cxn>
                <a:cxn ang="0">
                  <a:pos x="0" y="2"/>
                </a:cxn>
                <a:cxn ang="0">
                  <a:pos x="2461" y="667"/>
                </a:cxn>
                <a:cxn ang="0">
                  <a:pos x="4878" y="0"/>
                </a:cxn>
              </a:cxnLst>
              <a:rect l="0" t="0" r="r" b="b"/>
              <a:pathLst>
                <a:path w="4893" h="1917">
                  <a:moveTo>
                    <a:pt x="4878" y="0"/>
                  </a:moveTo>
                  <a:cubicBezTo>
                    <a:pt x="4878" y="0"/>
                    <a:pt x="4891" y="226"/>
                    <a:pt x="4893" y="440"/>
                  </a:cubicBezTo>
                  <a:cubicBezTo>
                    <a:pt x="3867" y="440"/>
                    <a:pt x="3815" y="1811"/>
                    <a:pt x="2467" y="1917"/>
                  </a:cubicBezTo>
                  <a:cubicBezTo>
                    <a:pt x="1073" y="1877"/>
                    <a:pt x="1309" y="493"/>
                    <a:pt x="21" y="500"/>
                  </a:cubicBezTo>
                  <a:lnTo>
                    <a:pt x="0" y="2"/>
                  </a:lnTo>
                  <a:cubicBezTo>
                    <a:pt x="620" y="518"/>
                    <a:pt x="1873" y="671"/>
                    <a:pt x="2461" y="667"/>
                  </a:cubicBezTo>
                  <a:cubicBezTo>
                    <a:pt x="2461" y="667"/>
                    <a:pt x="4076" y="668"/>
                    <a:pt x="4878" y="0"/>
                  </a:cubicBezTo>
                  <a:close/>
                </a:path>
              </a:pathLst>
            </a:custGeom>
            <a:gradFill rotWithShape="1">
              <a:gsLst>
                <a:gs pos="0">
                  <a:srgbClr val="0D2D47"/>
                </a:gs>
                <a:gs pos="50000">
                  <a:srgbClr val="0F5C83"/>
                </a:gs>
                <a:gs pos="100000">
                  <a:srgbClr val="0D2D47"/>
                </a:gs>
              </a:gsLst>
              <a:lin ang="0" scaled="1"/>
            </a:gradFill>
            <a:ln w="9525">
              <a:noFill/>
              <a:round/>
              <a:headEnd/>
              <a:tailEnd/>
            </a:ln>
            <a:effectLst/>
          </p:spPr>
          <p:txBody>
            <a:bodyPr/>
            <a:lstStyle/>
            <a:p>
              <a:endParaRPr lang="en-US"/>
            </a:p>
          </p:txBody>
        </p:sp>
        <p:sp>
          <p:nvSpPr>
            <p:cNvPr id="8" name="Line 5"/>
            <p:cNvSpPr>
              <a:spLocks noChangeShapeType="1"/>
            </p:cNvSpPr>
            <p:nvPr/>
          </p:nvSpPr>
          <p:spPr bwMode="gray">
            <a:xfrm flipH="1">
              <a:off x="2216150" y="4900613"/>
              <a:ext cx="874713" cy="712787"/>
            </a:xfrm>
            <a:prstGeom prst="line">
              <a:avLst/>
            </a:prstGeom>
            <a:noFill/>
            <a:ln w="9525">
              <a:solidFill>
                <a:srgbClr val="F8F8F8">
                  <a:alpha val="10001"/>
                </a:srgbClr>
              </a:solidFill>
              <a:round/>
              <a:headEnd/>
              <a:tailEnd/>
            </a:ln>
            <a:effectLst/>
          </p:spPr>
          <p:txBody>
            <a:bodyPr/>
            <a:lstStyle/>
            <a:p>
              <a:endParaRPr lang="en-US"/>
            </a:p>
          </p:txBody>
        </p:sp>
        <p:sp>
          <p:nvSpPr>
            <p:cNvPr id="9" name="Line 6"/>
            <p:cNvSpPr>
              <a:spLocks noChangeShapeType="1"/>
            </p:cNvSpPr>
            <p:nvPr/>
          </p:nvSpPr>
          <p:spPr bwMode="gray">
            <a:xfrm>
              <a:off x="5970588" y="4916488"/>
              <a:ext cx="874712" cy="712787"/>
            </a:xfrm>
            <a:prstGeom prst="line">
              <a:avLst/>
            </a:prstGeom>
            <a:noFill/>
            <a:ln w="9525">
              <a:solidFill>
                <a:srgbClr val="F8F8F8">
                  <a:alpha val="10001"/>
                </a:srgbClr>
              </a:solidFill>
              <a:round/>
              <a:headEnd/>
              <a:tailEnd/>
            </a:ln>
            <a:effectLst/>
          </p:spPr>
          <p:txBody>
            <a:bodyPr/>
            <a:lstStyle/>
            <a:p>
              <a:endParaRPr lang="en-US"/>
            </a:p>
          </p:txBody>
        </p:sp>
        <p:sp>
          <p:nvSpPr>
            <p:cNvPr id="10" name="Line 7"/>
            <p:cNvSpPr>
              <a:spLocks noChangeShapeType="1"/>
            </p:cNvSpPr>
            <p:nvPr/>
          </p:nvSpPr>
          <p:spPr bwMode="gray">
            <a:xfrm flipH="1">
              <a:off x="666750" y="4556125"/>
              <a:ext cx="1143000" cy="331788"/>
            </a:xfrm>
            <a:prstGeom prst="line">
              <a:avLst/>
            </a:prstGeom>
            <a:noFill/>
            <a:ln w="9525">
              <a:solidFill>
                <a:srgbClr val="F8F8F8">
                  <a:alpha val="10001"/>
                </a:srgbClr>
              </a:solidFill>
              <a:round/>
              <a:headEnd/>
              <a:tailEnd/>
            </a:ln>
            <a:effectLst/>
          </p:spPr>
          <p:txBody>
            <a:bodyPr/>
            <a:lstStyle/>
            <a:p>
              <a:endParaRPr lang="en-US"/>
            </a:p>
          </p:txBody>
        </p:sp>
        <p:sp>
          <p:nvSpPr>
            <p:cNvPr id="11" name="Line 8"/>
            <p:cNvSpPr>
              <a:spLocks noChangeShapeType="1"/>
            </p:cNvSpPr>
            <p:nvPr/>
          </p:nvSpPr>
          <p:spPr bwMode="gray">
            <a:xfrm>
              <a:off x="7362825" y="4551363"/>
              <a:ext cx="1103313" cy="331787"/>
            </a:xfrm>
            <a:prstGeom prst="line">
              <a:avLst/>
            </a:prstGeom>
            <a:noFill/>
            <a:ln w="9525">
              <a:solidFill>
                <a:srgbClr val="F8F8F8">
                  <a:alpha val="10001"/>
                </a:srgbClr>
              </a:solidFill>
              <a:round/>
              <a:headEnd/>
              <a:tailEnd/>
            </a:ln>
            <a:effectLst/>
          </p:spPr>
          <p:txBody>
            <a:bodyPr/>
            <a:lstStyle/>
            <a:p>
              <a:endParaRPr lang="en-US"/>
            </a:p>
          </p:txBody>
        </p:sp>
        <p:sp>
          <p:nvSpPr>
            <p:cNvPr id="12" name="Text Box 9"/>
            <p:cNvSpPr txBox="1">
              <a:spLocks noChangeArrowheads="1"/>
            </p:cNvSpPr>
            <p:nvPr/>
          </p:nvSpPr>
          <p:spPr bwMode="gray">
            <a:xfrm>
              <a:off x="3053653" y="4313238"/>
              <a:ext cx="3054358" cy="369332"/>
            </a:xfrm>
            <a:prstGeom prst="rect">
              <a:avLst/>
            </a:prstGeom>
            <a:noFill/>
            <a:ln w="9525" algn="ctr">
              <a:noFill/>
              <a:miter lim="800000"/>
              <a:headEnd/>
              <a:tailEnd/>
            </a:ln>
            <a:effectLst/>
          </p:spPr>
          <p:txBody>
            <a:bodyPr wrap="square">
              <a:spAutoFit/>
            </a:bodyPr>
            <a:lstStyle/>
            <a:p>
              <a:pPr algn="ctr" eaLnBrk="0" hangingPunct="0"/>
              <a:r>
                <a:rPr lang="zh-CN" altLang="en-US" dirty="0" smtClean="0">
                  <a:solidFill>
                    <a:srgbClr val="FEFFFF"/>
                  </a:solidFill>
                </a:rPr>
                <a:t>依托聚芳永旗舰店为平台</a:t>
              </a:r>
              <a:endParaRPr lang="en-US" dirty="0">
                <a:solidFill>
                  <a:srgbClr val="FEFFFF"/>
                </a:solidFill>
              </a:endParaRPr>
            </a:p>
          </p:txBody>
        </p:sp>
        <p:sp>
          <p:nvSpPr>
            <p:cNvPr id="13" name="Line 10"/>
            <p:cNvSpPr>
              <a:spLocks noChangeShapeType="1"/>
            </p:cNvSpPr>
            <p:nvPr/>
          </p:nvSpPr>
          <p:spPr bwMode="gray">
            <a:xfrm flipH="1">
              <a:off x="2227263" y="2911475"/>
              <a:ext cx="874712" cy="712788"/>
            </a:xfrm>
            <a:prstGeom prst="line">
              <a:avLst/>
            </a:prstGeom>
            <a:noFill/>
            <a:ln w="9525">
              <a:solidFill>
                <a:srgbClr val="F8F8F8">
                  <a:alpha val="39999"/>
                </a:srgbClr>
              </a:solidFill>
              <a:round/>
              <a:headEnd/>
              <a:tailEnd/>
            </a:ln>
            <a:effectLst/>
          </p:spPr>
          <p:txBody>
            <a:bodyPr/>
            <a:lstStyle/>
            <a:p>
              <a:endParaRPr lang="en-US"/>
            </a:p>
          </p:txBody>
        </p:sp>
        <p:sp>
          <p:nvSpPr>
            <p:cNvPr id="14" name="Line 11"/>
            <p:cNvSpPr>
              <a:spLocks noChangeShapeType="1"/>
            </p:cNvSpPr>
            <p:nvPr/>
          </p:nvSpPr>
          <p:spPr bwMode="gray">
            <a:xfrm>
              <a:off x="5981700" y="2927350"/>
              <a:ext cx="874713" cy="712788"/>
            </a:xfrm>
            <a:prstGeom prst="line">
              <a:avLst/>
            </a:prstGeom>
            <a:noFill/>
            <a:ln w="9525">
              <a:solidFill>
                <a:srgbClr val="F8F8F8">
                  <a:alpha val="39999"/>
                </a:srgbClr>
              </a:solidFill>
              <a:round/>
              <a:headEnd/>
              <a:tailEnd/>
            </a:ln>
            <a:effectLst/>
          </p:spPr>
          <p:txBody>
            <a:bodyPr/>
            <a:lstStyle/>
            <a:p>
              <a:endParaRPr lang="en-US"/>
            </a:p>
          </p:txBody>
        </p:sp>
        <p:sp>
          <p:nvSpPr>
            <p:cNvPr id="15" name="Line 12"/>
            <p:cNvSpPr>
              <a:spLocks noChangeShapeType="1"/>
            </p:cNvSpPr>
            <p:nvPr/>
          </p:nvSpPr>
          <p:spPr bwMode="gray">
            <a:xfrm>
              <a:off x="4575175" y="3109913"/>
              <a:ext cx="0" cy="825500"/>
            </a:xfrm>
            <a:prstGeom prst="line">
              <a:avLst/>
            </a:prstGeom>
            <a:noFill/>
            <a:ln w="9525">
              <a:solidFill>
                <a:srgbClr val="F8F8F8">
                  <a:alpha val="30000"/>
                </a:srgbClr>
              </a:solidFill>
              <a:round/>
              <a:headEnd/>
              <a:tailEnd/>
            </a:ln>
            <a:effectLst/>
          </p:spPr>
          <p:txBody>
            <a:bodyPr/>
            <a:lstStyle/>
            <a:p>
              <a:endParaRPr lang="en-US"/>
            </a:p>
          </p:txBody>
        </p:sp>
        <p:sp>
          <p:nvSpPr>
            <p:cNvPr id="16" name="Freeform 13"/>
            <p:cNvSpPr>
              <a:spLocks/>
            </p:cNvSpPr>
            <p:nvPr/>
          </p:nvSpPr>
          <p:spPr bwMode="gray">
            <a:xfrm>
              <a:off x="685800" y="2916238"/>
              <a:ext cx="7743825" cy="1036637"/>
            </a:xfrm>
            <a:custGeom>
              <a:avLst/>
              <a:gdLst/>
              <a:ahLst/>
              <a:cxnLst>
                <a:cxn ang="0">
                  <a:pos x="0" y="0"/>
                </a:cxn>
                <a:cxn ang="0">
                  <a:pos x="2443" y="649"/>
                </a:cxn>
                <a:cxn ang="0">
                  <a:pos x="4878" y="17"/>
                </a:cxn>
              </a:cxnLst>
              <a:rect l="0" t="0" r="r" b="b"/>
              <a:pathLst>
                <a:path w="4878" h="653">
                  <a:moveTo>
                    <a:pt x="0" y="0"/>
                  </a:moveTo>
                  <a:cubicBezTo>
                    <a:pt x="522" y="422"/>
                    <a:pt x="1577" y="653"/>
                    <a:pt x="2443" y="649"/>
                  </a:cubicBezTo>
                  <a:cubicBezTo>
                    <a:pt x="3387" y="645"/>
                    <a:pt x="4229" y="447"/>
                    <a:pt x="4878" y="17"/>
                  </a:cubicBezTo>
                </a:path>
              </a:pathLst>
            </a:custGeom>
            <a:noFill/>
            <a:ln w="28575" cmpd="sng">
              <a:solidFill>
                <a:srgbClr val="FFFFFF">
                  <a:alpha val="80000"/>
                </a:srgbClr>
              </a:solidFill>
              <a:round/>
              <a:headEnd/>
              <a:tailEnd/>
            </a:ln>
            <a:effectLst/>
          </p:spPr>
          <p:txBody>
            <a:bodyPr/>
            <a:lstStyle/>
            <a:p>
              <a:endParaRPr lang="en-US"/>
            </a:p>
          </p:txBody>
        </p:sp>
        <p:sp>
          <p:nvSpPr>
            <p:cNvPr id="17" name="Line 14"/>
            <p:cNvSpPr>
              <a:spLocks noChangeShapeType="1"/>
            </p:cNvSpPr>
            <p:nvPr/>
          </p:nvSpPr>
          <p:spPr bwMode="gray">
            <a:xfrm flipH="1">
              <a:off x="2216150" y="4841875"/>
              <a:ext cx="874713" cy="712788"/>
            </a:xfrm>
            <a:prstGeom prst="line">
              <a:avLst/>
            </a:prstGeom>
            <a:noFill/>
            <a:ln w="9525">
              <a:solidFill>
                <a:srgbClr val="F8F8F8">
                  <a:alpha val="10001"/>
                </a:srgbClr>
              </a:solidFill>
              <a:round/>
              <a:headEnd/>
              <a:tailEnd/>
            </a:ln>
            <a:effectLst/>
          </p:spPr>
          <p:txBody>
            <a:bodyPr/>
            <a:lstStyle/>
            <a:p>
              <a:endParaRPr lang="en-US"/>
            </a:p>
          </p:txBody>
        </p:sp>
        <p:sp>
          <p:nvSpPr>
            <p:cNvPr id="18" name="Line 15"/>
            <p:cNvSpPr>
              <a:spLocks noChangeShapeType="1"/>
            </p:cNvSpPr>
            <p:nvPr/>
          </p:nvSpPr>
          <p:spPr bwMode="gray">
            <a:xfrm>
              <a:off x="5970588" y="4857750"/>
              <a:ext cx="874712" cy="712788"/>
            </a:xfrm>
            <a:prstGeom prst="line">
              <a:avLst/>
            </a:prstGeom>
            <a:noFill/>
            <a:ln w="9525">
              <a:solidFill>
                <a:srgbClr val="F8F8F8">
                  <a:alpha val="10001"/>
                </a:srgbClr>
              </a:solidFill>
              <a:round/>
              <a:headEnd/>
              <a:tailEnd/>
            </a:ln>
            <a:effectLst/>
          </p:spPr>
          <p:txBody>
            <a:bodyPr/>
            <a:lstStyle/>
            <a:p>
              <a:endParaRPr lang="en-US"/>
            </a:p>
          </p:txBody>
        </p:sp>
        <p:sp>
          <p:nvSpPr>
            <p:cNvPr id="19" name="Line 16"/>
            <p:cNvSpPr>
              <a:spLocks noChangeShapeType="1"/>
            </p:cNvSpPr>
            <p:nvPr/>
          </p:nvSpPr>
          <p:spPr bwMode="gray">
            <a:xfrm flipH="1">
              <a:off x="666750" y="4497388"/>
              <a:ext cx="1143000" cy="331787"/>
            </a:xfrm>
            <a:prstGeom prst="line">
              <a:avLst/>
            </a:prstGeom>
            <a:noFill/>
            <a:ln w="9525">
              <a:solidFill>
                <a:srgbClr val="F8F8F8">
                  <a:alpha val="10001"/>
                </a:srgbClr>
              </a:solidFill>
              <a:round/>
              <a:headEnd/>
              <a:tailEnd/>
            </a:ln>
            <a:effectLst/>
          </p:spPr>
          <p:txBody>
            <a:bodyPr/>
            <a:lstStyle/>
            <a:p>
              <a:endParaRPr lang="en-US"/>
            </a:p>
          </p:txBody>
        </p:sp>
        <p:sp>
          <p:nvSpPr>
            <p:cNvPr id="20" name="Line 17"/>
            <p:cNvSpPr>
              <a:spLocks noChangeShapeType="1"/>
            </p:cNvSpPr>
            <p:nvPr/>
          </p:nvSpPr>
          <p:spPr bwMode="gray">
            <a:xfrm>
              <a:off x="7362825" y="4492625"/>
              <a:ext cx="1103313" cy="331788"/>
            </a:xfrm>
            <a:prstGeom prst="line">
              <a:avLst/>
            </a:prstGeom>
            <a:noFill/>
            <a:ln w="9525">
              <a:solidFill>
                <a:srgbClr val="F8F8F8">
                  <a:alpha val="10001"/>
                </a:srgbClr>
              </a:solidFill>
              <a:round/>
              <a:headEnd/>
              <a:tailEnd/>
            </a:ln>
            <a:effectLst/>
          </p:spPr>
          <p:txBody>
            <a:bodyPr/>
            <a:lstStyle/>
            <a:p>
              <a:endParaRPr lang="en-US"/>
            </a:p>
          </p:txBody>
        </p:sp>
        <p:sp>
          <p:nvSpPr>
            <p:cNvPr id="21" name="Line 18"/>
            <p:cNvSpPr>
              <a:spLocks noChangeShapeType="1"/>
            </p:cNvSpPr>
            <p:nvPr/>
          </p:nvSpPr>
          <p:spPr bwMode="gray">
            <a:xfrm>
              <a:off x="4575175" y="3051175"/>
              <a:ext cx="0" cy="825500"/>
            </a:xfrm>
            <a:prstGeom prst="line">
              <a:avLst/>
            </a:prstGeom>
            <a:noFill/>
            <a:ln w="9525">
              <a:solidFill>
                <a:srgbClr val="F8F8F8">
                  <a:alpha val="30000"/>
                </a:srgbClr>
              </a:solidFill>
              <a:round/>
              <a:headEnd/>
              <a:tailEnd/>
            </a:ln>
            <a:effectLst/>
          </p:spPr>
          <p:txBody>
            <a:bodyPr/>
            <a:lstStyle/>
            <a:p>
              <a:endParaRPr lang="en-US"/>
            </a:p>
          </p:txBody>
        </p:sp>
        <p:grpSp>
          <p:nvGrpSpPr>
            <p:cNvPr id="22" name="Group 19"/>
            <p:cNvGrpSpPr>
              <a:grpSpLocks/>
            </p:cNvGrpSpPr>
            <p:nvPr/>
          </p:nvGrpSpPr>
          <p:grpSpPr bwMode="auto">
            <a:xfrm>
              <a:off x="1219200" y="1709738"/>
              <a:ext cx="1295400" cy="1371600"/>
              <a:chOff x="192" y="1917"/>
              <a:chExt cx="1042" cy="1102"/>
            </a:xfrm>
          </p:grpSpPr>
          <p:grpSp>
            <p:nvGrpSpPr>
              <p:cNvPr id="23" name="Group 20"/>
              <p:cNvGrpSpPr>
                <a:grpSpLocks/>
              </p:cNvGrpSpPr>
              <p:nvPr/>
            </p:nvGrpSpPr>
            <p:grpSpPr bwMode="auto">
              <a:xfrm>
                <a:off x="192" y="1917"/>
                <a:ext cx="1042" cy="1102"/>
                <a:chOff x="192" y="1917"/>
                <a:chExt cx="1042" cy="1102"/>
              </a:xfrm>
            </p:grpSpPr>
            <p:pic>
              <p:nvPicPr>
                <p:cNvPr id="25" name="Picture 21" descr="light_shadow"/>
                <p:cNvPicPr>
                  <a:picLocks noChangeAspect="1" noChangeArrowheads="1"/>
                </p:cNvPicPr>
                <p:nvPr/>
              </p:nvPicPr>
              <p:blipFill>
                <a:blip r:embed="rId2" cstate="print">
                  <a:lum bright="-78000" contrast="-78000"/>
                </a:blip>
                <a:srcRect/>
                <a:stretch>
                  <a:fillRect/>
                </a:stretch>
              </p:blipFill>
              <p:spPr bwMode="gray">
                <a:xfrm>
                  <a:off x="291" y="2781"/>
                  <a:ext cx="858" cy="238"/>
                </a:xfrm>
                <a:prstGeom prst="rect">
                  <a:avLst/>
                </a:prstGeom>
                <a:noFill/>
              </p:spPr>
            </p:pic>
            <p:pic>
              <p:nvPicPr>
                <p:cNvPr id="26" name="Picture 22" descr="circuler_1"/>
                <p:cNvPicPr>
                  <a:picLocks noChangeAspect="1" noChangeArrowheads="1"/>
                </p:cNvPicPr>
                <p:nvPr/>
              </p:nvPicPr>
              <p:blipFill>
                <a:blip r:embed="rId3" cstate="print"/>
                <a:srcRect/>
                <a:stretch>
                  <a:fillRect/>
                </a:stretch>
              </p:blipFill>
              <p:spPr bwMode="gray">
                <a:xfrm>
                  <a:off x="192" y="1917"/>
                  <a:ext cx="1042" cy="1016"/>
                </a:xfrm>
                <a:prstGeom prst="rect">
                  <a:avLst/>
                </a:prstGeom>
                <a:noFill/>
              </p:spPr>
            </p:pic>
            <p:sp>
              <p:nvSpPr>
                <p:cNvPr id="27" name="Oval 23"/>
                <p:cNvSpPr>
                  <a:spLocks noChangeArrowheads="1"/>
                </p:cNvSpPr>
                <p:nvPr/>
              </p:nvSpPr>
              <p:spPr bwMode="gray">
                <a:xfrm>
                  <a:off x="192" y="1917"/>
                  <a:ext cx="1035" cy="1019"/>
                </a:xfrm>
                <a:prstGeom prst="ellipse">
                  <a:avLst/>
                </a:prstGeom>
                <a:gradFill rotWithShape="1">
                  <a:gsLst>
                    <a:gs pos="0">
                      <a:srgbClr val="FCA96A">
                        <a:gamma/>
                        <a:shade val="46275"/>
                        <a:invGamma/>
                        <a:alpha val="89999"/>
                      </a:srgbClr>
                    </a:gs>
                    <a:gs pos="50000">
                      <a:srgbClr val="FCA96A">
                        <a:alpha val="55000"/>
                      </a:srgbClr>
                    </a:gs>
                    <a:gs pos="100000">
                      <a:srgbClr val="FCA96A">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24" name="Picture 24"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grpSp>
          <p:nvGrpSpPr>
            <p:cNvPr id="28" name="Group 25"/>
            <p:cNvGrpSpPr>
              <a:grpSpLocks/>
            </p:cNvGrpSpPr>
            <p:nvPr/>
          </p:nvGrpSpPr>
          <p:grpSpPr bwMode="auto">
            <a:xfrm>
              <a:off x="6545263" y="1709738"/>
              <a:ext cx="1295400" cy="1371600"/>
              <a:chOff x="192" y="1917"/>
              <a:chExt cx="1042" cy="1102"/>
            </a:xfrm>
          </p:grpSpPr>
          <p:grpSp>
            <p:nvGrpSpPr>
              <p:cNvPr id="29" name="Group 26"/>
              <p:cNvGrpSpPr>
                <a:grpSpLocks/>
              </p:cNvGrpSpPr>
              <p:nvPr/>
            </p:nvGrpSpPr>
            <p:grpSpPr bwMode="auto">
              <a:xfrm>
                <a:off x="192" y="1917"/>
                <a:ext cx="1042" cy="1102"/>
                <a:chOff x="192" y="1917"/>
                <a:chExt cx="1042" cy="1102"/>
              </a:xfrm>
            </p:grpSpPr>
            <p:pic>
              <p:nvPicPr>
                <p:cNvPr id="31" name="Picture 27" descr="light_shadow"/>
                <p:cNvPicPr>
                  <a:picLocks noChangeAspect="1" noChangeArrowheads="1"/>
                </p:cNvPicPr>
                <p:nvPr/>
              </p:nvPicPr>
              <p:blipFill>
                <a:blip r:embed="rId2" cstate="print">
                  <a:lum bright="-78000" contrast="-78000"/>
                </a:blip>
                <a:srcRect/>
                <a:stretch>
                  <a:fillRect/>
                </a:stretch>
              </p:blipFill>
              <p:spPr bwMode="gray">
                <a:xfrm>
                  <a:off x="291" y="2781"/>
                  <a:ext cx="858" cy="238"/>
                </a:xfrm>
                <a:prstGeom prst="rect">
                  <a:avLst/>
                </a:prstGeom>
                <a:noFill/>
              </p:spPr>
            </p:pic>
            <p:pic>
              <p:nvPicPr>
                <p:cNvPr id="32" name="Picture 28" descr="circuler_1"/>
                <p:cNvPicPr>
                  <a:picLocks noChangeAspect="1" noChangeArrowheads="1"/>
                </p:cNvPicPr>
                <p:nvPr/>
              </p:nvPicPr>
              <p:blipFill>
                <a:blip r:embed="rId3" cstate="print"/>
                <a:srcRect/>
                <a:stretch>
                  <a:fillRect/>
                </a:stretch>
              </p:blipFill>
              <p:spPr bwMode="gray">
                <a:xfrm>
                  <a:off x="192" y="1917"/>
                  <a:ext cx="1042" cy="1016"/>
                </a:xfrm>
                <a:prstGeom prst="rect">
                  <a:avLst/>
                </a:prstGeom>
                <a:noFill/>
              </p:spPr>
            </p:pic>
            <p:sp>
              <p:nvSpPr>
                <p:cNvPr id="33" name="Oval 29"/>
                <p:cNvSpPr>
                  <a:spLocks noChangeArrowheads="1"/>
                </p:cNvSpPr>
                <p:nvPr/>
              </p:nvSpPr>
              <p:spPr bwMode="gray">
                <a:xfrm>
                  <a:off x="192" y="1917"/>
                  <a:ext cx="1035" cy="1019"/>
                </a:xfrm>
                <a:prstGeom prst="ellipse">
                  <a:avLst/>
                </a:prstGeom>
                <a:gradFill rotWithShape="1">
                  <a:gsLst>
                    <a:gs pos="0">
                      <a:srgbClr val="FCA96A">
                        <a:gamma/>
                        <a:shade val="46275"/>
                        <a:invGamma/>
                        <a:alpha val="89999"/>
                      </a:srgbClr>
                    </a:gs>
                    <a:gs pos="50000">
                      <a:srgbClr val="FCA96A">
                        <a:alpha val="55000"/>
                      </a:srgbClr>
                    </a:gs>
                    <a:gs pos="100000">
                      <a:srgbClr val="FCA96A">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30" name="Picture 30"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sp>
          <p:nvSpPr>
            <p:cNvPr id="34" name="Rectangle 31"/>
            <p:cNvSpPr>
              <a:spLocks noChangeArrowheads="1"/>
            </p:cNvSpPr>
            <p:nvPr/>
          </p:nvSpPr>
          <p:spPr bwMode="gray">
            <a:xfrm>
              <a:off x="1214438" y="2126456"/>
              <a:ext cx="1217000" cy="400110"/>
            </a:xfrm>
            <a:prstGeom prst="rect">
              <a:avLst/>
            </a:prstGeom>
            <a:noFill/>
            <a:ln w="9525">
              <a:noFill/>
              <a:miter lim="800000"/>
              <a:headEnd/>
              <a:tailEnd/>
            </a:ln>
            <a:effectLst/>
          </p:spPr>
          <p:txBody>
            <a:bodyPr wrap="none">
              <a:spAutoFit/>
            </a:bodyPr>
            <a:lstStyle/>
            <a:p>
              <a:pPr>
                <a:buClr>
                  <a:srgbClr val="FF0066"/>
                </a:buClr>
                <a:buSzPct val="75000"/>
                <a:buFont typeface="Arial" charset="0"/>
                <a:buNone/>
              </a:pPr>
              <a:r>
                <a:rPr lang="zh-CN" altLang="en-US" sz="2000" b="1" dirty="0" smtClean="0">
                  <a:solidFill>
                    <a:srgbClr val="080808"/>
                  </a:solidFill>
                </a:rPr>
                <a:t>大处着眼</a:t>
              </a:r>
              <a:endParaRPr lang="en-US" sz="2000" b="1" dirty="0">
                <a:solidFill>
                  <a:srgbClr val="080808"/>
                </a:solidFill>
              </a:endParaRPr>
            </a:p>
          </p:txBody>
        </p:sp>
        <p:sp>
          <p:nvSpPr>
            <p:cNvPr id="35" name="Rectangle 32"/>
            <p:cNvSpPr>
              <a:spLocks noChangeArrowheads="1"/>
            </p:cNvSpPr>
            <p:nvPr/>
          </p:nvSpPr>
          <p:spPr bwMode="gray">
            <a:xfrm>
              <a:off x="6562725" y="2126456"/>
              <a:ext cx="1217000" cy="400110"/>
            </a:xfrm>
            <a:prstGeom prst="rect">
              <a:avLst/>
            </a:prstGeom>
            <a:noFill/>
            <a:ln w="9525">
              <a:noFill/>
              <a:miter lim="800000"/>
              <a:headEnd/>
              <a:tailEnd/>
            </a:ln>
            <a:effectLst/>
          </p:spPr>
          <p:txBody>
            <a:bodyPr wrap="none">
              <a:spAutoFit/>
            </a:bodyPr>
            <a:lstStyle/>
            <a:p>
              <a:pPr>
                <a:buClr>
                  <a:srgbClr val="FF0066"/>
                </a:buClr>
                <a:buSzPct val="75000"/>
                <a:buFont typeface="Arial" charset="0"/>
                <a:buNone/>
              </a:pPr>
              <a:r>
                <a:rPr lang="zh-CN" altLang="en-US" sz="2000" b="1" dirty="0" smtClean="0">
                  <a:solidFill>
                    <a:srgbClr val="080808"/>
                  </a:solidFill>
                </a:rPr>
                <a:t>小处着手</a:t>
              </a:r>
              <a:endParaRPr lang="en-US" sz="2000" b="1" dirty="0">
                <a:solidFill>
                  <a:srgbClr val="080808"/>
                </a:solidFill>
              </a:endParaRPr>
            </a:p>
          </p:txBody>
        </p:sp>
        <p:grpSp>
          <p:nvGrpSpPr>
            <p:cNvPr id="36" name="Group 33"/>
            <p:cNvGrpSpPr>
              <a:grpSpLocks/>
            </p:cNvGrpSpPr>
            <p:nvPr/>
          </p:nvGrpSpPr>
          <p:grpSpPr bwMode="auto">
            <a:xfrm>
              <a:off x="2743200" y="1865313"/>
              <a:ext cx="1654175" cy="1749425"/>
              <a:chOff x="192" y="1917"/>
              <a:chExt cx="1042" cy="1102"/>
            </a:xfrm>
          </p:grpSpPr>
          <p:grpSp>
            <p:nvGrpSpPr>
              <p:cNvPr id="37" name="Group 34"/>
              <p:cNvGrpSpPr>
                <a:grpSpLocks/>
              </p:cNvGrpSpPr>
              <p:nvPr/>
            </p:nvGrpSpPr>
            <p:grpSpPr bwMode="auto">
              <a:xfrm>
                <a:off x="192" y="1917"/>
                <a:ext cx="1042" cy="1102"/>
                <a:chOff x="192" y="1917"/>
                <a:chExt cx="1042" cy="1102"/>
              </a:xfrm>
            </p:grpSpPr>
            <p:pic>
              <p:nvPicPr>
                <p:cNvPr id="39" name="Picture 35" descr="light_shadow"/>
                <p:cNvPicPr>
                  <a:picLocks noChangeAspect="1" noChangeArrowheads="1"/>
                </p:cNvPicPr>
                <p:nvPr/>
              </p:nvPicPr>
              <p:blipFill>
                <a:blip r:embed="rId5" cstate="print">
                  <a:lum bright="-78000" contrast="-78000"/>
                </a:blip>
                <a:srcRect/>
                <a:stretch>
                  <a:fillRect/>
                </a:stretch>
              </p:blipFill>
              <p:spPr bwMode="gray">
                <a:xfrm>
                  <a:off x="291" y="2781"/>
                  <a:ext cx="858" cy="238"/>
                </a:xfrm>
                <a:prstGeom prst="rect">
                  <a:avLst/>
                </a:prstGeom>
                <a:noFill/>
              </p:spPr>
            </p:pic>
            <p:pic>
              <p:nvPicPr>
                <p:cNvPr id="40" name="Picture 36" descr="circuler_1"/>
                <p:cNvPicPr>
                  <a:picLocks noChangeAspect="1" noChangeArrowheads="1"/>
                </p:cNvPicPr>
                <p:nvPr/>
              </p:nvPicPr>
              <p:blipFill>
                <a:blip r:embed="rId6"/>
                <a:srcRect/>
                <a:stretch>
                  <a:fillRect/>
                </a:stretch>
              </p:blipFill>
              <p:spPr bwMode="gray">
                <a:xfrm>
                  <a:off x="192" y="1917"/>
                  <a:ext cx="1042" cy="1016"/>
                </a:xfrm>
                <a:prstGeom prst="rect">
                  <a:avLst/>
                </a:prstGeom>
                <a:noFill/>
              </p:spPr>
            </p:pic>
            <p:sp>
              <p:nvSpPr>
                <p:cNvPr id="41" name="Oval 37"/>
                <p:cNvSpPr>
                  <a:spLocks noChangeArrowheads="1"/>
                </p:cNvSpPr>
                <p:nvPr/>
              </p:nvSpPr>
              <p:spPr bwMode="gray">
                <a:xfrm>
                  <a:off x="192" y="1917"/>
                  <a:ext cx="1035" cy="1019"/>
                </a:xfrm>
                <a:prstGeom prst="ellipse">
                  <a:avLst/>
                </a:prstGeom>
                <a:gradFill rotWithShape="1">
                  <a:gsLst>
                    <a:gs pos="0">
                      <a:srgbClr val="6FF775">
                        <a:gamma/>
                        <a:shade val="46275"/>
                        <a:invGamma/>
                        <a:alpha val="89999"/>
                      </a:srgbClr>
                    </a:gs>
                    <a:gs pos="50000">
                      <a:srgbClr val="6FF775">
                        <a:alpha val="55000"/>
                      </a:srgbClr>
                    </a:gs>
                    <a:gs pos="100000">
                      <a:srgbClr val="6FF775">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38" name="Picture 38"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grpSp>
          <p:nvGrpSpPr>
            <p:cNvPr id="42" name="Group 39"/>
            <p:cNvGrpSpPr>
              <a:grpSpLocks/>
            </p:cNvGrpSpPr>
            <p:nvPr/>
          </p:nvGrpSpPr>
          <p:grpSpPr bwMode="auto">
            <a:xfrm>
              <a:off x="4638675" y="1865313"/>
              <a:ext cx="1654175" cy="1749425"/>
              <a:chOff x="192" y="1917"/>
              <a:chExt cx="1042" cy="1102"/>
            </a:xfrm>
          </p:grpSpPr>
          <p:grpSp>
            <p:nvGrpSpPr>
              <p:cNvPr id="43" name="Group 40"/>
              <p:cNvGrpSpPr>
                <a:grpSpLocks/>
              </p:cNvGrpSpPr>
              <p:nvPr/>
            </p:nvGrpSpPr>
            <p:grpSpPr bwMode="auto">
              <a:xfrm>
                <a:off x="192" y="1917"/>
                <a:ext cx="1042" cy="1102"/>
                <a:chOff x="192" y="1917"/>
                <a:chExt cx="1042" cy="1102"/>
              </a:xfrm>
            </p:grpSpPr>
            <p:pic>
              <p:nvPicPr>
                <p:cNvPr id="45" name="Picture 41" descr="light_shadow"/>
                <p:cNvPicPr>
                  <a:picLocks noChangeAspect="1" noChangeArrowheads="1"/>
                </p:cNvPicPr>
                <p:nvPr/>
              </p:nvPicPr>
              <p:blipFill>
                <a:blip r:embed="rId5" cstate="print">
                  <a:lum bright="-78000" contrast="-78000"/>
                </a:blip>
                <a:srcRect/>
                <a:stretch>
                  <a:fillRect/>
                </a:stretch>
              </p:blipFill>
              <p:spPr bwMode="gray">
                <a:xfrm>
                  <a:off x="291" y="2781"/>
                  <a:ext cx="858" cy="238"/>
                </a:xfrm>
                <a:prstGeom prst="rect">
                  <a:avLst/>
                </a:prstGeom>
                <a:noFill/>
              </p:spPr>
            </p:pic>
            <p:pic>
              <p:nvPicPr>
                <p:cNvPr id="46" name="Picture 42" descr="circuler_1"/>
                <p:cNvPicPr>
                  <a:picLocks noChangeAspect="1" noChangeArrowheads="1"/>
                </p:cNvPicPr>
                <p:nvPr/>
              </p:nvPicPr>
              <p:blipFill>
                <a:blip r:embed="rId6"/>
                <a:srcRect/>
                <a:stretch>
                  <a:fillRect/>
                </a:stretch>
              </p:blipFill>
              <p:spPr bwMode="gray">
                <a:xfrm>
                  <a:off x="192" y="1917"/>
                  <a:ext cx="1042" cy="1016"/>
                </a:xfrm>
                <a:prstGeom prst="rect">
                  <a:avLst/>
                </a:prstGeom>
                <a:noFill/>
              </p:spPr>
            </p:pic>
            <p:sp>
              <p:nvSpPr>
                <p:cNvPr id="47" name="Oval 43"/>
                <p:cNvSpPr>
                  <a:spLocks noChangeArrowheads="1"/>
                </p:cNvSpPr>
                <p:nvPr/>
              </p:nvSpPr>
              <p:spPr bwMode="gray">
                <a:xfrm>
                  <a:off x="192" y="1917"/>
                  <a:ext cx="1035" cy="1019"/>
                </a:xfrm>
                <a:prstGeom prst="ellipse">
                  <a:avLst/>
                </a:prstGeom>
                <a:gradFill rotWithShape="1">
                  <a:gsLst>
                    <a:gs pos="0">
                      <a:srgbClr val="6FF775">
                        <a:gamma/>
                        <a:shade val="46275"/>
                        <a:invGamma/>
                        <a:alpha val="89999"/>
                      </a:srgbClr>
                    </a:gs>
                    <a:gs pos="50000">
                      <a:srgbClr val="6FF775">
                        <a:alpha val="55000"/>
                      </a:srgbClr>
                    </a:gs>
                    <a:gs pos="100000">
                      <a:srgbClr val="6FF775">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44" name="Picture 44"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sp>
          <p:nvSpPr>
            <p:cNvPr id="48" name="Rectangle 45"/>
            <p:cNvSpPr>
              <a:spLocks noChangeArrowheads="1"/>
            </p:cNvSpPr>
            <p:nvPr/>
          </p:nvSpPr>
          <p:spPr bwMode="gray">
            <a:xfrm>
              <a:off x="2930525" y="2495550"/>
              <a:ext cx="1217000" cy="400110"/>
            </a:xfrm>
            <a:prstGeom prst="rect">
              <a:avLst/>
            </a:prstGeom>
            <a:noFill/>
            <a:ln w="9525">
              <a:noFill/>
              <a:miter lim="800000"/>
              <a:headEnd/>
              <a:tailEnd/>
            </a:ln>
            <a:effectLst/>
          </p:spPr>
          <p:txBody>
            <a:bodyPr wrap="none">
              <a:spAutoFit/>
            </a:bodyPr>
            <a:lstStyle/>
            <a:p>
              <a:pPr algn="ctr">
                <a:buClr>
                  <a:srgbClr val="FF0066"/>
                </a:buClr>
                <a:buSzPct val="75000"/>
                <a:buFont typeface="Arial" charset="0"/>
                <a:buNone/>
              </a:pPr>
              <a:r>
                <a:rPr lang="zh-CN" altLang="en-US" sz="2000" b="1" dirty="0" smtClean="0">
                  <a:solidFill>
                    <a:srgbClr val="080808"/>
                  </a:solidFill>
                </a:rPr>
                <a:t>以客为本</a:t>
              </a:r>
              <a:endParaRPr lang="en-US" sz="2000" b="1" dirty="0">
                <a:solidFill>
                  <a:srgbClr val="080808"/>
                </a:solidFill>
              </a:endParaRPr>
            </a:p>
          </p:txBody>
        </p:sp>
        <p:sp>
          <p:nvSpPr>
            <p:cNvPr id="49" name="Rectangle 46"/>
            <p:cNvSpPr>
              <a:spLocks noChangeArrowheads="1"/>
            </p:cNvSpPr>
            <p:nvPr/>
          </p:nvSpPr>
          <p:spPr bwMode="gray">
            <a:xfrm>
              <a:off x="4827588" y="2495550"/>
              <a:ext cx="1217000" cy="400110"/>
            </a:xfrm>
            <a:prstGeom prst="rect">
              <a:avLst/>
            </a:prstGeom>
            <a:noFill/>
            <a:ln w="9525">
              <a:noFill/>
              <a:miter lim="800000"/>
              <a:headEnd/>
              <a:tailEnd/>
            </a:ln>
            <a:effectLst/>
          </p:spPr>
          <p:txBody>
            <a:bodyPr wrap="none">
              <a:spAutoFit/>
            </a:bodyPr>
            <a:lstStyle/>
            <a:p>
              <a:pPr algn="ctr">
                <a:buClr>
                  <a:srgbClr val="FF0066"/>
                </a:buClr>
                <a:buSzPct val="75000"/>
                <a:buFont typeface="Arial" charset="0"/>
                <a:buNone/>
              </a:pPr>
              <a:r>
                <a:rPr lang="zh-CN" altLang="en-US" sz="2000" b="1" dirty="0" smtClean="0">
                  <a:solidFill>
                    <a:srgbClr val="080808"/>
                  </a:solidFill>
                </a:rPr>
                <a:t>双线互动</a:t>
              </a:r>
              <a:endParaRPr lang="en-US" sz="2000" b="1" dirty="0">
                <a:solidFill>
                  <a:srgbClr val="080808"/>
                </a:solidFill>
              </a:endParaRPr>
            </a:p>
          </p:txBody>
        </p:sp>
      </p:grpSp>
      <p:sp>
        <p:nvSpPr>
          <p:cNvPr id="54" name="Rectangle 53"/>
          <p:cNvSpPr/>
          <p:nvPr/>
        </p:nvSpPr>
        <p:spPr>
          <a:xfrm>
            <a:off x="2226421" y="5357826"/>
            <a:ext cx="4680000" cy="1214446"/>
          </a:xfrm>
          <a:prstGeom prst="rect">
            <a:avLst/>
          </a:prstGeom>
          <a:solidFill>
            <a:schemeClr val="accent1">
              <a:lumMod val="20000"/>
              <a:lumOff val="80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altLang="zh-CN" sz="1600" dirty="0" smtClean="0">
                <a:solidFill>
                  <a:schemeClr val="tx1"/>
                </a:solidFill>
              </a:rPr>
              <a:t>CRM</a:t>
            </a:r>
            <a:r>
              <a:rPr lang="zh-CN" altLang="en-US" sz="1600" dirty="0" smtClean="0">
                <a:solidFill>
                  <a:schemeClr val="tx1"/>
                </a:solidFill>
              </a:rPr>
              <a:t>的核心是</a:t>
            </a:r>
            <a:r>
              <a:rPr lang="zh-CN" altLang="en-US" b="1" dirty="0" smtClean="0">
                <a:solidFill>
                  <a:schemeClr val="tx1"/>
                </a:solidFill>
              </a:rPr>
              <a:t>客户的互动</a:t>
            </a:r>
            <a:r>
              <a:rPr lang="en-US" altLang="zh-CN" b="1" dirty="0" smtClean="0">
                <a:solidFill>
                  <a:schemeClr val="tx1"/>
                </a:solidFill>
              </a:rPr>
              <a:t>(OCRM)</a:t>
            </a:r>
            <a:r>
              <a:rPr lang="zh-CN" altLang="en-US" sz="1600" dirty="0" smtClean="0">
                <a:solidFill>
                  <a:schemeClr val="tx1"/>
                </a:solidFill>
              </a:rPr>
              <a:t>及</a:t>
            </a:r>
            <a:r>
              <a:rPr lang="zh-CN" altLang="en-US" b="1" dirty="0" smtClean="0">
                <a:solidFill>
                  <a:schemeClr val="tx1"/>
                </a:solidFill>
              </a:rPr>
              <a:t>客户信息的收集分析</a:t>
            </a:r>
            <a:r>
              <a:rPr lang="en-US" altLang="zh-CN" b="1" dirty="0" smtClean="0">
                <a:solidFill>
                  <a:schemeClr val="tx1"/>
                </a:solidFill>
              </a:rPr>
              <a:t>(ACRM)</a:t>
            </a:r>
            <a:r>
              <a:rPr lang="zh-CN" altLang="en-US" sz="1600" dirty="0" smtClean="0">
                <a:solidFill>
                  <a:schemeClr val="tx1"/>
                </a:solidFill>
              </a:rPr>
              <a:t>，因此依托旗舰店为平台可以有效的向客户提供产品与服务，产生互动，并且可以收集更加全面的客户信息甚至详细交易信息</a:t>
            </a:r>
            <a:endParaRPr lang="en-US" sz="1600" dirty="0">
              <a:solidFill>
                <a:schemeClr val="tx1"/>
              </a:solidFill>
            </a:endParaRPr>
          </a:p>
        </p:txBody>
      </p:sp>
      <p:sp>
        <p:nvSpPr>
          <p:cNvPr id="55" name="Curved Down Arrow 54"/>
          <p:cNvSpPr/>
          <p:nvPr/>
        </p:nvSpPr>
        <p:spPr>
          <a:xfrm rot="16200000">
            <a:off x="1103604" y="4926950"/>
            <a:ext cx="1512000" cy="576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Curved Down Arrow 55"/>
          <p:cNvSpPr/>
          <p:nvPr/>
        </p:nvSpPr>
        <p:spPr>
          <a:xfrm rot="5400000">
            <a:off x="6528396" y="4926950"/>
            <a:ext cx="1512000" cy="576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p:cNvSpPr/>
          <p:nvPr/>
        </p:nvSpPr>
        <p:spPr>
          <a:xfrm>
            <a:off x="71406" y="4822041"/>
            <a:ext cx="1571636" cy="78581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CRM</a:t>
            </a:r>
            <a:r>
              <a:rPr lang="zh-CN" altLang="en-US" sz="1600" dirty="0" smtClean="0">
                <a:solidFill>
                  <a:schemeClr val="tx1"/>
                </a:solidFill>
              </a:rPr>
              <a:t>活动的载体，产品</a:t>
            </a:r>
            <a:r>
              <a:rPr lang="en-US" altLang="zh-CN" sz="1600" dirty="0" smtClean="0">
                <a:solidFill>
                  <a:schemeClr val="tx1"/>
                </a:solidFill>
              </a:rPr>
              <a:t>/</a:t>
            </a:r>
            <a:r>
              <a:rPr lang="zh-CN" altLang="en-US" sz="1600" dirty="0" smtClean="0">
                <a:solidFill>
                  <a:schemeClr val="tx1"/>
                </a:solidFill>
              </a:rPr>
              <a:t>服务的提供平台</a:t>
            </a:r>
            <a:endParaRPr lang="en-US" sz="1600" dirty="0">
              <a:solidFill>
                <a:schemeClr val="tx1"/>
              </a:solidFill>
            </a:endParaRPr>
          </a:p>
        </p:txBody>
      </p:sp>
      <p:sp>
        <p:nvSpPr>
          <p:cNvPr id="58" name="Rectangle 57"/>
          <p:cNvSpPr/>
          <p:nvPr/>
        </p:nvSpPr>
        <p:spPr>
          <a:xfrm>
            <a:off x="7500958" y="4822041"/>
            <a:ext cx="1571636" cy="78581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solidFill>
                  <a:schemeClr val="tx1"/>
                </a:solidFill>
              </a:rPr>
              <a:t>CRM</a:t>
            </a:r>
            <a:r>
              <a:rPr lang="zh-CN" altLang="en-US" sz="1600" dirty="0" smtClean="0">
                <a:solidFill>
                  <a:schemeClr val="tx1"/>
                </a:solidFill>
              </a:rPr>
              <a:t>客户信息</a:t>
            </a:r>
            <a:r>
              <a:rPr lang="en-US" altLang="zh-CN" sz="1600" dirty="0" smtClean="0">
                <a:solidFill>
                  <a:schemeClr val="tx1"/>
                </a:solidFill>
              </a:rPr>
              <a:t>/</a:t>
            </a:r>
            <a:r>
              <a:rPr lang="zh-CN" altLang="en-US" sz="1600" dirty="0" smtClean="0">
                <a:solidFill>
                  <a:schemeClr val="tx1"/>
                </a:solidFill>
              </a:rPr>
              <a:t>活动分析数据的来源</a:t>
            </a:r>
            <a:endParaRPr lang="en-US" sz="1600" dirty="0">
              <a:solidFill>
                <a:schemeClr val="tx1"/>
              </a:solidFill>
            </a:endParaRPr>
          </a:p>
        </p:txBody>
      </p:sp>
      <p:sp>
        <p:nvSpPr>
          <p:cNvPr id="59" name="Slide Number Placeholder 58"/>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6</a:t>
            </a:fld>
            <a:endParaRPr lang="en-US" altLang="zh-CN" dirty="0">
              <a:solidFill>
                <a:srgbClr val="333333"/>
              </a:solidFill>
            </a:endParaRPr>
          </a:p>
        </p:txBody>
      </p:sp>
      <p:sp>
        <p:nvSpPr>
          <p:cNvPr id="60" name="Rectangle 2"/>
          <p:cNvSpPr txBox="1">
            <a:spLocks noChangeArrowheads="1"/>
          </p:cNvSpPr>
          <p:nvPr/>
        </p:nvSpPr>
        <p:spPr bwMode="gray">
          <a:xfrm>
            <a:off x="642910" y="228600"/>
            <a:ext cx="7929618" cy="487363"/>
          </a:xfrm>
          <a:prstGeom prst="rect">
            <a:avLst/>
          </a:prstGeom>
          <a:noFill/>
          <a:ln w="9525">
            <a:noFill/>
            <a:miter lim="800000"/>
            <a:headEnd/>
            <a:tailEnd/>
          </a:ln>
          <a:effectLst>
            <a:outerShdw dist="35921" dir="2700000" algn="ctr" rotWithShape="0">
              <a:srgbClr val="000000"/>
            </a:outerShdw>
          </a:effectLst>
        </p:spPr>
        <p:txBody>
          <a:bodyPr vert="horz" wrap="square" lIns="91440" tIns="45720" rIns="91440" bIns="45720" numCol="1" anchor="ctr" anchorCtr="0" compatLnSpc="1">
            <a:prstTxWarp prst="textNoShape">
              <a:avLst/>
            </a:prstTxWarp>
          </a:bodyPr>
          <a:lstStyle/>
          <a:p>
            <a:pPr lvl="0" fontAlgn="base">
              <a:spcBef>
                <a:spcPct val="0"/>
              </a:spcBef>
              <a:spcAft>
                <a:spcPct val="0"/>
              </a:spcAft>
            </a:pPr>
            <a:r>
              <a:rPr lang="zh-CN" altLang="en-US" sz="2800" b="1" kern="0" dirty="0" smtClean="0">
                <a:solidFill>
                  <a:srgbClr val="FFFFFF"/>
                </a:solidFill>
                <a:ea typeface="+mj-ea"/>
                <a:cs typeface="+mj-cs"/>
              </a:rPr>
              <a:t>因此我们认为聚芳永官网的</a:t>
            </a:r>
            <a:r>
              <a:rPr lang="en-US" altLang="zh-CN" sz="2800" b="1" kern="0" dirty="0" smtClean="0">
                <a:solidFill>
                  <a:srgbClr val="FFFFFF"/>
                </a:solidFill>
                <a:ea typeface="+mj-ea"/>
                <a:cs typeface="+mj-cs"/>
              </a:rPr>
              <a:t>CRM</a:t>
            </a:r>
            <a:r>
              <a:rPr lang="zh-CN" altLang="en-US" sz="2800" b="1" kern="0" dirty="0" smtClean="0">
                <a:solidFill>
                  <a:srgbClr val="FFFFFF"/>
                </a:solidFill>
                <a:ea typeface="+mj-ea"/>
                <a:cs typeface="+mj-cs"/>
              </a:rPr>
              <a:t>战略应依托旗舰店为活动平台，以客为本、双线互动</a:t>
            </a:r>
            <a:endParaRPr kumimoji="0" lang="en-US" altLang="zh-CN" sz="2800" b="1" i="0" u="none" strike="noStrike" kern="0" cap="none" spc="0" normalizeH="0" baseline="0" noProof="0" dirty="0" smtClean="0">
              <a:ln>
                <a:noFill/>
              </a:ln>
              <a:solidFill>
                <a:schemeClr val="bg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857356" y="2752756"/>
          <a:ext cx="4419572" cy="331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11" name="Group 110"/>
          <p:cNvGrpSpPr/>
          <p:nvPr/>
        </p:nvGrpSpPr>
        <p:grpSpPr>
          <a:xfrm>
            <a:off x="71406" y="1000108"/>
            <a:ext cx="943398" cy="752374"/>
            <a:chOff x="8072462" y="1000108"/>
            <a:chExt cx="943398" cy="752374"/>
          </a:xfrm>
        </p:grpSpPr>
        <p:grpSp>
          <p:nvGrpSpPr>
            <p:cNvPr id="112" name="Group 33"/>
            <p:cNvGrpSpPr>
              <a:grpSpLocks/>
            </p:cNvGrpSpPr>
            <p:nvPr/>
          </p:nvGrpSpPr>
          <p:grpSpPr bwMode="auto">
            <a:xfrm>
              <a:off x="8072462" y="1000108"/>
              <a:ext cx="943397" cy="752374"/>
              <a:chOff x="192" y="1917"/>
              <a:chExt cx="1042" cy="1102"/>
            </a:xfrm>
          </p:grpSpPr>
          <p:grpSp>
            <p:nvGrpSpPr>
              <p:cNvPr id="114" name="Group 34"/>
              <p:cNvGrpSpPr>
                <a:grpSpLocks/>
              </p:cNvGrpSpPr>
              <p:nvPr/>
            </p:nvGrpSpPr>
            <p:grpSpPr bwMode="auto">
              <a:xfrm>
                <a:off x="192" y="1917"/>
                <a:ext cx="1042" cy="1102"/>
                <a:chOff x="192" y="1917"/>
                <a:chExt cx="1042" cy="1102"/>
              </a:xfrm>
            </p:grpSpPr>
            <p:pic>
              <p:nvPicPr>
                <p:cNvPr id="116" name="Picture 35" descr="light_shadow"/>
                <p:cNvPicPr>
                  <a:picLocks noChangeAspect="1" noChangeArrowheads="1"/>
                </p:cNvPicPr>
                <p:nvPr/>
              </p:nvPicPr>
              <p:blipFill>
                <a:blip r:embed="rId7" cstate="print">
                  <a:lum bright="-78000" contrast="-78000"/>
                </a:blip>
                <a:srcRect/>
                <a:stretch>
                  <a:fillRect/>
                </a:stretch>
              </p:blipFill>
              <p:spPr bwMode="gray">
                <a:xfrm>
                  <a:off x="291" y="2781"/>
                  <a:ext cx="858" cy="238"/>
                </a:xfrm>
                <a:prstGeom prst="rect">
                  <a:avLst/>
                </a:prstGeom>
                <a:noFill/>
              </p:spPr>
            </p:pic>
            <p:pic>
              <p:nvPicPr>
                <p:cNvPr id="117" name="Picture 36" descr="circuler_1"/>
                <p:cNvPicPr>
                  <a:picLocks noChangeAspect="1" noChangeArrowheads="1"/>
                </p:cNvPicPr>
                <p:nvPr/>
              </p:nvPicPr>
              <p:blipFill>
                <a:blip r:embed="rId8" cstate="print"/>
                <a:srcRect/>
                <a:stretch>
                  <a:fillRect/>
                </a:stretch>
              </p:blipFill>
              <p:spPr bwMode="gray">
                <a:xfrm>
                  <a:off x="192" y="1917"/>
                  <a:ext cx="1042" cy="1016"/>
                </a:xfrm>
                <a:prstGeom prst="rect">
                  <a:avLst/>
                </a:prstGeom>
                <a:noFill/>
              </p:spPr>
            </p:pic>
            <p:sp>
              <p:nvSpPr>
                <p:cNvPr id="118" name="Oval 37"/>
                <p:cNvSpPr>
                  <a:spLocks noChangeArrowheads="1"/>
                </p:cNvSpPr>
                <p:nvPr/>
              </p:nvSpPr>
              <p:spPr bwMode="gray">
                <a:xfrm>
                  <a:off x="192" y="1917"/>
                  <a:ext cx="1035" cy="1019"/>
                </a:xfrm>
                <a:prstGeom prst="ellipse">
                  <a:avLst/>
                </a:prstGeom>
                <a:gradFill rotWithShape="1">
                  <a:gsLst>
                    <a:gs pos="0">
                      <a:srgbClr val="6FF775">
                        <a:gamma/>
                        <a:shade val="46275"/>
                        <a:invGamma/>
                        <a:alpha val="89999"/>
                      </a:srgbClr>
                    </a:gs>
                    <a:gs pos="50000">
                      <a:srgbClr val="6FF775">
                        <a:alpha val="55000"/>
                      </a:srgbClr>
                    </a:gs>
                    <a:gs pos="100000">
                      <a:srgbClr val="6FF775">
                        <a:gamma/>
                        <a:shade val="46275"/>
                        <a:invGamma/>
                        <a:alpha val="89999"/>
                      </a:srgbClr>
                    </a:gs>
                  </a:gsLst>
                  <a:lin ang="5400000" scaled="1"/>
                </a:gradFill>
                <a:ln w="9525" algn="ctr">
                  <a:noFill/>
                  <a:round/>
                  <a:headEnd/>
                  <a:tailEnd/>
                </a:ln>
                <a:effectLst/>
              </p:spPr>
              <p:txBody>
                <a:bodyPr wrap="none" anchor="ctr"/>
                <a:lstStyle/>
                <a:p>
                  <a:endParaRPr lang="en-US" sz="1050"/>
                </a:p>
              </p:txBody>
            </p:sp>
          </p:grpSp>
          <p:pic>
            <p:nvPicPr>
              <p:cNvPr id="115" name="Picture 38" descr="Picture2"/>
              <p:cNvPicPr>
                <a:picLocks noChangeAspect="1" noChangeArrowheads="1"/>
              </p:cNvPicPr>
              <p:nvPr/>
            </p:nvPicPr>
            <p:blipFill>
              <a:blip r:embed="rId9"/>
              <a:srcRect/>
              <a:stretch>
                <a:fillRect/>
              </a:stretch>
            </p:blipFill>
            <p:spPr bwMode="gray">
              <a:xfrm>
                <a:off x="296" y="1927"/>
                <a:ext cx="823" cy="360"/>
              </a:xfrm>
              <a:prstGeom prst="rect">
                <a:avLst/>
              </a:prstGeom>
              <a:noFill/>
            </p:spPr>
          </p:pic>
        </p:grpSp>
        <p:sp>
          <p:nvSpPr>
            <p:cNvPr id="113" name="Rectangle 45"/>
            <p:cNvSpPr>
              <a:spLocks noChangeArrowheads="1"/>
            </p:cNvSpPr>
            <p:nvPr/>
          </p:nvSpPr>
          <p:spPr bwMode="gray">
            <a:xfrm>
              <a:off x="8179293" y="1226690"/>
              <a:ext cx="748923" cy="261609"/>
            </a:xfrm>
            <a:prstGeom prst="rect">
              <a:avLst/>
            </a:prstGeom>
            <a:noFill/>
            <a:ln w="9525">
              <a:noFill/>
              <a:miter lim="800000"/>
              <a:headEnd/>
              <a:tailEnd/>
            </a:ln>
            <a:effectLst/>
          </p:spPr>
          <p:txBody>
            <a:bodyPr wrap="none">
              <a:spAutoFit/>
            </a:bodyPr>
            <a:lstStyle/>
            <a:p>
              <a:pPr algn="ctr">
                <a:buClr>
                  <a:srgbClr val="FF0066"/>
                </a:buClr>
                <a:buSzPct val="75000"/>
                <a:buFont typeface="Arial" charset="0"/>
                <a:buNone/>
              </a:pPr>
              <a:r>
                <a:rPr lang="zh-CN" altLang="en-US" sz="1100" b="1" dirty="0" smtClean="0">
                  <a:solidFill>
                    <a:srgbClr val="080808"/>
                  </a:solidFill>
                </a:rPr>
                <a:t>以客为本</a:t>
              </a:r>
              <a:endParaRPr lang="en-US" sz="1100" b="1" dirty="0">
                <a:solidFill>
                  <a:srgbClr val="080808"/>
                </a:solidFill>
              </a:endParaRPr>
            </a:p>
          </p:txBody>
        </p:sp>
      </p:grpSp>
      <p:sp>
        <p:nvSpPr>
          <p:cNvPr id="119" name="Rectangle 118"/>
          <p:cNvSpPr/>
          <p:nvPr/>
        </p:nvSpPr>
        <p:spPr>
          <a:xfrm>
            <a:off x="1857356" y="1142984"/>
            <a:ext cx="5857916" cy="785818"/>
          </a:xfrm>
          <a:prstGeom prst="rect">
            <a:avLst/>
          </a:prstGeom>
          <a:solidFill>
            <a:schemeClr val="accent1">
              <a:lumMod val="20000"/>
              <a:lumOff val="80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r>
              <a:rPr lang="zh-CN" altLang="en-US" sz="1600" b="1" dirty="0" smtClean="0">
                <a:solidFill>
                  <a:schemeClr val="tx1"/>
                </a:solidFill>
              </a:rPr>
              <a:t>以客为本即以客户为中心，所有的</a:t>
            </a:r>
            <a:r>
              <a:rPr lang="en-US" altLang="zh-CN" sz="1600" b="1" dirty="0" smtClean="0">
                <a:solidFill>
                  <a:schemeClr val="tx1"/>
                </a:solidFill>
              </a:rPr>
              <a:t>CRM</a:t>
            </a:r>
            <a:r>
              <a:rPr lang="zh-CN" altLang="en-US" sz="1600" b="1" dirty="0" smtClean="0">
                <a:solidFill>
                  <a:schemeClr val="tx1"/>
                </a:solidFill>
              </a:rPr>
              <a:t>运作应该始终关注于：客户识别、客户保留、客户获取三个方面</a:t>
            </a:r>
            <a:endParaRPr lang="en-US" sz="1600" b="1" dirty="0">
              <a:solidFill>
                <a:schemeClr val="tx1"/>
              </a:solidFill>
            </a:endParaRPr>
          </a:p>
        </p:txBody>
      </p:sp>
      <p:sp>
        <p:nvSpPr>
          <p:cNvPr id="120" name="Slide Number Placeholder 119"/>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7</a:t>
            </a:fld>
            <a:endParaRPr lang="en-US" altLang="zh-CN" dirty="0">
              <a:solidFill>
                <a:srgbClr val="333333"/>
              </a:solidFill>
            </a:endParaRPr>
          </a:p>
        </p:txBody>
      </p:sp>
      <p:sp>
        <p:nvSpPr>
          <p:cNvPr id="121" name="Rectangle 2"/>
          <p:cNvSpPr txBox="1">
            <a:spLocks noChangeArrowheads="1"/>
          </p:cNvSpPr>
          <p:nvPr/>
        </p:nvSpPr>
        <p:spPr bwMode="gray">
          <a:xfrm>
            <a:off x="642910" y="228600"/>
            <a:ext cx="7929618" cy="487363"/>
          </a:xfrm>
          <a:prstGeom prst="rect">
            <a:avLst/>
          </a:prstGeom>
          <a:noFill/>
          <a:ln w="9525">
            <a:noFill/>
            <a:miter lim="800000"/>
            <a:headEnd/>
            <a:tailEnd/>
          </a:ln>
          <a:effectLst>
            <a:outerShdw dist="35921" dir="2700000" algn="ctr" rotWithShape="0">
              <a:srgbClr val="000000"/>
            </a:outerShdw>
          </a:effectLst>
        </p:spPr>
        <p:txBody>
          <a:bodyPr vert="horz" wrap="square" lIns="91440" tIns="45720" rIns="91440" bIns="45720" numCol="1" anchor="ctr" anchorCtr="0" compatLnSpc="1">
            <a:prstTxWarp prst="textNoShape">
              <a:avLst/>
            </a:prstTxWarp>
          </a:bodyPr>
          <a:lstStyle/>
          <a:p>
            <a:pPr lvl="0" fontAlgn="base">
              <a:spcBef>
                <a:spcPct val="0"/>
              </a:spcBef>
              <a:spcAft>
                <a:spcPct val="0"/>
              </a:spcAft>
            </a:pPr>
            <a:r>
              <a:rPr lang="zh-CN" altLang="en-US" sz="2800" b="1" kern="0" dirty="0" smtClean="0">
                <a:solidFill>
                  <a:srgbClr val="FFFFFF"/>
                </a:solidFill>
                <a:ea typeface="+mj-ea"/>
                <a:cs typeface="+mj-cs"/>
              </a:rPr>
              <a:t>所谓以客为本即所有的</a:t>
            </a:r>
            <a:r>
              <a:rPr lang="en-US" altLang="zh-CN" sz="2800" b="1" kern="0" dirty="0" smtClean="0">
                <a:solidFill>
                  <a:srgbClr val="FFFFFF"/>
                </a:solidFill>
                <a:ea typeface="+mj-ea"/>
                <a:cs typeface="+mj-cs"/>
              </a:rPr>
              <a:t>CRM</a:t>
            </a:r>
            <a:r>
              <a:rPr lang="zh-CN" altLang="en-US" sz="2800" b="1" kern="0" dirty="0" smtClean="0">
                <a:solidFill>
                  <a:srgbClr val="FFFFFF"/>
                </a:solidFill>
                <a:ea typeface="+mj-ea"/>
                <a:cs typeface="+mj-cs"/>
              </a:rPr>
              <a:t>运作应以客户为中心</a:t>
            </a:r>
            <a:endParaRPr kumimoji="0" lang="en-US" altLang="zh-CN" sz="2800" b="1" i="0" u="none" strike="noStrike" kern="0" cap="none" spc="0" normalizeH="0" baseline="0" noProof="0" dirty="0" smtClean="0">
              <a:ln>
                <a:noFill/>
              </a:ln>
              <a:solidFill>
                <a:schemeClr val="bg1"/>
              </a:solidFill>
              <a:effectLst/>
              <a:uLnTx/>
              <a:uFillTx/>
              <a:latin typeface="+mj-lt"/>
              <a:ea typeface="+mj-ea"/>
              <a:cs typeface="+mj-cs"/>
            </a:endParaRPr>
          </a:p>
        </p:txBody>
      </p:sp>
      <p:sp>
        <p:nvSpPr>
          <p:cNvPr id="124" name="Line Callout 2 123"/>
          <p:cNvSpPr/>
          <p:nvPr/>
        </p:nvSpPr>
        <p:spPr>
          <a:xfrm>
            <a:off x="6000760" y="2538442"/>
            <a:ext cx="2143140" cy="1143008"/>
          </a:xfrm>
          <a:prstGeom prst="borderCallout2">
            <a:avLst>
              <a:gd name="adj1" fmla="val 18750"/>
              <a:gd name="adj2" fmla="val -8333"/>
              <a:gd name="adj3" fmla="val 18750"/>
              <a:gd name="adj4" fmla="val -16667"/>
              <a:gd name="adj5" fmla="val 66786"/>
              <a:gd name="adj6" fmla="val -45695"/>
            </a:avLst>
          </a:prstGeom>
          <a:solidFill>
            <a:schemeClr val="bg1">
              <a:lumMod val="95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r>
              <a:rPr lang="zh-CN" altLang="en-US" sz="1600" b="1" dirty="0" smtClean="0">
                <a:solidFill>
                  <a:schemeClr val="tx1"/>
                </a:solidFill>
              </a:rPr>
              <a:t>识别哪些属于聚芳永的用户或者潜在用户，识别某类产品或者活动的针对性客户群</a:t>
            </a:r>
            <a:endParaRPr lang="en-US" altLang="en-US" sz="1600" b="1" dirty="0" smtClean="0">
              <a:solidFill>
                <a:schemeClr val="tx1"/>
              </a:solidFill>
            </a:endParaRPr>
          </a:p>
        </p:txBody>
      </p:sp>
      <p:sp>
        <p:nvSpPr>
          <p:cNvPr id="125" name="Line Callout 2 124"/>
          <p:cNvSpPr/>
          <p:nvPr/>
        </p:nvSpPr>
        <p:spPr>
          <a:xfrm>
            <a:off x="6643702" y="4538706"/>
            <a:ext cx="2143140" cy="1143008"/>
          </a:xfrm>
          <a:prstGeom prst="borderCallout2">
            <a:avLst>
              <a:gd name="adj1" fmla="val 18750"/>
              <a:gd name="adj2" fmla="val -8333"/>
              <a:gd name="adj3" fmla="val 18750"/>
              <a:gd name="adj4" fmla="val -16667"/>
              <a:gd name="adj5" fmla="val 56396"/>
              <a:gd name="adj6" fmla="val -32951"/>
            </a:avLst>
          </a:prstGeom>
          <a:solidFill>
            <a:schemeClr val="bg1">
              <a:lumMod val="95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r>
              <a:rPr lang="zh-CN" altLang="en-US" sz="1600" b="1" dirty="0" smtClean="0">
                <a:solidFill>
                  <a:schemeClr val="tx1"/>
                </a:solidFill>
              </a:rPr>
              <a:t>获取更多的潜在客户信息；将更多的潜在客户转化成聚芳永的客户</a:t>
            </a:r>
            <a:endParaRPr lang="en-US" altLang="en-US" sz="1600" b="1" dirty="0" smtClean="0">
              <a:solidFill>
                <a:schemeClr val="tx1"/>
              </a:solidFill>
            </a:endParaRPr>
          </a:p>
        </p:txBody>
      </p:sp>
      <p:sp>
        <p:nvSpPr>
          <p:cNvPr id="126" name="Line Callout 2 125"/>
          <p:cNvSpPr/>
          <p:nvPr/>
        </p:nvSpPr>
        <p:spPr>
          <a:xfrm>
            <a:off x="214282" y="2681318"/>
            <a:ext cx="2143140" cy="1143008"/>
          </a:xfrm>
          <a:prstGeom prst="borderCallout2">
            <a:avLst>
              <a:gd name="adj1" fmla="val 110178"/>
              <a:gd name="adj2" fmla="val 39320"/>
              <a:gd name="adj3" fmla="val 191217"/>
              <a:gd name="adj4" fmla="val 73654"/>
              <a:gd name="adj5" fmla="val 191460"/>
              <a:gd name="adj6" fmla="val 96156"/>
            </a:avLst>
          </a:prstGeom>
          <a:solidFill>
            <a:schemeClr val="bg1">
              <a:lumMod val="95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36000" rIns="108000" bIns="36000" rtlCol="0" anchor="ctr"/>
          <a:lstStyle/>
          <a:p>
            <a:r>
              <a:rPr lang="zh-CN" altLang="en-US" sz="1600" b="1" dirty="0" smtClean="0">
                <a:solidFill>
                  <a:schemeClr val="tx1"/>
                </a:solidFill>
              </a:rPr>
              <a:t>确保现有的客户持续购买</a:t>
            </a:r>
            <a:r>
              <a:rPr lang="zh-CN" altLang="en-US" sz="1600" b="1" dirty="0">
                <a:solidFill>
                  <a:schemeClr val="tx1"/>
                </a:solidFill>
              </a:rPr>
              <a:t>聚芳永</a:t>
            </a:r>
            <a:r>
              <a:rPr lang="zh-CN" altLang="en-US" sz="1600" b="1" dirty="0" smtClean="0">
                <a:solidFill>
                  <a:schemeClr val="tx1"/>
                </a:solidFill>
              </a:rPr>
              <a:t>的产品；不断提升单客户价值</a:t>
            </a:r>
            <a:endParaRPr lang="en-US" altLang="en-US" sz="1600" b="1" dirty="0" smtClean="0">
              <a:solidFill>
                <a:schemeClr val="tx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37"/>
          <p:cNvSpPr/>
          <p:nvPr/>
        </p:nvSpPr>
        <p:spPr>
          <a:xfrm>
            <a:off x="1259927" y="1928802"/>
            <a:ext cx="1800000" cy="4320000"/>
          </a:xfrm>
          <a:prstGeom prst="roundRect">
            <a:avLst/>
          </a:prstGeom>
          <a:gradFill>
            <a:gsLst>
              <a:gs pos="0">
                <a:schemeClr val="bg1">
                  <a:lumMod val="95000"/>
                </a:schemeClr>
              </a:gs>
              <a:gs pos="35000">
                <a:schemeClr val="bg1">
                  <a:lumMod val="85000"/>
                </a:schemeClr>
              </a:gs>
              <a:gs pos="100000">
                <a:schemeClr val="bg1">
                  <a:lumMod val="75000"/>
                </a:schemeClr>
              </a:gs>
            </a:gsLst>
            <a:lin ang="5400000" scaled="1"/>
          </a:gra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6272462" y="1928802"/>
            <a:ext cx="1800000" cy="4320000"/>
          </a:xfrm>
          <a:prstGeom prst="roundRect">
            <a:avLst/>
          </a:prstGeom>
          <a:gradFill>
            <a:gsLst>
              <a:gs pos="0">
                <a:schemeClr val="bg1">
                  <a:lumMod val="95000"/>
                </a:schemeClr>
              </a:gs>
              <a:gs pos="35000">
                <a:schemeClr val="bg1">
                  <a:lumMod val="85000"/>
                </a:schemeClr>
              </a:gs>
              <a:gs pos="100000">
                <a:schemeClr val="bg1">
                  <a:lumMod val="75000"/>
                </a:schemeClr>
              </a:gs>
            </a:gsLst>
            <a:lin ang="5400000" scaled="1"/>
          </a:gra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010384" y="3786190"/>
            <a:ext cx="1428760" cy="857256"/>
          </a:xfrm>
          <a:prstGeom prst="ellipse">
            <a:avLst/>
          </a:prstGeom>
          <a:gradFill flip="none" rotWithShape="1">
            <a:gsLst>
              <a:gs pos="0">
                <a:schemeClr val="accent1">
                  <a:lumMod val="40000"/>
                  <a:lumOff val="60000"/>
                </a:schemeClr>
              </a:gs>
              <a:gs pos="50000">
                <a:schemeClr val="accent1">
                  <a:lumMod val="20000"/>
                  <a:lumOff val="80000"/>
                </a:schemeClr>
              </a:gs>
              <a:gs pos="100000">
                <a:schemeClr val="accent1">
                  <a:lumMod val="40000"/>
                  <a:lumOff val="60000"/>
                </a:schemeClr>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客户</a:t>
            </a:r>
            <a:endParaRPr lang="en-US" b="1" dirty="0">
              <a:solidFill>
                <a:schemeClr val="tx1"/>
              </a:solidFill>
            </a:endParaRPr>
          </a:p>
        </p:txBody>
      </p:sp>
      <p:sp>
        <p:nvSpPr>
          <p:cNvPr id="7" name="Rectangle 6"/>
          <p:cNvSpPr/>
          <p:nvPr/>
        </p:nvSpPr>
        <p:spPr>
          <a:xfrm>
            <a:off x="1510054" y="2464587"/>
            <a:ext cx="1285884" cy="785818"/>
          </a:xfrm>
          <a:prstGeom prst="rect">
            <a:avLst/>
          </a:prstGeom>
          <a:gradFill flip="none" rotWithShape="1">
            <a:gsLst>
              <a:gs pos="0">
                <a:srgbClr val="009999"/>
              </a:gs>
              <a:gs pos="50000">
                <a:srgbClr val="33CCCC"/>
              </a:gs>
              <a:gs pos="100000">
                <a:srgbClr val="009999"/>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客服中心</a:t>
            </a:r>
            <a:endParaRPr lang="en-US" altLang="en-US" b="1" dirty="0" smtClean="0">
              <a:solidFill>
                <a:schemeClr val="tx1"/>
              </a:solidFill>
            </a:endParaRPr>
          </a:p>
        </p:txBody>
      </p:sp>
      <p:sp>
        <p:nvSpPr>
          <p:cNvPr id="8" name="Rectangle 7"/>
          <p:cNvSpPr/>
          <p:nvPr/>
        </p:nvSpPr>
        <p:spPr>
          <a:xfrm>
            <a:off x="1510054" y="5214950"/>
            <a:ext cx="1285884" cy="785818"/>
          </a:xfrm>
          <a:prstGeom prst="rect">
            <a:avLst/>
          </a:prstGeom>
          <a:gradFill flip="none" rotWithShape="1">
            <a:gsLst>
              <a:gs pos="0">
                <a:srgbClr val="009999"/>
              </a:gs>
              <a:gs pos="50000">
                <a:srgbClr val="33CCCC"/>
              </a:gs>
              <a:gs pos="100000">
                <a:srgbClr val="009999"/>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聚芳永</a:t>
            </a:r>
            <a:endParaRPr lang="en-US" altLang="zh-CN" b="1" dirty="0" smtClean="0">
              <a:solidFill>
                <a:schemeClr val="tx1"/>
              </a:solidFill>
            </a:endParaRPr>
          </a:p>
          <a:p>
            <a:pPr algn="ctr"/>
            <a:r>
              <a:rPr lang="zh-CN" altLang="en-US" b="1" dirty="0" smtClean="0">
                <a:solidFill>
                  <a:schemeClr val="tx1"/>
                </a:solidFill>
              </a:rPr>
              <a:t>旗舰店</a:t>
            </a:r>
            <a:endParaRPr lang="en-US" altLang="en-US" b="1" dirty="0" smtClean="0">
              <a:solidFill>
                <a:schemeClr val="tx1"/>
              </a:solidFill>
            </a:endParaRPr>
          </a:p>
        </p:txBody>
      </p:sp>
      <p:sp>
        <p:nvSpPr>
          <p:cNvPr id="9" name="Rectangle 8"/>
          <p:cNvSpPr/>
          <p:nvPr/>
        </p:nvSpPr>
        <p:spPr>
          <a:xfrm>
            <a:off x="6540200" y="5207825"/>
            <a:ext cx="1285884" cy="785818"/>
          </a:xfrm>
          <a:prstGeom prst="rect">
            <a:avLst/>
          </a:prstGeom>
          <a:gradFill flip="none" rotWithShape="1">
            <a:gsLst>
              <a:gs pos="0">
                <a:srgbClr val="009999"/>
              </a:gs>
              <a:gs pos="50000">
                <a:srgbClr val="33CCCC"/>
              </a:gs>
              <a:gs pos="100000">
                <a:srgbClr val="009999"/>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专卖店</a:t>
            </a:r>
            <a:endParaRPr lang="en-US" altLang="en-US" b="1" dirty="0" smtClean="0">
              <a:solidFill>
                <a:schemeClr val="tx1"/>
              </a:solidFill>
            </a:endParaRPr>
          </a:p>
        </p:txBody>
      </p:sp>
      <p:sp>
        <p:nvSpPr>
          <p:cNvPr id="10" name="Rectangle 9"/>
          <p:cNvSpPr/>
          <p:nvPr/>
        </p:nvSpPr>
        <p:spPr>
          <a:xfrm>
            <a:off x="6510714" y="2464587"/>
            <a:ext cx="1285884" cy="785818"/>
          </a:xfrm>
          <a:prstGeom prst="rect">
            <a:avLst/>
          </a:prstGeom>
          <a:gradFill flip="none" rotWithShape="1">
            <a:gsLst>
              <a:gs pos="0">
                <a:srgbClr val="009999"/>
              </a:gs>
              <a:gs pos="50000">
                <a:srgbClr val="33CCCC"/>
              </a:gs>
              <a:gs pos="100000">
                <a:srgbClr val="009999"/>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品牌活动</a:t>
            </a:r>
            <a:endParaRPr lang="en-US" altLang="en-US" b="1" dirty="0" smtClean="0">
              <a:solidFill>
                <a:schemeClr val="tx1"/>
              </a:solidFill>
            </a:endParaRPr>
          </a:p>
        </p:txBody>
      </p:sp>
      <p:sp>
        <p:nvSpPr>
          <p:cNvPr id="12" name="Oval 11"/>
          <p:cNvSpPr/>
          <p:nvPr/>
        </p:nvSpPr>
        <p:spPr>
          <a:xfrm>
            <a:off x="3938946" y="1643050"/>
            <a:ext cx="1428760" cy="857256"/>
          </a:xfrm>
          <a:prstGeom prst="ellipse">
            <a:avLst/>
          </a:prstGeom>
          <a:gradFill flip="none" rotWithShape="1">
            <a:gsLst>
              <a:gs pos="0">
                <a:schemeClr val="accent1">
                  <a:lumMod val="40000"/>
                  <a:lumOff val="60000"/>
                </a:schemeClr>
              </a:gs>
              <a:gs pos="50000">
                <a:schemeClr val="accent1">
                  <a:lumMod val="20000"/>
                  <a:lumOff val="80000"/>
                </a:schemeClr>
              </a:gs>
              <a:gs pos="100000">
                <a:schemeClr val="accent1">
                  <a:lumMod val="40000"/>
                  <a:lumOff val="60000"/>
                </a:schemeClr>
              </a:gs>
            </a:gsLst>
            <a:lin ang="5400000" scaled="1"/>
            <a:tileRect/>
          </a:gradFill>
          <a:ln w="12700">
            <a:solidFill>
              <a:schemeClr val="accent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tx1"/>
                </a:solidFill>
              </a:rPr>
              <a:t>CRM</a:t>
            </a:r>
          </a:p>
          <a:p>
            <a:pPr algn="ctr"/>
            <a:r>
              <a:rPr lang="zh-CN" altLang="en-US" b="1" dirty="0" smtClean="0">
                <a:solidFill>
                  <a:schemeClr val="tx1"/>
                </a:solidFill>
              </a:rPr>
              <a:t>系统</a:t>
            </a:r>
            <a:endParaRPr lang="en-US" b="1" dirty="0">
              <a:solidFill>
                <a:schemeClr val="tx1"/>
              </a:solidFill>
            </a:endParaRPr>
          </a:p>
        </p:txBody>
      </p:sp>
      <p:sp>
        <p:nvSpPr>
          <p:cNvPr id="15" name="Rectangle 14"/>
          <p:cNvSpPr/>
          <p:nvPr/>
        </p:nvSpPr>
        <p:spPr>
          <a:xfrm>
            <a:off x="6712965" y="1997430"/>
            <a:ext cx="864000" cy="36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线下</a:t>
            </a:r>
            <a:endParaRPr lang="en-US" b="1" dirty="0">
              <a:solidFill>
                <a:schemeClr val="tx1"/>
              </a:solidFill>
            </a:endParaRPr>
          </a:p>
        </p:txBody>
      </p:sp>
      <p:sp>
        <p:nvSpPr>
          <p:cNvPr id="16" name="Rectangle 15"/>
          <p:cNvSpPr/>
          <p:nvPr/>
        </p:nvSpPr>
        <p:spPr>
          <a:xfrm>
            <a:off x="1712305" y="1997430"/>
            <a:ext cx="864000" cy="360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solidFill>
              </a:rPr>
              <a:t>线上</a:t>
            </a:r>
            <a:endParaRPr lang="en-US" b="1" dirty="0">
              <a:solidFill>
                <a:schemeClr val="tx1"/>
              </a:solidFill>
            </a:endParaRPr>
          </a:p>
        </p:txBody>
      </p:sp>
      <p:cxnSp>
        <p:nvCxnSpPr>
          <p:cNvPr id="17" name="Straight Arrow Connector 16"/>
          <p:cNvCxnSpPr/>
          <p:nvPr/>
        </p:nvCxnSpPr>
        <p:spPr>
          <a:xfrm>
            <a:off x="5439144" y="4143380"/>
            <a:ext cx="792000" cy="1588"/>
          </a:xfrm>
          <a:prstGeom prst="straightConnector1">
            <a:avLst/>
          </a:prstGeom>
          <a:ln w="12700">
            <a:solidFill>
              <a:schemeClr val="accent1"/>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439144" y="3750377"/>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获取</a:t>
            </a:r>
            <a:r>
              <a:rPr lang="en-US" altLang="zh-CN" sz="1200" dirty="0" smtClean="0">
                <a:solidFill>
                  <a:schemeClr val="tx1"/>
                </a:solidFill>
              </a:rPr>
              <a:t>/</a:t>
            </a:r>
            <a:r>
              <a:rPr lang="zh-CN" altLang="en-US" sz="1200" dirty="0" smtClean="0">
                <a:solidFill>
                  <a:schemeClr val="tx1"/>
                </a:solidFill>
              </a:rPr>
              <a:t>兑换产品</a:t>
            </a:r>
            <a:r>
              <a:rPr lang="en-US" altLang="zh-CN" sz="1200" dirty="0" smtClean="0">
                <a:solidFill>
                  <a:schemeClr val="tx1"/>
                </a:solidFill>
              </a:rPr>
              <a:t>/</a:t>
            </a:r>
            <a:r>
              <a:rPr lang="zh-CN" altLang="en-US" sz="1200" dirty="0" smtClean="0">
                <a:solidFill>
                  <a:schemeClr val="tx1"/>
                </a:solidFill>
              </a:rPr>
              <a:t>服务</a:t>
            </a:r>
            <a:endParaRPr lang="en-US" sz="1200" dirty="0">
              <a:solidFill>
                <a:schemeClr val="tx1"/>
              </a:solidFill>
            </a:endParaRPr>
          </a:p>
        </p:txBody>
      </p:sp>
      <p:cxnSp>
        <p:nvCxnSpPr>
          <p:cNvPr id="26" name="Shape 25"/>
          <p:cNvCxnSpPr>
            <a:stCxn id="12" idx="5"/>
          </p:cNvCxnSpPr>
          <p:nvPr/>
        </p:nvCxnSpPr>
        <p:spPr>
          <a:xfrm rot="16200000" flipH="1">
            <a:off x="5450348" y="2082884"/>
            <a:ext cx="482734" cy="1066493"/>
          </a:xfrm>
          <a:prstGeom prst="curvedConnector2">
            <a:avLst/>
          </a:prstGeom>
          <a:ln>
            <a:prstDash val="dash"/>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Shape 26"/>
          <p:cNvCxnSpPr>
            <a:stCxn id="12" idx="3"/>
          </p:cNvCxnSpPr>
          <p:nvPr/>
        </p:nvCxnSpPr>
        <p:spPr>
          <a:xfrm rot="5400000">
            <a:off x="3373571" y="2082884"/>
            <a:ext cx="482732" cy="1066493"/>
          </a:xfrm>
          <a:prstGeom prst="curvedConnector2">
            <a:avLst/>
          </a:prstGeom>
          <a:ln>
            <a:prstDash val="dash"/>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224698" y="2571744"/>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rPr>
              <a:t>提供目标客户清单</a:t>
            </a:r>
            <a:endParaRPr lang="en-US" sz="1200" b="1" dirty="0">
              <a:solidFill>
                <a:schemeClr val="tx1"/>
              </a:solidFill>
            </a:endParaRPr>
          </a:p>
        </p:txBody>
      </p:sp>
      <p:cxnSp>
        <p:nvCxnSpPr>
          <p:cNvPr id="31" name="Shape 30"/>
          <p:cNvCxnSpPr>
            <a:stCxn id="34" idx="3"/>
            <a:endCxn id="12" idx="7"/>
          </p:cNvCxnSpPr>
          <p:nvPr/>
        </p:nvCxnSpPr>
        <p:spPr>
          <a:xfrm flipH="1" flipV="1">
            <a:off x="5158469" y="1768592"/>
            <a:ext cx="2913993" cy="2320210"/>
          </a:xfrm>
          <a:prstGeom prst="curvedConnector4">
            <a:avLst>
              <a:gd name="adj1" fmla="val -16403"/>
              <a:gd name="adj2" fmla="val 115263"/>
            </a:avLst>
          </a:prstGeom>
          <a:ln>
            <a:prstDash val="dash"/>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0" name="Shape 39"/>
          <p:cNvCxnSpPr>
            <a:stCxn id="38" idx="1"/>
            <a:endCxn id="12" idx="1"/>
          </p:cNvCxnSpPr>
          <p:nvPr/>
        </p:nvCxnSpPr>
        <p:spPr>
          <a:xfrm rot="10800000" flipH="1">
            <a:off x="1259927" y="1768592"/>
            <a:ext cx="2888256" cy="2320210"/>
          </a:xfrm>
          <a:prstGeom prst="curvedConnector4">
            <a:avLst>
              <a:gd name="adj1" fmla="val -17372"/>
              <a:gd name="adj2" fmla="val 115263"/>
            </a:avLst>
          </a:prstGeom>
          <a:ln>
            <a:prstDash val="dash"/>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4224698" y="1214422"/>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chemeClr val="tx1"/>
                </a:solidFill>
              </a:rPr>
              <a:t>收集更新客户信息</a:t>
            </a:r>
            <a:endParaRPr lang="en-US" sz="1200" b="1" dirty="0">
              <a:solidFill>
                <a:schemeClr val="tx1"/>
              </a:solidFill>
            </a:endParaRPr>
          </a:p>
        </p:txBody>
      </p:sp>
      <p:cxnSp>
        <p:nvCxnSpPr>
          <p:cNvPr id="44" name="Straight Arrow Connector 43"/>
          <p:cNvCxnSpPr/>
          <p:nvPr/>
        </p:nvCxnSpPr>
        <p:spPr>
          <a:xfrm>
            <a:off x="5439144" y="4295780"/>
            <a:ext cx="792000" cy="1588"/>
          </a:xfrm>
          <a:prstGeom prst="straightConnector1">
            <a:avLst/>
          </a:prstGeom>
          <a:ln w="12700">
            <a:solidFill>
              <a:schemeClr val="accent1"/>
            </a:solidFill>
            <a:headEnd type="arrow"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5439144" y="4357694"/>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了解线上活动信息</a:t>
            </a:r>
            <a:endParaRPr lang="en-US" sz="1200" dirty="0">
              <a:solidFill>
                <a:schemeClr val="tx1"/>
              </a:solidFill>
            </a:endParaRPr>
          </a:p>
        </p:txBody>
      </p:sp>
      <p:sp>
        <p:nvSpPr>
          <p:cNvPr id="46" name="Rectangle 45"/>
          <p:cNvSpPr/>
          <p:nvPr/>
        </p:nvSpPr>
        <p:spPr>
          <a:xfrm>
            <a:off x="3010252" y="3571876"/>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通知客户活动信息</a:t>
            </a:r>
            <a:endParaRPr lang="en-US" sz="1200" dirty="0">
              <a:solidFill>
                <a:schemeClr val="tx1"/>
              </a:solidFill>
            </a:endParaRPr>
          </a:p>
        </p:txBody>
      </p:sp>
      <p:cxnSp>
        <p:nvCxnSpPr>
          <p:cNvPr id="47" name="Straight Arrow Connector 46"/>
          <p:cNvCxnSpPr>
            <a:stCxn id="6" idx="1"/>
            <a:endCxn id="7" idx="3"/>
          </p:cNvCxnSpPr>
          <p:nvPr/>
        </p:nvCxnSpPr>
        <p:spPr>
          <a:xfrm rot="16200000" flipV="1">
            <a:off x="2980662" y="2672772"/>
            <a:ext cx="1054236" cy="1423683"/>
          </a:xfrm>
          <a:prstGeom prst="straightConnector1">
            <a:avLst/>
          </a:prstGeom>
          <a:ln>
            <a:prstDash val="dash"/>
            <a:headEnd type="arrow"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8" idx="3"/>
            <a:endCxn id="6" idx="3"/>
          </p:cNvCxnSpPr>
          <p:nvPr/>
        </p:nvCxnSpPr>
        <p:spPr>
          <a:xfrm flipV="1">
            <a:off x="2795938" y="4517904"/>
            <a:ext cx="1423683" cy="1089955"/>
          </a:xfrm>
          <a:prstGeom prst="straightConnector1">
            <a:avLst/>
          </a:prstGeom>
          <a:ln w="12700">
            <a:solidFill>
              <a:schemeClr val="accent1"/>
            </a:solidFill>
            <a:headEnd type="arrow"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3438880" y="5072074"/>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获取</a:t>
            </a:r>
            <a:r>
              <a:rPr lang="en-US" altLang="zh-CN" sz="1200" dirty="0" smtClean="0">
                <a:solidFill>
                  <a:schemeClr val="tx1"/>
                </a:solidFill>
              </a:rPr>
              <a:t>/</a:t>
            </a:r>
            <a:r>
              <a:rPr lang="zh-CN" altLang="en-US" sz="1200" dirty="0" smtClean="0">
                <a:solidFill>
                  <a:schemeClr val="tx1"/>
                </a:solidFill>
              </a:rPr>
              <a:t>兑换产品</a:t>
            </a:r>
            <a:r>
              <a:rPr lang="en-US" altLang="zh-CN" sz="1200" dirty="0" smtClean="0">
                <a:solidFill>
                  <a:schemeClr val="tx1"/>
                </a:solidFill>
              </a:rPr>
              <a:t>/</a:t>
            </a:r>
            <a:r>
              <a:rPr lang="zh-CN" altLang="en-US" sz="1200" dirty="0" smtClean="0">
                <a:solidFill>
                  <a:schemeClr val="tx1"/>
                </a:solidFill>
              </a:rPr>
              <a:t>服务</a:t>
            </a:r>
            <a:endParaRPr lang="en-US" sz="1200" dirty="0">
              <a:solidFill>
                <a:schemeClr val="tx1"/>
              </a:solidFill>
            </a:endParaRPr>
          </a:p>
        </p:txBody>
      </p:sp>
      <p:grpSp>
        <p:nvGrpSpPr>
          <p:cNvPr id="58" name="Group 57"/>
          <p:cNvGrpSpPr/>
          <p:nvPr/>
        </p:nvGrpSpPr>
        <p:grpSpPr>
          <a:xfrm>
            <a:off x="71406" y="1000108"/>
            <a:ext cx="943397" cy="752374"/>
            <a:chOff x="8072462" y="1000108"/>
            <a:chExt cx="943397" cy="752374"/>
          </a:xfrm>
        </p:grpSpPr>
        <p:grpSp>
          <p:nvGrpSpPr>
            <p:cNvPr id="59" name="Group 33"/>
            <p:cNvGrpSpPr>
              <a:grpSpLocks/>
            </p:cNvGrpSpPr>
            <p:nvPr/>
          </p:nvGrpSpPr>
          <p:grpSpPr bwMode="auto">
            <a:xfrm>
              <a:off x="8072462" y="1000108"/>
              <a:ext cx="943397" cy="752374"/>
              <a:chOff x="192" y="1917"/>
              <a:chExt cx="1042" cy="1102"/>
            </a:xfrm>
          </p:grpSpPr>
          <p:grpSp>
            <p:nvGrpSpPr>
              <p:cNvPr id="61" name="Group 34"/>
              <p:cNvGrpSpPr>
                <a:grpSpLocks/>
              </p:cNvGrpSpPr>
              <p:nvPr/>
            </p:nvGrpSpPr>
            <p:grpSpPr bwMode="auto">
              <a:xfrm>
                <a:off x="192" y="1917"/>
                <a:ext cx="1042" cy="1102"/>
                <a:chOff x="192" y="1917"/>
                <a:chExt cx="1042" cy="1102"/>
              </a:xfrm>
            </p:grpSpPr>
            <p:pic>
              <p:nvPicPr>
                <p:cNvPr id="63" name="Picture 35" descr="light_shadow"/>
                <p:cNvPicPr>
                  <a:picLocks noChangeAspect="1" noChangeArrowheads="1"/>
                </p:cNvPicPr>
                <p:nvPr/>
              </p:nvPicPr>
              <p:blipFill>
                <a:blip r:embed="rId2" cstate="print">
                  <a:lum bright="-78000" contrast="-78000"/>
                </a:blip>
                <a:srcRect/>
                <a:stretch>
                  <a:fillRect/>
                </a:stretch>
              </p:blipFill>
              <p:spPr bwMode="gray">
                <a:xfrm>
                  <a:off x="291" y="2781"/>
                  <a:ext cx="858" cy="238"/>
                </a:xfrm>
                <a:prstGeom prst="rect">
                  <a:avLst/>
                </a:prstGeom>
                <a:noFill/>
              </p:spPr>
            </p:pic>
            <p:pic>
              <p:nvPicPr>
                <p:cNvPr id="64" name="Picture 36" descr="circuler_1"/>
                <p:cNvPicPr>
                  <a:picLocks noChangeAspect="1" noChangeArrowheads="1"/>
                </p:cNvPicPr>
                <p:nvPr/>
              </p:nvPicPr>
              <p:blipFill>
                <a:blip r:embed="rId3" cstate="print"/>
                <a:srcRect/>
                <a:stretch>
                  <a:fillRect/>
                </a:stretch>
              </p:blipFill>
              <p:spPr bwMode="gray">
                <a:xfrm>
                  <a:off x="192" y="1917"/>
                  <a:ext cx="1042" cy="1016"/>
                </a:xfrm>
                <a:prstGeom prst="rect">
                  <a:avLst/>
                </a:prstGeom>
                <a:noFill/>
              </p:spPr>
            </p:pic>
            <p:sp>
              <p:nvSpPr>
                <p:cNvPr id="65" name="Oval 37"/>
                <p:cNvSpPr>
                  <a:spLocks noChangeArrowheads="1"/>
                </p:cNvSpPr>
                <p:nvPr/>
              </p:nvSpPr>
              <p:spPr bwMode="gray">
                <a:xfrm>
                  <a:off x="192" y="1917"/>
                  <a:ext cx="1035" cy="1019"/>
                </a:xfrm>
                <a:prstGeom prst="ellipse">
                  <a:avLst/>
                </a:prstGeom>
                <a:gradFill rotWithShape="1">
                  <a:gsLst>
                    <a:gs pos="0">
                      <a:srgbClr val="6FF775">
                        <a:gamma/>
                        <a:shade val="46275"/>
                        <a:invGamma/>
                        <a:alpha val="89999"/>
                      </a:srgbClr>
                    </a:gs>
                    <a:gs pos="50000">
                      <a:srgbClr val="6FF775">
                        <a:alpha val="55000"/>
                      </a:srgbClr>
                    </a:gs>
                    <a:gs pos="100000">
                      <a:srgbClr val="6FF775">
                        <a:gamma/>
                        <a:shade val="46275"/>
                        <a:invGamma/>
                        <a:alpha val="89999"/>
                      </a:srgbClr>
                    </a:gs>
                  </a:gsLst>
                  <a:lin ang="5400000" scaled="1"/>
                </a:gradFill>
                <a:ln w="9525" algn="ctr">
                  <a:noFill/>
                  <a:round/>
                  <a:headEnd/>
                  <a:tailEnd/>
                </a:ln>
                <a:effectLst/>
              </p:spPr>
              <p:txBody>
                <a:bodyPr wrap="none" anchor="ctr"/>
                <a:lstStyle/>
                <a:p>
                  <a:endParaRPr lang="en-US" sz="1050"/>
                </a:p>
              </p:txBody>
            </p:sp>
          </p:grpSp>
          <p:pic>
            <p:nvPicPr>
              <p:cNvPr id="62" name="Picture 38"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sp>
          <p:nvSpPr>
            <p:cNvPr id="60" name="Rectangle 45"/>
            <p:cNvSpPr>
              <a:spLocks noChangeArrowheads="1"/>
            </p:cNvSpPr>
            <p:nvPr/>
          </p:nvSpPr>
          <p:spPr bwMode="gray">
            <a:xfrm>
              <a:off x="8179293" y="1226690"/>
              <a:ext cx="748924" cy="261610"/>
            </a:xfrm>
            <a:prstGeom prst="rect">
              <a:avLst/>
            </a:prstGeom>
            <a:noFill/>
            <a:ln w="9525">
              <a:noFill/>
              <a:miter lim="800000"/>
              <a:headEnd/>
              <a:tailEnd/>
            </a:ln>
            <a:effectLst/>
          </p:spPr>
          <p:txBody>
            <a:bodyPr wrap="none">
              <a:spAutoFit/>
            </a:bodyPr>
            <a:lstStyle/>
            <a:p>
              <a:pPr algn="ctr">
                <a:buClr>
                  <a:srgbClr val="FF0066"/>
                </a:buClr>
                <a:buSzPct val="75000"/>
                <a:buFont typeface="Arial" charset="0"/>
                <a:buNone/>
              </a:pPr>
              <a:r>
                <a:rPr lang="zh-CN" altLang="en-US" sz="1100" b="1" dirty="0" smtClean="0">
                  <a:solidFill>
                    <a:srgbClr val="080808"/>
                  </a:solidFill>
                </a:rPr>
                <a:t>双线结合</a:t>
              </a:r>
              <a:endParaRPr lang="en-US" sz="1100" b="1" dirty="0">
                <a:solidFill>
                  <a:srgbClr val="080808"/>
                </a:solidFill>
              </a:endParaRPr>
            </a:p>
          </p:txBody>
        </p:sp>
      </p:grpSp>
      <p:sp>
        <p:nvSpPr>
          <p:cNvPr id="66" name="Slide Number Placeholder 6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8</a:t>
            </a:fld>
            <a:endParaRPr lang="en-US" altLang="zh-CN" dirty="0">
              <a:solidFill>
                <a:srgbClr val="333333"/>
              </a:solidFill>
            </a:endParaRPr>
          </a:p>
        </p:txBody>
      </p:sp>
      <p:sp>
        <p:nvSpPr>
          <p:cNvPr id="67" name="Title 66"/>
          <p:cNvSpPr>
            <a:spLocks noGrp="1"/>
          </p:cNvSpPr>
          <p:nvPr>
            <p:ph type="title"/>
          </p:nvPr>
        </p:nvSpPr>
        <p:spPr/>
        <p:txBody>
          <a:bodyPr/>
          <a:lstStyle/>
          <a:p>
            <a:r>
              <a:rPr lang="zh-CN" altLang="en-US" dirty="0" smtClean="0"/>
              <a:t>所谓双线结合即所有的</a:t>
            </a:r>
            <a:r>
              <a:rPr lang="en-US" altLang="zh-CN" dirty="0" smtClean="0"/>
              <a:t>CRM</a:t>
            </a:r>
            <a:r>
              <a:rPr lang="zh-CN" altLang="en-US" dirty="0" smtClean="0"/>
              <a:t>运作应充分利用线上线下的资源，并且有效互动、紧密配合</a:t>
            </a:r>
            <a:endParaRPr lang="en-US" dirty="0"/>
          </a:p>
        </p:txBody>
      </p:sp>
      <p:cxnSp>
        <p:nvCxnSpPr>
          <p:cNvPr id="68" name="Straight Arrow Connector 67"/>
          <p:cNvCxnSpPr/>
          <p:nvPr/>
        </p:nvCxnSpPr>
        <p:spPr>
          <a:xfrm>
            <a:off x="4143372" y="6284932"/>
            <a:ext cx="792000" cy="1588"/>
          </a:xfrm>
          <a:prstGeom prst="straightConnector1">
            <a:avLst/>
          </a:prstGeom>
          <a:ln w="12700">
            <a:solidFill>
              <a:schemeClr val="accent1"/>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4143372" y="6499246"/>
            <a:ext cx="792000" cy="1588"/>
          </a:xfrm>
          <a:prstGeom prst="straightConnector1">
            <a:avLst/>
          </a:prstGeom>
          <a:ln>
            <a:prstDash val="dash"/>
            <a:headEnd type="none" w="med" len="med"/>
            <a:tailEnd type="arrow"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5000628" y="6310458"/>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rPr>
              <a:t>信息流</a:t>
            </a:r>
            <a:endParaRPr lang="en-US" sz="1200" dirty="0">
              <a:solidFill>
                <a:schemeClr val="tx1"/>
              </a:solidFill>
            </a:endParaRPr>
          </a:p>
        </p:txBody>
      </p:sp>
      <p:sp>
        <p:nvSpPr>
          <p:cNvPr id="71" name="Rectangle 70"/>
          <p:cNvSpPr/>
          <p:nvPr/>
        </p:nvSpPr>
        <p:spPr>
          <a:xfrm>
            <a:off x="5000628" y="6095956"/>
            <a:ext cx="857256" cy="35719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rPr>
              <a:t>物流</a:t>
            </a:r>
            <a:r>
              <a:rPr lang="en-US" altLang="zh-CN" sz="1200" dirty="0" smtClean="0">
                <a:solidFill>
                  <a:schemeClr val="tx1"/>
                </a:solidFill>
              </a:rPr>
              <a:t>/</a:t>
            </a:r>
            <a:r>
              <a:rPr lang="zh-CN" altLang="en-US" sz="1200" dirty="0" smtClean="0">
                <a:solidFill>
                  <a:schemeClr val="tx1"/>
                </a:solidFill>
              </a:rPr>
              <a:t>服务</a:t>
            </a:r>
            <a:endParaRPr lang="en-US" sz="1200" dirty="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0" y="-2286040"/>
            <a:ext cx="9144000" cy="7477052"/>
            <a:chOff x="0" y="-1752600"/>
            <a:chExt cx="9144000" cy="7477052"/>
          </a:xfrm>
        </p:grpSpPr>
        <p:sp>
          <p:nvSpPr>
            <p:cNvPr id="50" name="AutoShape 3"/>
            <p:cNvSpPr>
              <a:spLocks noChangeArrowheads="1"/>
            </p:cNvSpPr>
            <p:nvPr/>
          </p:nvSpPr>
          <p:spPr bwMode="gray">
            <a:xfrm flipV="1">
              <a:off x="0" y="-1752600"/>
              <a:ext cx="9144000" cy="6248400"/>
            </a:xfrm>
            <a:custGeom>
              <a:avLst/>
              <a:gdLst>
                <a:gd name="G0" fmla="+- 7224 0 0"/>
                <a:gd name="G1" fmla="+- -9175604 0 0"/>
                <a:gd name="G2" fmla="+- 0 0 -9175604"/>
                <a:gd name="T0" fmla="*/ 0 256 1"/>
                <a:gd name="T1" fmla="*/ 180 256 1"/>
                <a:gd name="G3" fmla="+- -9175604 T0 T1"/>
                <a:gd name="T2" fmla="*/ 0 256 1"/>
                <a:gd name="T3" fmla="*/ 90 256 1"/>
                <a:gd name="G4" fmla="+- -9175604 T2 T3"/>
                <a:gd name="G5" fmla="*/ G4 2 1"/>
                <a:gd name="T4" fmla="*/ 90 256 1"/>
                <a:gd name="T5" fmla="*/ 0 256 1"/>
                <a:gd name="G6" fmla="+- -9175604 T4 T5"/>
                <a:gd name="G7" fmla="*/ G6 2 1"/>
                <a:gd name="G8" fmla="abs -9175604"/>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224"/>
                <a:gd name="G18" fmla="*/ 7224 1 2"/>
                <a:gd name="G19" fmla="+- G18 5400 0"/>
                <a:gd name="G20" fmla="cos G19 -9175604"/>
                <a:gd name="G21" fmla="sin G19 -9175604"/>
                <a:gd name="G22" fmla="+- G20 10800 0"/>
                <a:gd name="G23" fmla="+- G21 10800 0"/>
                <a:gd name="G24" fmla="+- 10800 0 G20"/>
                <a:gd name="G25" fmla="+- 7224 10800 0"/>
                <a:gd name="G26" fmla="?: G9 G17 G25"/>
                <a:gd name="G27" fmla="?: G9 0 21600"/>
                <a:gd name="G28" fmla="cos 10800 -9175604"/>
                <a:gd name="G29" fmla="sin 10800 -9175604"/>
                <a:gd name="G30" fmla="sin 7224 -9175604"/>
                <a:gd name="G31" fmla="+- G28 10800 0"/>
                <a:gd name="G32" fmla="+- G29 10800 0"/>
                <a:gd name="G33" fmla="+- G30 10800 0"/>
                <a:gd name="G34" fmla="?: G4 0 G31"/>
                <a:gd name="G35" fmla="?: -9175604 G34 0"/>
                <a:gd name="G36" fmla="?: G6 G35 G31"/>
                <a:gd name="G37" fmla="+- 21600 0 G36"/>
                <a:gd name="G38" fmla="?: G4 0 G33"/>
                <a:gd name="G39" fmla="?: -9175604 G38 G32"/>
                <a:gd name="G40" fmla="?: G6 G39 0"/>
                <a:gd name="G41" fmla="?: G4 G32 21600"/>
                <a:gd name="G42" fmla="?: G6 G41 G33"/>
                <a:gd name="T12" fmla="*/ 10800 w 21600"/>
                <a:gd name="T13" fmla="*/ 0 h 21600"/>
                <a:gd name="T14" fmla="*/ 3895 w 21600"/>
                <a:gd name="T15" fmla="*/ 5008 h 21600"/>
                <a:gd name="T16" fmla="*/ 10800 w 21600"/>
                <a:gd name="T17" fmla="*/ 3576 h 21600"/>
                <a:gd name="T18" fmla="*/ 17705 w 21600"/>
                <a:gd name="T19" fmla="*/ 500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265" y="6157"/>
                  </a:moveTo>
                  <a:cubicBezTo>
                    <a:pt x="6637" y="4521"/>
                    <a:pt x="8664" y="3575"/>
                    <a:pt x="10800" y="3576"/>
                  </a:cubicBezTo>
                  <a:cubicBezTo>
                    <a:pt x="12935" y="3576"/>
                    <a:pt x="14962" y="4521"/>
                    <a:pt x="16334" y="6157"/>
                  </a:cubicBezTo>
                  <a:lnTo>
                    <a:pt x="19074" y="3859"/>
                  </a:lnTo>
                  <a:cubicBezTo>
                    <a:pt x="17022" y="1412"/>
                    <a:pt x="13992" y="-1"/>
                    <a:pt x="10799" y="0"/>
                  </a:cubicBezTo>
                  <a:cubicBezTo>
                    <a:pt x="7607" y="0"/>
                    <a:pt x="4577" y="1412"/>
                    <a:pt x="2525" y="3859"/>
                  </a:cubicBezTo>
                  <a:close/>
                </a:path>
              </a:pathLst>
            </a:custGeom>
            <a:gradFill rotWithShape="1">
              <a:gsLst>
                <a:gs pos="0">
                  <a:srgbClr val="006699"/>
                </a:gs>
                <a:gs pos="100000">
                  <a:srgbClr val="BDCBDB"/>
                </a:gs>
              </a:gsLst>
              <a:lin ang="0" scaled="1"/>
            </a:gradFill>
            <a:ln w="9525">
              <a:miter lim="800000"/>
              <a:headEnd/>
              <a:tailEnd/>
            </a:ln>
            <a:effectLst/>
            <a:scene3d>
              <a:camera prst="legacyPerspectiveBottom">
                <a:rot lat="20099999" lon="0" rev="0"/>
              </a:camera>
              <a:lightRig rig="legacyHarsh3" dir="l"/>
            </a:scene3d>
            <a:sp3d extrusionH="2259000" prstMaterial="legacyPlastic">
              <a:bevelT w="13500" h="13500" prst="angle"/>
              <a:bevelB w="13500" h="13500" prst="angle"/>
              <a:extrusionClr>
                <a:srgbClr val="003366"/>
              </a:extrusionClr>
            </a:sp3d>
          </p:spPr>
          <p:txBody>
            <a:bodyPr wrap="none" anchor="ctr">
              <a:flatTx/>
            </a:bodyPr>
            <a:lstStyle/>
            <a:p>
              <a:endParaRPr lang="en-US"/>
            </a:p>
          </p:txBody>
        </p:sp>
        <p:sp>
          <p:nvSpPr>
            <p:cNvPr id="7" name="Freeform 4"/>
            <p:cNvSpPr>
              <a:spLocks/>
            </p:cNvSpPr>
            <p:nvPr/>
          </p:nvSpPr>
          <p:spPr bwMode="gray">
            <a:xfrm>
              <a:off x="692150" y="2981200"/>
              <a:ext cx="7767638" cy="2743252"/>
            </a:xfrm>
            <a:custGeom>
              <a:avLst/>
              <a:gdLst/>
              <a:ahLst/>
              <a:cxnLst>
                <a:cxn ang="0">
                  <a:pos x="4878" y="0"/>
                </a:cxn>
                <a:cxn ang="0">
                  <a:pos x="4893" y="440"/>
                </a:cxn>
                <a:cxn ang="0">
                  <a:pos x="2467" y="1917"/>
                </a:cxn>
                <a:cxn ang="0">
                  <a:pos x="21" y="500"/>
                </a:cxn>
                <a:cxn ang="0">
                  <a:pos x="0" y="2"/>
                </a:cxn>
                <a:cxn ang="0">
                  <a:pos x="2461" y="667"/>
                </a:cxn>
                <a:cxn ang="0">
                  <a:pos x="4878" y="0"/>
                </a:cxn>
              </a:cxnLst>
              <a:rect l="0" t="0" r="r" b="b"/>
              <a:pathLst>
                <a:path w="4893" h="1917">
                  <a:moveTo>
                    <a:pt x="4878" y="0"/>
                  </a:moveTo>
                  <a:cubicBezTo>
                    <a:pt x="4878" y="0"/>
                    <a:pt x="4891" y="226"/>
                    <a:pt x="4893" y="440"/>
                  </a:cubicBezTo>
                  <a:cubicBezTo>
                    <a:pt x="3867" y="440"/>
                    <a:pt x="3815" y="1811"/>
                    <a:pt x="2467" y="1917"/>
                  </a:cubicBezTo>
                  <a:cubicBezTo>
                    <a:pt x="1073" y="1877"/>
                    <a:pt x="1309" y="493"/>
                    <a:pt x="21" y="500"/>
                  </a:cubicBezTo>
                  <a:lnTo>
                    <a:pt x="0" y="2"/>
                  </a:lnTo>
                  <a:cubicBezTo>
                    <a:pt x="620" y="518"/>
                    <a:pt x="1873" y="671"/>
                    <a:pt x="2461" y="667"/>
                  </a:cubicBezTo>
                  <a:cubicBezTo>
                    <a:pt x="2461" y="667"/>
                    <a:pt x="4076" y="668"/>
                    <a:pt x="4878" y="0"/>
                  </a:cubicBezTo>
                  <a:close/>
                </a:path>
              </a:pathLst>
            </a:custGeom>
            <a:gradFill rotWithShape="1">
              <a:gsLst>
                <a:gs pos="0">
                  <a:srgbClr val="0D2D47"/>
                </a:gs>
                <a:gs pos="50000">
                  <a:srgbClr val="0F5C83"/>
                </a:gs>
                <a:gs pos="100000">
                  <a:srgbClr val="0D2D47"/>
                </a:gs>
              </a:gsLst>
              <a:lin ang="0" scaled="1"/>
            </a:gradFill>
            <a:ln w="9525">
              <a:noFill/>
              <a:round/>
              <a:headEnd/>
              <a:tailEnd/>
            </a:ln>
            <a:effectLst/>
          </p:spPr>
          <p:txBody>
            <a:bodyPr/>
            <a:lstStyle/>
            <a:p>
              <a:endParaRPr lang="en-US"/>
            </a:p>
          </p:txBody>
        </p:sp>
        <p:sp>
          <p:nvSpPr>
            <p:cNvPr id="8" name="Line 5"/>
            <p:cNvSpPr>
              <a:spLocks noChangeShapeType="1"/>
            </p:cNvSpPr>
            <p:nvPr/>
          </p:nvSpPr>
          <p:spPr bwMode="gray">
            <a:xfrm flipH="1">
              <a:off x="2216150" y="4900613"/>
              <a:ext cx="874713" cy="712787"/>
            </a:xfrm>
            <a:prstGeom prst="line">
              <a:avLst/>
            </a:prstGeom>
            <a:noFill/>
            <a:ln w="9525">
              <a:solidFill>
                <a:srgbClr val="F8F8F8">
                  <a:alpha val="10001"/>
                </a:srgbClr>
              </a:solidFill>
              <a:round/>
              <a:headEnd/>
              <a:tailEnd/>
            </a:ln>
            <a:effectLst/>
          </p:spPr>
          <p:txBody>
            <a:bodyPr/>
            <a:lstStyle/>
            <a:p>
              <a:endParaRPr lang="en-US"/>
            </a:p>
          </p:txBody>
        </p:sp>
        <p:sp>
          <p:nvSpPr>
            <p:cNvPr id="9" name="Line 6"/>
            <p:cNvSpPr>
              <a:spLocks noChangeShapeType="1"/>
            </p:cNvSpPr>
            <p:nvPr/>
          </p:nvSpPr>
          <p:spPr bwMode="gray">
            <a:xfrm>
              <a:off x="5970588" y="4916488"/>
              <a:ext cx="874712" cy="712787"/>
            </a:xfrm>
            <a:prstGeom prst="line">
              <a:avLst/>
            </a:prstGeom>
            <a:noFill/>
            <a:ln w="9525">
              <a:solidFill>
                <a:srgbClr val="F8F8F8">
                  <a:alpha val="10001"/>
                </a:srgbClr>
              </a:solidFill>
              <a:round/>
              <a:headEnd/>
              <a:tailEnd/>
            </a:ln>
            <a:effectLst/>
          </p:spPr>
          <p:txBody>
            <a:bodyPr/>
            <a:lstStyle/>
            <a:p>
              <a:endParaRPr lang="en-US"/>
            </a:p>
          </p:txBody>
        </p:sp>
        <p:sp>
          <p:nvSpPr>
            <p:cNvPr id="10" name="Line 7"/>
            <p:cNvSpPr>
              <a:spLocks noChangeShapeType="1"/>
            </p:cNvSpPr>
            <p:nvPr/>
          </p:nvSpPr>
          <p:spPr bwMode="gray">
            <a:xfrm flipH="1">
              <a:off x="666750" y="4556125"/>
              <a:ext cx="1143000" cy="331788"/>
            </a:xfrm>
            <a:prstGeom prst="line">
              <a:avLst/>
            </a:prstGeom>
            <a:noFill/>
            <a:ln w="9525">
              <a:solidFill>
                <a:srgbClr val="F8F8F8">
                  <a:alpha val="10001"/>
                </a:srgbClr>
              </a:solidFill>
              <a:round/>
              <a:headEnd/>
              <a:tailEnd/>
            </a:ln>
            <a:effectLst/>
          </p:spPr>
          <p:txBody>
            <a:bodyPr/>
            <a:lstStyle/>
            <a:p>
              <a:endParaRPr lang="en-US"/>
            </a:p>
          </p:txBody>
        </p:sp>
        <p:sp>
          <p:nvSpPr>
            <p:cNvPr id="11" name="Line 8"/>
            <p:cNvSpPr>
              <a:spLocks noChangeShapeType="1"/>
            </p:cNvSpPr>
            <p:nvPr/>
          </p:nvSpPr>
          <p:spPr bwMode="gray">
            <a:xfrm>
              <a:off x="7362825" y="4551363"/>
              <a:ext cx="1103313" cy="331787"/>
            </a:xfrm>
            <a:prstGeom prst="line">
              <a:avLst/>
            </a:prstGeom>
            <a:noFill/>
            <a:ln w="9525">
              <a:solidFill>
                <a:srgbClr val="F8F8F8">
                  <a:alpha val="10001"/>
                </a:srgbClr>
              </a:solidFill>
              <a:round/>
              <a:headEnd/>
              <a:tailEnd/>
            </a:ln>
            <a:effectLst/>
          </p:spPr>
          <p:txBody>
            <a:bodyPr/>
            <a:lstStyle/>
            <a:p>
              <a:endParaRPr lang="en-US"/>
            </a:p>
          </p:txBody>
        </p:sp>
        <p:sp>
          <p:nvSpPr>
            <p:cNvPr id="12" name="Text Box 9"/>
            <p:cNvSpPr txBox="1">
              <a:spLocks noChangeArrowheads="1"/>
            </p:cNvSpPr>
            <p:nvPr/>
          </p:nvSpPr>
          <p:spPr bwMode="gray">
            <a:xfrm>
              <a:off x="3053653" y="4313238"/>
              <a:ext cx="3054358" cy="369332"/>
            </a:xfrm>
            <a:prstGeom prst="rect">
              <a:avLst/>
            </a:prstGeom>
            <a:noFill/>
            <a:ln w="9525" algn="ctr">
              <a:noFill/>
              <a:miter lim="800000"/>
              <a:headEnd/>
              <a:tailEnd/>
            </a:ln>
            <a:effectLst/>
          </p:spPr>
          <p:txBody>
            <a:bodyPr wrap="square">
              <a:spAutoFit/>
            </a:bodyPr>
            <a:lstStyle/>
            <a:p>
              <a:pPr algn="ctr" eaLnBrk="0" hangingPunct="0"/>
              <a:r>
                <a:rPr lang="zh-CN" altLang="en-US" dirty="0" smtClean="0">
                  <a:solidFill>
                    <a:srgbClr val="FEFFFF"/>
                  </a:solidFill>
                </a:rPr>
                <a:t>依托聚芳永旗舰店为平台</a:t>
              </a:r>
              <a:endParaRPr lang="en-US" dirty="0">
                <a:solidFill>
                  <a:srgbClr val="FEFFFF"/>
                </a:solidFill>
              </a:endParaRPr>
            </a:p>
          </p:txBody>
        </p:sp>
        <p:sp>
          <p:nvSpPr>
            <p:cNvPr id="13" name="Line 10"/>
            <p:cNvSpPr>
              <a:spLocks noChangeShapeType="1"/>
            </p:cNvSpPr>
            <p:nvPr/>
          </p:nvSpPr>
          <p:spPr bwMode="gray">
            <a:xfrm flipH="1">
              <a:off x="2227263" y="2911475"/>
              <a:ext cx="874712" cy="712788"/>
            </a:xfrm>
            <a:prstGeom prst="line">
              <a:avLst/>
            </a:prstGeom>
            <a:noFill/>
            <a:ln w="9525">
              <a:solidFill>
                <a:srgbClr val="F8F8F8">
                  <a:alpha val="39999"/>
                </a:srgbClr>
              </a:solidFill>
              <a:round/>
              <a:headEnd/>
              <a:tailEnd/>
            </a:ln>
            <a:effectLst/>
          </p:spPr>
          <p:txBody>
            <a:bodyPr/>
            <a:lstStyle/>
            <a:p>
              <a:endParaRPr lang="en-US"/>
            </a:p>
          </p:txBody>
        </p:sp>
        <p:sp>
          <p:nvSpPr>
            <p:cNvPr id="14" name="Line 11"/>
            <p:cNvSpPr>
              <a:spLocks noChangeShapeType="1"/>
            </p:cNvSpPr>
            <p:nvPr/>
          </p:nvSpPr>
          <p:spPr bwMode="gray">
            <a:xfrm>
              <a:off x="5981700" y="2927350"/>
              <a:ext cx="874713" cy="712788"/>
            </a:xfrm>
            <a:prstGeom prst="line">
              <a:avLst/>
            </a:prstGeom>
            <a:noFill/>
            <a:ln w="9525">
              <a:solidFill>
                <a:srgbClr val="F8F8F8">
                  <a:alpha val="39999"/>
                </a:srgbClr>
              </a:solidFill>
              <a:round/>
              <a:headEnd/>
              <a:tailEnd/>
            </a:ln>
            <a:effectLst/>
          </p:spPr>
          <p:txBody>
            <a:bodyPr/>
            <a:lstStyle/>
            <a:p>
              <a:endParaRPr lang="en-US"/>
            </a:p>
          </p:txBody>
        </p:sp>
        <p:sp>
          <p:nvSpPr>
            <p:cNvPr id="15" name="Line 12"/>
            <p:cNvSpPr>
              <a:spLocks noChangeShapeType="1"/>
            </p:cNvSpPr>
            <p:nvPr/>
          </p:nvSpPr>
          <p:spPr bwMode="gray">
            <a:xfrm>
              <a:off x="4575175" y="3109913"/>
              <a:ext cx="0" cy="825500"/>
            </a:xfrm>
            <a:prstGeom prst="line">
              <a:avLst/>
            </a:prstGeom>
            <a:noFill/>
            <a:ln w="9525">
              <a:solidFill>
                <a:srgbClr val="F8F8F8">
                  <a:alpha val="30000"/>
                </a:srgbClr>
              </a:solidFill>
              <a:round/>
              <a:headEnd/>
              <a:tailEnd/>
            </a:ln>
            <a:effectLst/>
          </p:spPr>
          <p:txBody>
            <a:bodyPr/>
            <a:lstStyle/>
            <a:p>
              <a:endParaRPr lang="en-US"/>
            </a:p>
          </p:txBody>
        </p:sp>
        <p:sp>
          <p:nvSpPr>
            <p:cNvPr id="16" name="Freeform 13"/>
            <p:cNvSpPr>
              <a:spLocks/>
            </p:cNvSpPr>
            <p:nvPr/>
          </p:nvSpPr>
          <p:spPr bwMode="gray">
            <a:xfrm>
              <a:off x="685800" y="2916238"/>
              <a:ext cx="7743825" cy="1036637"/>
            </a:xfrm>
            <a:custGeom>
              <a:avLst/>
              <a:gdLst/>
              <a:ahLst/>
              <a:cxnLst>
                <a:cxn ang="0">
                  <a:pos x="0" y="0"/>
                </a:cxn>
                <a:cxn ang="0">
                  <a:pos x="2443" y="649"/>
                </a:cxn>
                <a:cxn ang="0">
                  <a:pos x="4878" y="17"/>
                </a:cxn>
              </a:cxnLst>
              <a:rect l="0" t="0" r="r" b="b"/>
              <a:pathLst>
                <a:path w="4878" h="653">
                  <a:moveTo>
                    <a:pt x="0" y="0"/>
                  </a:moveTo>
                  <a:cubicBezTo>
                    <a:pt x="522" y="422"/>
                    <a:pt x="1577" y="653"/>
                    <a:pt x="2443" y="649"/>
                  </a:cubicBezTo>
                  <a:cubicBezTo>
                    <a:pt x="3387" y="645"/>
                    <a:pt x="4229" y="447"/>
                    <a:pt x="4878" y="17"/>
                  </a:cubicBezTo>
                </a:path>
              </a:pathLst>
            </a:custGeom>
            <a:noFill/>
            <a:ln w="28575" cmpd="sng">
              <a:solidFill>
                <a:srgbClr val="FFFFFF">
                  <a:alpha val="80000"/>
                </a:srgbClr>
              </a:solidFill>
              <a:round/>
              <a:headEnd/>
              <a:tailEnd/>
            </a:ln>
            <a:effectLst/>
          </p:spPr>
          <p:txBody>
            <a:bodyPr/>
            <a:lstStyle/>
            <a:p>
              <a:endParaRPr lang="en-US"/>
            </a:p>
          </p:txBody>
        </p:sp>
        <p:sp>
          <p:nvSpPr>
            <p:cNvPr id="17" name="Line 14"/>
            <p:cNvSpPr>
              <a:spLocks noChangeShapeType="1"/>
            </p:cNvSpPr>
            <p:nvPr/>
          </p:nvSpPr>
          <p:spPr bwMode="gray">
            <a:xfrm flipH="1">
              <a:off x="2216150" y="4841875"/>
              <a:ext cx="874713" cy="712788"/>
            </a:xfrm>
            <a:prstGeom prst="line">
              <a:avLst/>
            </a:prstGeom>
            <a:noFill/>
            <a:ln w="9525">
              <a:solidFill>
                <a:srgbClr val="F8F8F8">
                  <a:alpha val="10001"/>
                </a:srgbClr>
              </a:solidFill>
              <a:round/>
              <a:headEnd/>
              <a:tailEnd/>
            </a:ln>
            <a:effectLst/>
          </p:spPr>
          <p:txBody>
            <a:bodyPr/>
            <a:lstStyle/>
            <a:p>
              <a:endParaRPr lang="en-US"/>
            </a:p>
          </p:txBody>
        </p:sp>
        <p:sp>
          <p:nvSpPr>
            <p:cNvPr id="18" name="Line 15"/>
            <p:cNvSpPr>
              <a:spLocks noChangeShapeType="1"/>
            </p:cNvSpPr>
            <p:nvPr/>
          </p:nvSpPr>
          <p:spPr bwMode="gray">
            <a:xfrm>
              <a:off x="5970588" y="4857750"/>
              <a:ext cx="874712" cy="712788"/>
            </a:xfrm>
            <a:prstGeom prst="line">
              <a:avLst/>
            </a:prstGeom>
            <a:noFill/>
            <a:ln w="9525">
              <a:solidFill>
                <a:srgbClr val="F8F8F8">
                  <a:alpha val="10001"/>
                </a:srgbClr>
              </a:solidFill>
              <a:round/>
              <a:headEnd/>
              <a:tailEnd/>
            </a:ln>
            <a:effectLst/>
          </p:spPr>
          <p:txBody>
            <a:bodyPr/>
            <a:lstStyle/>
            <a:p>
              <a:endParaRPr lang="en-US"/>
            </a:p>
          </p:txBody>
        </p:sp>
        <p:sp>
          <p:nvSpPr>
            <p:cNvPr id="19" name="Line 16"/>
            <p:cNvSpPr>
              <a:spLocks noChangeShapeType="1"/>
            </p:cNvSpPr>
            <p:nvPr/>
          </p:nvSpPr>
          <p:spPr bwMode="gray">
            <a:xfrm flipH="1">
              <a:off x="666750" y="4497388"/>
              <a:ext cx="1143000" cy="331787"/>
            </a:xfrm>
            <a:prstGeom prst="line">
              <a:avLst/>
            </a:prstGeom>
            <a:noFill/>
            <a:ln w="9525">
              <a:solidFill>
                <a:srgbClr val="F8F8F8">
                  <a:alpha val="10001"/>
                </a:srgbClr>
              </a:solidFill>
              <a:round/>
              <a:headEnd/>
              <a:tailEnd/>
            </a:ln>
            <a:effectLst/>
          </p:spPr>
          <p:txBody>
            <a:bodyPr/>
            <a:lstStyle/>
            <a:p>
              <a:endParaRPr lang="en-US"/>
            </a:p>
          </p:txBody>
        </p:sp>
        <p:sp>
          <p:nvSpPr>
            <p:cNvPr id="20" name="Line 17"/>
            <p:cNvSpPr>
              <a:spLocks noChangeShapeType="1"/>
            </p:cNvSpPr>
            <p:nvPr/>
          </p:nvSpPr>
          <p:spPr bwMode="gray">
            <a:xfrm>
              <a:off x="7362825" y="4492625"/>
              <a:ext cx="1103313" cy="331788"/>
            </a:xfrm>
            <a:prstGeom prst="line">
              <a:avLst/>
            </a:prstGeom>
            <a:noFill/>
            <a:ln w="9525">
              <a:solidFill>
                <a:srgbClr val="F8F8F8">
                  <a:alpha val="10001"/>
                </a:srgbClr>
              </a:solidFill>
              <a:round/>
              <a:headEnd/>
              <a:tailEnd/>
            </a:ln>
            <a:effectLst/>
          </p:spPr>
          <p:txBody>
            <a:bodyPr/>
            <a:lstStyle/>
            <a:p>
              <a:endParaRPr lang="en-US"/>
            </a:p>
          </p:txBody>
        </p:sp>
        <p:sp>
          <p:nvSpPr>
            <p:cNvPr id="21" name="Line 18"/>
            <p:cNvSpPr>
              <a:spLocks noChangeShapeType="1"/>
            </p:cNvSpPr>
            <p:nvPr/>
          </p:nvSpPr>
          <p:spPr bwMode="gray">
            <a:xfrm>
              <a:off x="4575175" y="3051175"/>
              <a:ext cx="0" cy="825500"/>
            </a:xfrm>
            <a:prstGeom prst="line">
              <a:avLst/>
            </a:prstGeom>
            <a:noFill/>
            <a:ln w="9525">
              <a:solidFill>
                <a:srgbClr val="F8F8F8">
                  <a:alpha val="30000"/>
                </a:srgbClr>
              </a:solidFill>
              <a:round/>
              <a:headEnd/>
              <a:tailEnd/>
            </a:ln>
            <a:effectLst/>
          </p:spPr>
          <p:txBody>
            <a:bodyPr/>
            <a:lstStyle/>
            <a:p>
              <a:endParaRPr lang="en-US"/>
            </a:p>
          </p:txBody>
        </p:sp>
        <p:grpSp>
          <p:nvGrpSpPr>
            <p:cNvPr id="22" name="Group 19"/>
            <p:cNvGrpSpPr>
              <a:grpSpLocks/>
            </p:cNvGrpSpPr>
            <p:nvPr/>
          </p:nvGrpSpPr>
          <p:grpSpPr bwMode="auto">
            <a:xfrm>
              <a:off x="1219200" y="1709738"/>
              <a:ext cx="1295400" cy="1371600"/>
              <a:chOff x="192" y="1917"/>
              <a:chExt cx="1042" cy="1102"/>
            </a:xfrm>
          </p:grpSpPr>
          <p:grpSp>
            <p:nvGrpSpPr>
              <p:cNvPr id="23" name="Group 20"/>
              <p:cNvGrpSpPr>
                <a:grpSpLocks/>
              </p:cNvGrpSpPr>
              <p:nvPr/>
            </p:nvGrpSpPr>
            <p:grpSpPr bwMode="auto">
              <a:xfrm>
                <a:off x="192" y="1917"/>
                <a:ext cx="1042" cy="1102"/>
                <a:chOff x="192" y="1917"/>
                <a:chExt cx="1042" cy="1102"/>
              </a:xfrm>
            </p:grpSpPr>
            <p:pic>
              <p:nvPicPr>
                <p:cNvPr id="25" name="Picture 21" descr="light_shadow"/>
                <p:cNvPicPr>
                  <a:picLocks noChangeAspect="1" noChangeArrowheads="1"/>
                </p:cNvPicPr>
                <p:nvPr/>
              </p:nvPicPr>
              <p:blipFill>
                <a:blip r:embed="rId2" cstate="print">
                  <a:lum bright="-78000" contrast="-78000"/>
                </a:blip>
                <a:srcRect/>
                <a:stretch>
                  <a:fillRect/>
                </a:stretch>
              </p:blipFill>
              <p:spPr bwMode="gray">
                <a:xfrm>
                  <a:off x="291" y="2781"/>
                  <a:ext cx="858" cy="238"/>
                </a:xfrm>
                <a:prstGeom prst="rect">
                  <a:avLst/>
                </a:prstGeom>
                <a:noFill/>
              </p:spPr>
            </p:pic>
            <p:pic>
              <p:nvPicPr>
                <p:cNvPr id="26" name="Picture 22" descr="circuler_1"/>
                <p:cNvPicPr>
                  <a:picLocks noChangeAspect="1" noChangeArrowheads="1"/>
                </p:cNvPicPr>
                <p:nvPr/>
              </p:nvPicPr>
              <p:blipFill>
                <a:blip r:embed="rId3" cstate="print"/>
                <a:srcRect/>
                <a:stretch>
                  <a:fillRect/>
                </a:stretch>
              </p:blipFill>
              <p:spPr bwMode="gray">
                <a:xfrm>
                  <a:off x="192" y="1917"/>
                  <a:ext cx="1042" cy="1016"/>
                </a:xfrm>
                <a:prstGeom prst="rect">
                  <a:avLst/>
                </a:prstGeom>
                <a:noFill/>
              </p:spPr>
            </p:pic>
            <p:sp>
              <p:nvSpPr>
                <p:cNvPr id="27" name="Oval 23"/>
                <p:cNvSpPr>
                  <a:spLocks noChangeArrowheads="1"/>
                </p:cNvSpPr>
                <p:nvPr/>
              </p:nvSpPr>
              <p:spPr bwMode="gray">
                <a:xfrm>
                  <a:off x="192" y="1917"/>
                  <a:ext cx="1035" cy="1019"/>
                </a:xfrm>
                <a:prstGeom prst="ellipse">
                  <a:avLst/>
                </a:prstGeom>
                <a:gradFill rotWithShape="1">
                  <a:gsLst>
                    <a:gs pos="0">
                      <a:srgbClr val="FCA96A">
                        <a:gamma/>
                        <a:shade val="46275"/>
                        <a:invGamma/>
                        <a:alpha val="89999"/>
                      </a:srgbClr>
                    </a:gs>
                    <a:gs pos="50000">
                      <a:srgbClr val="FCA96A">
                        <a:alpha val="55000"/>
                      </a:srgbClr>
                    </a:gs>
                    <a:gs pos="100000">
                      <a:srgbClr val="FCA96A">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24" name="Picture 24"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grpSp>
          <p:nvGrpSpPr>
            <p:cNvPr id="28" name="Group 25"/>
            <p:cNvGrpSpPr>
              <a:grpSpLocks/>
            </p:cNvGrpSpPr>
            <p:nvPr/>
          </p:nvGrpSpPr>
          <p:grpSpPr bwMode="auto">
            <a:xfrm>
              <a:off x="6545263" y="1709738"/>
              <a:ext cx="1295400" cy="1371600"/>
              <a:chOff x="192" y="1917"/>
              <a:chExt cx="1042" cy="1102"/>
            </a:xfrm>
          </p:grpSpPr>
          <p:grpSp>
            <p:nvGrpSpPr>
              <p:cNvPr id="29" name="Group 26"/>
              <p:cNvGrpSpPr>
                <a:grpSpLocks/>
              </p:cNvGrpSpPr>
              <p:nvPr/>
            </p:nvGrpSpPr>
            <p:grpSpPr bwMode="auto">
              <a:xfrm>
                <a:off x="192" y="1917"/>
                <a:ext cx="1042" cy="1102"/>
                <a:chOff x="192" y="1917"/>
                <a:chExt cx="1042" cy="1102"/>
              </a:xfrm>
            </p:grpSpPr>
            <p:pic>
              <p:nvPicPr>
                <p:cNvPr id="31" name="Picture 27" descr="light_shadow"/>
                <p:cNvPicPr>
                  <a:picLocks noChangeAspect="1" noChangeArrowheads="1"/>
                </p:cNvPicPr>
                <p:nvPr/>
              </p:nvPicPr>
              <p:blipFill>
                <a:blip r:embed="rId2" cstate="print">
                  <a:lum bright="-78000" contrast="-78000"/>
                </a:blip>
                <a:srcRect/>
                <a:stretch>
                  <a:fillRect/>
                </a:stretch>
              </p:blipFill>
              <p:spPr bwMode="gray">
                <a:xfrm>
                  <a:off x="291" y="2781"/>
                  <a:ext cx="858" cy="238"/>
                </a:xfrm>
                <a:prstGeom prst="rect">
                  <a:avLst/>
                </a:prstGeom>
                <a:noFill/>
              </p:spPr>
            </p:pic>
            <p:pic>
              <p:nvPicPr>
                <p:cNvPr id="32" name="Picture 28" descr="circuler_1"/>
                <p:cNvPicPr>
                  <a:picLocks noChangeAspect="1" noChangeArrowheads="1"/>
                </p:cNvPicPr>
                <p:nvPr/>
              </p:nvPicPr>
              <p:blipFill>
                <a:blip r:embed="rId3" cstate="print"/>
                <a:srcRect/>
                <a:stretch>
                  <a:fillRect/>
                </a:stretch>
              </p:blipFill>
              <p:spPr bwMode="gray">
                <a:xfrm>
                  <a:off x="192" y="1917"/>
                  <a:ext cx="1042" cy="1016"/>
                </a:xfrm>
                <a:prstGeom prst="rect">
                  <a:avLst/>
                </a:prstGeom>
                <a:noFill/>
              </p:spPr>
            </p:pic>
            <p:sp>
              <p:nvSpPr>
                <p:cNvPr id="33" name="Oval 29"/>
                <p:cNvSpPr>
                  <a:spLocks noChangeArrowheads="1"/>
                </p:cNvSpPr>
                <p:nvPr/>
              </p:nvSpPr>
              <p:spPr bwMode="gray">
                <a:xfrm>
                  <a:off x="192" y="1917"/>
                  <a:ext cx="1035" cy="1019"/>
                </a:xfrm>
                <a:prstGeom prst="ellipse">
                  <a:avLst/>
                </a:prstGeom>
                <a:gradFill rotWithShape="1">
                  <a:gsLst>
                    <a:gs pos="0">
                      <a:srgbClr val="FCA96A">
                        <a:gamma/>
                        <a:shade val="46275"/>
                        <a:invGamma/>
                        <a:alpha val="89999"/>
                      </a:srgbClr>
                    </a:gs>
                    <a:gs pos="50000">
                      <a:srgbClr val="FCA96A">
                        <a:alpha val="55000"/>
                      </a:srgbClr>
                    </a:gs>
                    <a:gs pos="100000">
                      <a:srgbClr val="FCA96A">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30" name="Picture 30" descr="Picture2"/>
              <p:cNvPicPr>
                <a:picLocks noChangeAspect="1" noChangeArrowheads="1"/>
              </p:cNvPicPr>
              <p:nvPr/>
            </p:nvPicPr>
            <p:blipFill>
              <a:blip r:embed="rId4"/>
              <a:srcRect/>
              <a:stretch>
                <a:fillRect/>
              </a:stretch>
            </p:blipFill>
            <p:spPr bwMode="gray">
              <a:xfrm>
                <a:off x="296" y="1927"/>
                <a:ext cx="823" cy="360"/>
              </a:xfrm>
              <a:prstGeom prst="rect">
                <a:avLst/>
              </a:prstGeom>
              <a:noFill/>
            </p:spPr>
          </p:pic>
        </p:grpSp>
        <p:sp>
          <p:nvSpPr>
            <p:cNvPr id="34" name="Rectangle 31"/>
            <p:cNvSpPr>
              <a:spLocks noChangeArrowheads="1"/>
            </p:cNvSpPr>
            <p:nvPr/>
          </p:nvSpPr>
          <p:spPr bwMode="gray">
            <a:xfrm>
              <a:off x="1214438" y="2126456"/>
              <a:ext cx="1217000" cy="400110"/>
            </a:xfrm>
            <a:prstGeom prst="rect">
              <a:avLst/>
            </a:prstGeom>
            <a:noFill/>
            <a:ln w="9525">
              <a:noFill/>
              <a:miter lim="800000"/>
              <a:headEnd/>
              <a:tailEnd/>
            </a:ln>
            <a:effectLst/>
          </p:spPr>
          <p:txBody>
            <a:bodyPr wrap="none">
              <a:spAutoFit/>
            </a:bodyPr>
            <a:lstStyle/>
            <a:p>
              <a:pPr>
                <a:buClr>
                  <a:srgbClr val="FF0066"/>
                </a:buClr>
                <a:buSzPct val="75000"/>
                <a:buFont typeface="Arial" charset="0"/>
                <a:buNone/>
              </a:pPr>
              <a:r>
                <a:rPr lang="zh-CN" altLang="en-US" sz="2000" b="1" dirty="0" smtClean="0">
                  <a:solidFill>
                    <a:srgbClr val="080808"/>
                  </a:solidFill>
                </a:rPr>
                <a:t>大处着眼</a:t>
              </a:r>
              <a:endParaRPr lang="en-US" sz="2000" b="1" dirty="0">
                <a:solidFill>
                  <a:srgbClr val="080808"/>
                </a:solidFill>
              </a:endParaRPr>
            </a:p>
          </p:txBody>
        </p:sp>
        <p:sp>
          <p:nvSpPr>
            <p:cNvPr id="35" name="Rectangle 32"/>
            <p:cNvSpPr>
              <a:spLocks noChangeArrowheads="1"/>
            </p:cNvSpPr>
            <p:nvPr/>
          </p:nvSpPr>
          <p:spPr bwMode="gray">
            <a:xfrm>
              <a:off x="6562725" y="2126456"/>
              <a:ext cx="1217000" cy="400110"/>
            </a:xfrm>
            <a:prstGeom prst="rect">
              <a:avLst/>
            </a:prstGeom>
            <a:noFill/>
            <a:ln w="9525">
              <a:noFill/>
              <a:miter lim="800000"/>
              <a:headEnd/>
              <a:tailEnd/>
            </a:ln>
            <a:effectLst/>
          </p:spPr>
          <p:txBody>
            <a:bodyPr wrap="none">
              <a:spAutoFit/>
            </a:bodyPr>
            <a:lstStyle/>
            <a:p>
              <a:pPr>
                <a:buClr>
                  <a:srgbClr val="FF0066"/>
                </a:buClr>
                <a:buSzPct val="75000"/>
                <a:buFont typeface="Arial" charset="0"/>
                <a:buNone/>
              </a:pPr>
              <a:r>
                <a:rPr lang="zh-CN" altLang="en-US" sz="2000" b="1" dirty="0" smtClean="0">
                  <a:solidFill>
                    <a:srgbClr val="080808"/>
                  </a:solidFill>
                </a:rPr>
                <a:t>小处着手</a:t>
              </a:r>
              <a:endParaRPr lang="en-US" sz="2000" b="1" dirty="0">
                <a:solidFill>
                  <a:srgbClr val="080808"/>
                </a:solidFill>
              </a:endParaRPr>
            </a:p>
          </p:txBody>
        </p:sp>
        <p:grpSp>
          <p:nvGrpSpPr>
            <p:cNvPr id="42" name="Group 39"/>
            <p:cNvGrpSpPr>
              <a:grpSpLocks/>
            </p:cNvGrpSpPr>
            <p:nvPr/>
          </p:nvGrpSpPr>
          <p:grpSpPr bwMode="auto">
            <a:xfrm>
              <a:off x="3638548" y="1865313"/>
              <a:ext cx="1654175" cy="1749425"/>
              <a:chOff x="-438" y="1917"/>
              <a:chExt cx="1042" cy="1102"/>
            </a:xfrm>
          </p:grpSpPr>
          <p:grpSp>
            <p:nvGrpSpPr>
              <p:cNvPr id="43" name="Group 40"/>
              <p:cNvGrpSpPr>
                <a:grpSpLocks/>
              </p:cNvGrpSpPr>
              <p:nvPr/>
            </p:nvGrpSpPr>
            <p:grpSpPr bwMode="auto">
              <a:xfrm>
                <a:off x="-438" y="1917"/>
                <a:ext cx="1042" cy="1102"/>
                <a:chOff x="-438" y="1917"/>
                <a:chExt cx="1042" cy="1102"/>
              </a:xfrm>
            </p:grpSpPr>
            <p:pic>
              <p:nvPicPr>
                <p:cNvPr id="45" name="Picture 41" descr="light_shadow"/>
                <p:cNvPicPr>
                  <a:picLocks noChangeAspect="1" noChangeArrowheads="1"/>
                </p:cNvPicPr>
                <p:nvPr/>
              </p:nvPicPr>
              <p:blipFill>
                <a:blip r:embed="rId5" cstate="print">
                  <a:lum bright="-78000" contrast="-78000"/>
                </a:blip>
                <a:srcRect/>
                <a:stretch>
                  <a:fillRect/>
                </a:stretch>
              </p:blipFill>
              <p:spPr bwMode="gray">
                <a:xfrm>
                  <a:off x="-339" y="2781"/>
                  <a:ext cx="858" cy="238"/>
                </a:xfrm>
                <a:prstGeom prst="rect">
                  <a:avLst/>
                </a:prstGeom>
                <a:noFill/>
              </p:spPr>
            </p:pic>
            <p:pic>
              <p:nvPicPr>
                <p:cNvPr id="46" name="Picture 42" descr="circuler_1"/>
                <p:cNvPicPr>
                  <a:picLocks noChangeAspect="1" noChangeArrowheads="1"/>
                </p:cNvPicPr>
                <p:nvPr/>
              </p:nvPicPr>
              <p:blipFill>
                <a:blip r:embed="rId6"/>
                <a:srcRect/>
                <a:stretch>
                  <a:fillRect/>
                </a:stretch>
              </p:blipFill>
              <p:spPr bwMode="gray">
                <a:xfrm>
                  <a:off x="-438" y="1917"/>
                  <a:ext cx="1042" cy="1016"/>
                </a:xfrm>
                <a:prstGeom prst="rect">
                  <a:avLst/>
                </a:prstGeom>
                <a:noFill/>
              </p:spPr>
            </p:pic>
            <p:sp>
              <p:nvSpPr>
                <p:cNvPr id="47" name="Oval 43"/>
                <p:cNvSpPr>
                  <a:spLocks noChangeArrowheads="1"/>
                </p:cNvSpPr>
                <p:nvPr/>
              </p:nvSpPr>
              <p:spPr bwMode="gray">
                <a:xfrm>
                  <a:off x="-438" y="1917"/>
                  <a:ext cx="1035" cy="1019"/>
                </a:xfrm>
                <a:prstGeom prst="ellipse">
                  <a:avLst/>
                </a:prstGeom>
                <a:gradFill rotWithShape="1">
                  <a:gsLst>
                    <a:gs pos="0">
                      <a:srgbClr val="6FF775">
                        <a:gamma/>
                        <a:shade val="46275"/>
                        <a:invGamma/>
                        <a:alpha val="89999"/>
                      </a:srgbClr>
                    </a:gs>
                    <a:gs pos="50000">
                      <a:srgbClr val="6FF775">
                        <a:alpha val="55000"/>
                      </a:srgbClr>
                    </a:gs>
                    <a:gs pos="100000">
                      <a:srgbClr val="6FF775">
                        <a:gamma/>
                        <a:shade val="46275"/>
                        <a:invGamma/>
                        <a:alpha val="89999"/>
                      </a:srgbClr>
                    </a:gs>
                  </a:gsLst>
                  <a:lin ang="5400000" scaled="1"/>
                </a:gradFill>
                <a:ln w="9525" algn="ctr">
                  <a:noFill/>
                  <a:round/>
                  <a:headEnd/>
                  <a:tailEnd/>
                </a:ln>
                <a:effectLst/>
              </p:spPr>
              <p:txBody>
                <a:bodyPr wrap="none" anchor="ctr"/>
                <a:lstStyle/>
                <a:p>
                  <a:endParaRPr lang="en-US"/>
                </a:p>
              </p:txBody>
            </p:sp>
          </p:grpSp>
          <p:pic>
            <p:nvPicPr>
              <p:cNvPr id="44" name="Picture 44" descr="Picture2"/>
              <p:cNvPicPr>
                <a:picLocks noChangeAspect="1" noChangeArrowheads="1"/>
              </p:cNvPicPr>
              <p:nvPr/>
            </p:nvPicPr>
            <p:blipFill>
              <a:blip r:embed="rId4"/>
              <a:srcRect/>
              <a:stretch>
                <a:fillRect/>
              </a:stretch>
            </p:blipFill>
            <p:spPr bwMode="gray">
              <a:xfrm>
                <a:off x="-334" y="1927"/>
                <a:ext cx="823" cy="360"/>
              </a:xfrm>
              <a:prstGeom prst="rect">
                <a:avLst/>
              </a:prstGeom>
              <a:noFill/>
            </p:spPr>
          </p:pic>
        </p:grpSp>
        <p:sp>
          <p:nvSpPr>
            <p:cNvPr id="49" name="Rectangle 46"/>
            <p:cNvSpPr>
              <a:spLocks noChangeArrowheads="1"/>
            </p:cNvSpPr>
            <p:nvPr/>
          </p:nvSpPr>
          <p:spPr bwMode="gray">
            <a:xfrm>
              <a:off x="3825741" y="2495550"/>
              <a:ext cx="1217001" cy="400110"/>
            </a:xfrm>
            <a:prstGeom prst="rect">
              <a:avLst/>
            </a:prstGeom>
            <a:noFill/>
            <a:ln w="9525">
              <a:noFill/>
              <a:miter lim="800000"/>
              <a:headEnd/>
              <a:tailEnd/>
            </a:ln>
            <a:effectLst/>
          </p:spPr>
          <p:txBody>
            <a:bodyPr wrap="none">
              <a:spAutoFit/>
            </a:bodyPr>
            <a:lstStyle/>
            <a:p>
              <a:pPr algn="ctr">
                <a:buClr>
                  <a:srgbClr val="FF0066"/>
                </a:buClr>
                <a:buSzPct val="75000"/>
                <a:buFont typeface="Arial" charset="0"/>
                <a:buNone/>
              </a:pPr>
              <a:r>
                <a:rPr lang="zh-CN" altLang="en-US" sz="2000" b="1" dirty="0" smtClean="0">
                  <a:solidFill>
                    <a:srgbClr val="080808"/>
                  </a:solidFill>
                </a:rPr>
                <a:t>便捷高效</a:t>
              </a:r>
              <a:endParaRPr lang="en-US" sz="2000" b="1" dirty="0">
                <a:solidFill>
                  <a:srgbClr val="080808"/>
                </a:solidFill>
              </a:endParaRPr>
            </a:p>
          </p:txBody>
        </p:sp>
      </p:grpSp>
      <p:sp>
        <p:nvSpPr>
          <p:cNvPr id="54" name="Rectangle 53"/>
          <p:cNvSpPr/>
          <p:nvPr/>
        </p:nvSpPr>
        <p:spPr>
          <a:xfrm>
            <a:off x="2226421" y="5357826"/>
            <a:ext cx="4680000" cy="1214446"/>
          </a:xfrm>
          <a:prstGeom prst="rect">
            <a:avLst/>
          </a:prstGeom>
          <a:solidFill>
            <a:schemeClr val="accent1">
              <a:lumMod val="20000"/>
              <a:lumOff val="80000"/>
            </a:schemeClr>
          </a:solidFill>
          <a:ln w="127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r>
              <a:rPr lang="zh-CN" altLang="en-US" sz="1600" dirty="0" smtClean="0">
                <a:solidFill>
                  <a:schemeClr val="tx1"/>
                </a:solidFill>
              </a:rPr>
              <a:t>在线购物不仅是目的还是</a:t>
            </a:r>
            <a:r>
              <a:rPr lang="zh-CN" altLang="en-US" sz="1600" dirty="0">
                <a:solidFill>
                  <a:schemeClr val="tx1"/>
                </a:solidFill>
              </a:rPr>
              <a:t>手段，在线购物的实现需考虑便捷性和轻电商，提供多样灵活便捷的在线购物体验，同时尽可能的整合服务，全网品牌</a:t>
            </a:r>
            <a:r>
              <a:rPr lang="zh-CN" altLang="en-US" sz="1600" dirty="0" smtClean="0">
                <a:solidFill>
                  <a:schemeClr val="tx1"/>
                </a:solidFill>
              </a:rPr>
              <a:t>塑造。</a:t>
            </a:r>
            <a:endParaRPr lang="en-US" altLang="zh-CN" sz="1600" dirty="0">
              <a:solidFill>
                <a:schemeClr val="tx1"/>
              </a:solidFill>
            </a:endParaRPr>
          </a:p>
          <a:p>
            <a:pPr algn="ctr"/>
            <a:endParaRPr lang="en-US" sz="1600" dirty="0">
              <a:solidFill>
                <a:schemeClr val="tx1"/>
              </a:solidFill>
            </a:endParaRPr>
          </a:p>
        </p:txBody>
      </p:sp>
      <p:sp>
        <p:nvSpPr>
          <p:cNvPr id="55" name="Curved Down Arrow 54"/>
          <p:cNvSpPr/>
          <p:nvPr/>
        </p:nvSpPr>
        <p:spPr>
          <a:xfrm rot="16200000">
            <a:off x="1103604" y="4926950"/>
            <a:ext cx="1512000" cy="576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Curved Down Arrow 55"/>
          <p:cNvSpPr/>
          <p:nvPr/>
        </p:nvSpPr>
        <p:spPr>
          <a:xfrm rot="5400000">
            <a:off x="6528396" y="4926950"/>
            <a:ext cx="1512000" cy="576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p:cNvSpPr/>
          <p:nvPr/>
        </p:nvSpPr>
        <p:spPr>
          <a:xfrm>
            <a:off x="71406" y="4822041"/>
            <a:ext cx="1571636" cy="78581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导购</a:t>
            </a:r>
            <a:endParaRPr lang="en-US" sz="1600" dirty="0">
              <a:solidFill>
                <a:schemeClr val="tx1"/>
              </a:solidFill>
            </a:endParaRPr>
          </a:p>
        </p:txBody>
      </p:sp>
      <p:sp>
        <p:nvSpPr>
          <p:cNvPr id="58" name="Rectangle 57"/>
          <p:cNvSpPr/>
          <p:nvPr/>
        </p:nvSpPr>
        <p:spPr>
          <a:xfrm>
            <a:off x="7500958" y="4822041"/>
            <a:ext cx="1571636" cy="78581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分析数据来源</a:t>
            </a:r>
            <a:endParaRPr lang="en-US" sz="1600" dirty="0">
              <a:solidFill>
                <a:schemeClr val="tx1"/>
              </a:solidFill>
            </a:endParaRPr>
          </a:p>
        </p:txBody>
      </p:sp>
      <p:sp>
        <p:nvSpPr>
          <p:cNvPr id="59" name="Slide Number Placeholder 58"/>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9</a:t>
            </a:fld>
            <a:endParaRPr lang="en-US" altLang="zh-CN" dirty="0">
              <a:solidFill>
                <a:srgbClr val="333333"/>
              </a:solidFill>
            </a:endParaRPr>
          </a:p>
        </p:txBody>
      </p:sp>
      <p:sp>
        <p:nvSpPr>
          <p:cNvPr id="60" name="Rectangle 2"/>
          <p:cNvSpPr txBox="1">
            <a:spLocks noChangeArrowheads="1"/>
          </p:cNvSpPr>
          <p:nvPr/>
        </p:nvSpPr>
        <p:spPr bwMode="gray">
          <a:xfrm>
            <a:off x="642910" y="228600"/>
            <a:ext cx="7929618" cy="487363"/>
          </a:xfrm>
          <a:prstGeom prst="rect">
            <a:avLst/>
          </a:prstGeom>
          <a:noFill/>
          <a:ln w="9525">
            <a:noFill/>
            <a:miter lim="800000"/>
            <a:headEnd/>
            <a:tailEnd/>
          </a:ln>
          <a:effectLst>
            <a:outerShdw dist="35921" dir="2700000" algn="ctr" rotWithShape="0">
              <a:srgbClr val="000000"/>
            </a:outerShdw>
          </a:effectLst>
        </p:spPr>
        <p:txBody>
          <a:bodyPr vert="horz" wrap="square" lIns="91440" tIns="45720" rIns="91440" bIns="45720" numCol="1" anchor="ctr" anchorCtr="0" compatLnSpc="1">
            <a:prstTxWarp prst="textNoShape">
              <a:avLst/>
            </a:prstTxWarp>
          </a:bodyPr>
          <a:lstStyle/>
          <a:p>
            <a:pPr lvl="0" fontAlgn="base">
              <a:spcBef>
                <a:spcPct val="0"/>
              </a:spcBef>
              <a:spcAft>
                <a:spcPct val="0"/>
              </a:spcAft>
            </a:pPr>
            <a:r>
              <a:rPr lang="zh-CN" altLang="en-US" sz="2800" b="1" kern="0" dirty="0">
                <a:solidFill>
                  <a:srgbClr val="FFFFFF"/>
                </a:solidFill>
              </a:rPr>
              <a:t>另外我们认为聚芳永官网的在线购物战略应依托旗舰店为活动平台，便捷高效</a:t>
            </a:r>
            <a:endParaRPr lang="en-US" altLang="zh-CN" sz="2800" b="1" kern="0" dirty="0">
              <a:solidFill>
                <a:schemeClr val="bg1"/>
              </a:solidFill>
            </a:endParaRPr>
          </a:p>
        </p:txBody>
      </p:sp>
    </p:spTree>
    <p:extLst>
      <p:ext uri="{BB962C8B-B14F-4D97-AF65-F5344CB8AC3E}">
        <p14:creationId xmlns:p14="http://schemas.microsoft.com/office/powerpoint/2010/main" val="7036624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noChangeArrowheads="1"/>
          </p:cNvSpPr>
          <p:nvPr/>
        </p:nvSpPr>
        <p:spPr bwMode="auto">
          <a:xfrm>
            <a:off x="785786" y="2705857"/>
            <a:ext cx="6072230" cy="592142"/>
          </a:xfrm>
          <a:prstGeom prst="roundRect">
            <a:avLst>
              <a:gd name="adj" fmla="val 16667"/>
            </a:avLst>
          </a:prstGeom>
          <a:solidFill>
            <a:schemeClr val="accent1">
              <a:lumMod val="20000"/>
              <a:lumOff val="80000"/>
            </a:schemeClr>
          </a:solidFill>
          <a:ln w="9525" algn="ctr">
            <a:solidFill>
              <a:schemeClr val="accent1"/>
            </a:solidFill>
            <a:round/>
            <a:headEnd/>
            <a:tailEnd/>
          </a:ln>
          <a:effectLst>
            <a:outerShdw blurRad="50800" dist="38100" dir="2700000" algn="tl" rotWithShape="0">
              <a:prstClr val="black">
                <a:alpha val="40000"/>
              </a:prstClr>
            </a:outerShdw>
          </a:effectLst>
        </p:spPr>
        <p:txBody>
          <a:bodyPr wrap="none"/>
          <a:lstStyle/>
          <a:p>
            <a:pPr algn="ctr">
              <a:spcBef>
                <a:spcPct val="50000"/>
              </a:spcBef>
            </a:pPr>
            <a:endParaRPr lang="en-US" altLang="zh-CN">
              <a:solidFill>
                <a:srgbClr val="3C3C3C"/>
              </a:solidFill>
            </a:endParaRPr>
          </a:p>
        </p:txBody>
      </p:sp>
      <p:sp>
        <p:nvSpPr>
          <p:cNvPr id="212994" name="Rectangle 2"/>
          <p:cNvSpPr>
            <a:spLocks noGrp="1" noChangeArrowheads="1"/>
          </p:cNvSpPr>
          <p:nvPr>
            <p:ph type="title"/>
          </p:nvPr>
        </p:nvSpPr>
        <p:spPr>
          <a:xfrm>
            <a:off x="902958" y="260648"/>
            <a:ext cx="7086600" cy="487363"/>
          </a:xfrm>
        </p:spPr>
        <p:txBody>
          <a:bodyPr/>
          <a:lstStyle/>
          <a:p>
            <a:pPr>
              <a:defRPr/>
            </a:pPr>
            <a:r>
              <a:rPr lang="zh-CN" altLang="en-US" sz="2800" b="1" dirty="0" smtClean="0">
                <a:latin typeface="+mj-ea"/>
              </a:rPr>
              <a:t>目录</a:t>
            </a:r>
            <a:endParaRPr lang="en-US" altLang="zh-CN" sz="2800" b="1" dirty="0">
              <a:latin typeface="+mj-ea"/>
            </a:endParaRPr>
          </a:p>
        </p:txBody>
      </p:sp>
      <p:sp>
        <p:nvSpPr>
          <p:cNvPr id="212995" name="Rectangle 3"/>
          <p:cNvSpPr>
            <a:spLocks noGrp="1" noChangeArrowheads="1"/>
          </p:cNvSpPr>
          <p:nvPr>
            <p:ph type="body" idx="1"/>
          </p:nvPr>
        </p:nvSpPr>
        <p:spPr bwMode="gray">
          <a:xfrm>
            <a:off x="971600" y="1916832"/>
            <a:ext cx="6643734" cy="2232248"/>
          </a:xfrm>
          <a:noFill/>
        </p:spPr>
        <p:txBody>
          <a:bodyPr/>
          <a:lstStyle/>
          <a:p>
            <a:pPr>
              <a:lnSpc>
                <a:spcPct val="150000"/>
              </a:lnSpc>
            </a:pPr>
            <a:r>
              <a:rPr lang="zh-CN" altLang="en-US" b="1" dirty="0"/>
              <a:t>聚芳永官网项目</a:t>
            </a:r>
            <a:r>
              <a:rPr lang="zh-CN" altLang="en-US" b="1" dirty="0" smtClean="0"/>
              <a:t>背景理解</a:t>
            </a:r>
            <a:endParaRPr lang="en-US" altLang="zh-CN" b="1" dirty="0" smtClean="0"/>
          </a:p>
          <a:p>
            <a:pPr>
              <a:lnSpc>
                <a:spcPct val="150000"/>
              </a:lnSpc>
            </a:pPr>
            <a:r>
              <a:rPr lang="zh-CN" altLang="en-US" b="1" dirty="0"/>
              <a:t>聚芳永官网</a:t>
            </a:r>
            <a:r>
              <a:rPr lang="zh-CN" altLang="en-US" b="1" dirty="0" smtClean="0">
                <a:ea typeface="宋体" pitchFamily="2" charset="-122"/>
              </a:rPr>
              <a:t>项目</a:t>
            </a:r>
            <a:r>
              <a:rPr lang="zh-CN" altLang="en-US" b="1" dirty="0" smtClean="0">
                <a:ea typeface="宋体" pitchFamily="2" charset="-122"/>
              </a:rPr>
              <a:t>实施建议</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为什么选择乐其</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项目</a:t>
            </a:r>
            <a:r>
              <a:rPr lang="zh-CN" altLang="en-US" b="1" dirty="0">
                <a:ea typeface="宋体" pitchFamily="2" charset="-122"/>
              </a:rPr>
              <a:t>报价</a:t>
            </a:r>
            <a:r>
              <a:rPr lang="en-US" altLang="zh-CN" dirty="0" smtClean="0">
                <a:ea typeface="宋体" pitchFamily="2" charset="-122"/>
              </a:rPr>
              <a:t/>
            </a:r>
            <a:br>
              <a:rPr lang="en-US" altLang="zh-CN" dirty="0" smtClean="0">
                <a:ea typeface="宋体" pitchFamily="2" charset="-122"/>
              </a:rPr>
            </a:br>
            <a:endParaRPr lang="en-US" altLang="zh-CN" dirty="0" smtClean="0">
              <a:ea typeface="宋体" pitchFamily="2" charset="-122"/>
            </a:endParaRPr>
          </a:p>
        </p:txBody>
      </p:sp>
      <p:sp>
        <p:nvSpPr>
          <p:cNvPr id="6" name="Slide Number Placeholder 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10</a:t>
            </a:fld>
            <a:endParaRPr lang="en-US" altLang="zh-CN" dirty="0">
              <a:solidFill>
                <a:srgbClr val="333333"/>
              </a:solidFill>
            </a:endParaRPr>
          </a:p>
        </p:txBody>
      </p:sp>
    </p:spTree>
    <p:extLst>
      <p:ext uri="{BB962C8B-B14F-4D97-AF65-F5344CB8AC3E}">
        <p14:creationId xmlns:p14="http://schemas.microsoft.com/office/powerpoint/2010/main" val="2726575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2" name="AutoShape 11"/>
          <p:cNvCxnSpPr>
            <a:cxnSpLocks noChangeShapeType="1"/>
            <a:endCxn id="18" idx="2"/>
          </p:cNvCxnSpPr>
          <p:nvPr/>
        </p:nvCxnSpPr>
        <p:spPr bwMode="auto">
          <a:xfrm flipV="1">
            <a:off x="2285984" y="2653300"/>
            <a:ext cx="272257" cy="1642055"/>
          </a:xfrm>
          <a:prstGeom prst="bentConnector2">
            <a:avLst/>
          </a:prstGeom>
          <a:noFill/>
          <a:ln w="12700">
            <a:solidFill>
              <a:schemeClr val="tx1"/>
            </a:solidFill>
            <a:miter lim="800000"/>
            <a:headEnd/>
            <a:tailEnd type="triangle" w="med" len="med"/>
          </a:ln>
        </p:spPr>
      </p:cxnSp>
      <p:cxnSp>
        <p:nvCxnSpPr>
          <p:cNvPr id="272" name="AutoShape 11"/>
          <p:cNvCxnSpPr>
            <a:cxnSpLocks noChangeShapeType="1"/>
            <a:endCxn id="18" idx="2"/>
          </p:cNvCxnSpPr>
          <p:nvPr/>
        </p:nvCxnSpPr>
        <p:spPr bwMode="auto">
          <a:xfrm flipV="1">
            <a:off x="2285984" y="2653300"/>
            <a:ext cx="272257" cy="2520742"/>
          </a:xfrm>
          <a:prstGeom prst="bentConnector2">
            <a:avLst/>
          </a:prstGeom>
          <a:noFill/>
          <a:ln w="12700">
            <a:solidFill>
              <a:schemeClr val="tx1"/>
            </a:solidFill>
            <a:miter lim="800000"/>
            <a:headEnd/>
            <a:tailEnd type="triangle" w="med" len="med"/>
          </a:ln>
        </p:spPr>
      </p:cxnSp>
      <p:cxnSp>
        <p:nvCxnSpPr>
          <p:cNvPr id="269" name="AutoShape 11"/>
          <p:cNvCxnSpPr>
            <a:cxnSpLocks noChangeShapeType="1"/>
            <a:stCxn id="18" idx="3"/>
          </p:cNvCxnSpPr>
          <p:nvPr/>
        </p:nvCxnSpPr>
        <p:spPr bwMode="auto">
          <a:xfrm>
            <a:off x="2687622" y="2523919"/>
            <a:ext cx="312742" cy="2654881"/>
          </a:xfrm>
          <a:prstGeom prst="bentConnector3">
            <a:avLst>
              <a:gd name="adj1" fmla="val 50000"/>
            </a:avLst>
          </a:prstGeom>
          <a:noFill/>
          <a:ln w="12700">
            <a:solidFill>
              <a:schemeClr val="tx1"/>
            </a:solidFill>
            <a:miter lim="800000"/>
            <a:headEnd/>
            <a:tailEnd type="triangle" w="med" len="med"/>
          </a:ln>
        </p:spPr>
      </p:cxnSp>
      <p:cxnSp>
        <p:nvCxnSpPr>
          <p:cNvPr id="266" name="AutoShape 11"/>
          <p:cNvCxnSpPr>
            <a:cxnSpLocks noChangeShapeType="1"/>
            <a:stCxn id="18" idx="3"/>
          </p:cNvCxnSpPr>
          <p:nvPr/>
        </p:nvCxnSpPr>
        <p:spPr bwMode="auto">
          <a:xfrm>
            <a:off x="2687622" y="2523919"/>
            <a:ext cx="312742" cy="1792867"/>
          </a:xfrm>
          <a:prstGeom prst="bentConnector3">
            <a:avLst>
              <a:gd name="adj1" fmla="val 50000"/>
            </a:avLst>
          </a:prstGeom>
          <a:noFill/>
          <a:ln w="12700">
            <a:solidFill>
              <a:schemeClr val="tx1"/>
            </a:solidFill>
            <a:miter lim="800000"/>
            <a:headEnd/>
            <a:tailEnd type="triangle" w="med" len="med"/>
          </a:ln>
        </p:spPr>
      </p:cxnSp>
      <p:sp>
        <p:nvSpPr>
          <p:cNvPr id="3" name="Title 2"/>
          <p:cNvSpPr>
            <a:spLocks noGrp="1"/>
          </p:cNvSpPr>
          <p:nvPr>
            <p:ph type="title"/>
          </p:nvPr>
        </p:nvSpPr>
        <p:spPr/>
        <p:txBody>
          <a:bodyPr/>
          <a:lstStyle/>
          <a:p>
            <a:r>
              <a:rPr lang="zh-CN" altLang="en-US" dirty="0" smtClean="0"/>
              <a:t>我们建议将项目分为三大阶段完成聚芳永官网的建设</a:t>
            </a:r>
            <a:endParaRPr lang="en-US" dirty="0"/>
          </a:p>
        </p:txBody>
      </p:sp>
      <p:sp>
        <p:nvSpPr>
          <p:cNvPr id="4" name="Slide Number Placeholder 3"/>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11</a:t>
            </a:fld>
            <a:endParaRPr lang="en-US" altLang="zh-CN" dirty="0">
              <a:solidFill>
                <a:srgbClr val="333333"/>
              </a:solidFill>
            </a:endParaRPr>
          </a:p>
        </p:txBody>
      </p:sp>
      <p:cxnSp>
        <p:nvCxnSpPr>
          <p:cNvPr id="7" name="AutoShape 11"/>
          <p:cNvCxnSpPr>
            <a:cxnSpLocks noChangeShapeType="1"/>
          </p:cNvCxnSpPr>
          <p:nvPr/>
        </p:nvCxnSpPr>
        <p:spPr bwMode="auto">
          <a:xfrm>
            <a:off x="690563" y="2523919"/>
            <a:ext cx="551421" cy="2650123"/>
          </a:xfrm>
          <a:prstGeom prst="bentConnector3">
            <a:avLst>
              <a:gd name="adj1" fmla="val 50000"/>
            </a:avLst>
          </a:prstGeom>
          <a:noFill/>
          <a:ln w="12700">
            <a:solidFill>
              <a:schemeClr val="tx1"/>
            </a:solidFill>
            <a:miter lim="800000"/>
            <a:headEnd/>
            <a:tailEnd type="triangle" w="med" len="med"/>
          </a:ln>
        </p:spPr>
      </p:cxnSp>
      <p:sp>
        <p:nvSpPr>
          <p:cNvPr id="8" name="AutoShape 18"/>
          <p:cNvSpPr>
            <a:spLocks noChangeArrowheads="1"/>
          </p:cNvSpPr>
          <p:nvPr>
            <p:custDataLst>
              <p:tags r:id="rId1"/>
            </p:custDataLst>
          </p:nvPr>
        </p:nvSpPr>
        <p:spPr bwMode="auto">
          <a:xfrm>
            <a:off x="6715140" y="6451623"/>
            <a:ext cx="228600" cy="249238"/>
          </a:xfrm>
          <a:prstGeom prst="diamond">
            <a:avLst/>
          </a:prstGeom>
          <a:solidFill>
            <a:srgbClr val="993300"/>
          </a:solidFill>
          <a:ln w="6350" algn="ctr">
            <a:noFill/>
            <a:miter lim="800000"/>
            <a:headEnd/>
            <a:tailEnd/>
          </a:ln>
        </p:spPr>
        <p:txBody>
          <a:bodyPr wrap="none" anchor="ctr"/>
          <a:lstStyle/>
          <a:p>
            <a:pPr algn="ctr">
              <a:buFont typeface="Wingdings" pitchFamily="2" charset="2"/>
              <a:buNone/>
              <a:defRPr/>
            </a:pPr>
            <a:endParaRPr lang="en-GB" altLang="zh-CN" sz="500" b="1">
              <a:latin typeface="+mj-ea"/>
              <a:ea typeface="+mj-ea"/>
            </a:endParaRPr>
          </a:p>
        </p:txBody>
      </p:sp>
      <p:sp>
        <p:nvSpPr>
          <p:cNvPr id="9" name="Text Box 19"/>
          <p:cNvSpPr txBox="1">
            <a:spLocks noChangeArrowheads="1"/>
          </p:cNvSpPr>
          <p:nvPr>
            <p:custDataLst>
              <p:tags r:id="rId2"/>
            </p:custDataLst>
          </p:nvPr>
        </p:nvSpPr>
        <p:spPr bwMode="auto">
          <a:xfrm>
            <a:off x="6931040" y="6438923"/>
            <a:ext cx="954088" cy="276225"/>
          </a:xfrm>
          <a:prstGeom prst="rect">
            <a:avLst/>
          </a:prstGeom>
          <a:noFill/>
          <a:ln w="6350" algn="ctr">
            <a:noFill/>
            <a:miter lim="800000"/>
            <a:headEnd/>
            <a:tailEnd/>
          </a:ln>
        </p:spPr>
        <p:txBody>
          <a:bodyPr wrap="none">
            <a:spAutoFit/>
          </a:bodyPr>
          <a:lstStyle/>
          <a:p>
            <a:pPr>
              <a:buFont typeface="Wingdings" pitchFamily="2" charset="2"/>
              <a:buNone/>
              <a:defRPr/>
            </a:pPr>
            <a:r>
              <a:rPr lang="zh-CN" altLang="en-US" sz="1200" b="1" dirty="0">
                <a:solidFill>
                  <a:srgbClr val="3B3B3B"/>
                </a:solidFill>
                <a:latin typeface="+mj-ea"/>
                <a:ea typeface="+mj-ea"/>
              </a:rPr>
              <a:t>项目里程碑</a:t>
            </a:r>
            <a:endParaRPr lang="en-GB" altLang="zh-CN" sz="1200" b="1" dirty="0">
              <a:solidFill>
                <a:srgbClr val="3B3B3B"/>
              </a:solidFill>
              <a:latin typeface="+mj-ea"/>
              <a:ea typeface="+mj-ea"/>
            </a:endParaRPr>
          </a:p>
        </p:txBody>
      </p:sp>
      <p:sp>
        <p:nvSpPr>
          <p:cNvPr id="10" name="Text Box 27"/>
          <p:cNvSpPr txBox="1">
            <a:spLocks noChangeArrowheads="1"/>
          </p:cNvSpPr>
          <p:nvPr>
            <p:custDataLst>
              <p:tags r:id="rId3"/>
            </p:custDataLst>
          </p:nvPr>
        </p:nvSpPr>
        <p:spPr bwMode="auto">
          <a:xfrm>
            <a:off x="23786" y="1857364"/>
            <a:ext cx="762000" cy="260350"/>
          </a:xfrm>
          <a:prstGeom prst="rect">
            <a:avLst/>
          </a:prstGeom>
          <a:noFill/>
          <a:ln w="9525" algn="ctr">
            <a:noFill/>
            <a:miter lim="800000"/>
            <a:headEnd/>
            <a:tailEnd/>
          </a:ln>
        </p:spPr>
        <p:txBody>
          <a:bodyPr>
            <a:spAutoFit/>
          </a:bodyPr>
          <a:lstStyle/>
          <a:p>
            <a:pPr marL="228600" indent="-228600" algn="ctr">
              <a:spcBef>
                <a:spcPct val="50000"/>
              </a:spcBef>
              <a:buClr>
                <a:schemeClr val="accent2"/>
              </a:buClr>
              <a:buFont typeface="Wingdings" pitchFamily="2" charset="2"/>
              <a:buNone/>
              <a:defRPr/>
            </a:pPr>
            <a:r>
              <a:rPr lang="en-US" altLang="zh-CN" sz="1100" b="1" dirty="0" smtClean="0">
                <a:solidFill>
                  <a:srgbClr val="D03200"/>
                </a:solidFill>
                <a:latin typeface="+mj-ea"/>
                <a:ea typeface="+mj-ea"/>
              </a:rPr>
              <a:t>2013.1</a:t>
            </a:r>
            <a:endParaRPr lang="en-GB" altLang="zh-CN" sz="1100" b="1" dirty="0">
              <a:solidFill>
                <a:srgbClr val="D03200"/>
              </a:solidFill>
              <a:latin typeface="+mj-ea"/>
              <a:ea typeface="+mj-ea"/>
            </a:endParaRPr>
          </a:p>
        </p:txBody>
      </p:sp>
      <p:grpSp>
        <p:nvGrpSpPr>
          <p:cNvPr id="11" name="组合 8"/>
          <p:cNvGrpSpPr>
            <a:grpSpLocks/>
          </p:cNvGrpSpPr>
          <p:nvPr/>
        </p:nvGrpSpPr>
        <p:grpSpPr bwMode="auto">
          <a:xfrm>
            <a:off x="152400" y="2200069"/>
            <a:ext cx="538163" cy="647700"/>
            <a:chOff x="299922" y="2357438"/>
            <a:chExt cx="538278" cy="648789"/>
          </a:xfrm>
          <a:effectLst>
            <a:outerShdw blurRad="50800" dist="38100" dir="2700000" algn="tl" rotWithShape="0">
              <a:prstClr val="black">
                <a:alpha val="40000"/>
              </a:prstClr>
            </a:outerShdw>
          </a:effectLst>
        </p:grpSpPr>
        <p:sp>
          <p:nvSpPr>
            <p:cNvPr id="12" name="Rectangle 4"/>
            <p:cNvSpPr>
              <a:spLocks noChangeArrowheads="1"/>
            </p:cNvSpPr>
            <p:nvPr>
              <p:custDataLst>
                <p:tags r:id="rId36"/>
              </p:custDataLst>
            </p:nvPr>
          </p:nvSpPr>
          <p:spPr bwMode="auto">
            <a:xfrm>
              <a:off x="304686" y="2357438"/>
              <a:ext cx="533514" cy="648789"/>
            </a:xfrm>
            <a:prstGeom prst="rect">
              <a:avLst/>
            </a:prstGeom>
            <a:solidFill>
              <a:srgbClr val="FFFFFF"/>
            </a:solidFill>
            <a:ln w="12700">
              <a:solidFill>
                <a:schemeClr val="tx1"/>
              </a:solidFill>
              <a:miter lim="800000"/>
              <a:headEnd/>
              <a:tailEnd/>
            </a:ln>
            <a:effectLst/>
          </p:spPr>
          <p:txBody>
            <a:bodyPr lIns="7200" tIns="18000" rIns="72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a:solidFill>
                    <a:srgbClr val="000000"/>
                  </a:solidFill>
                  <a:latin typeface="+mj-ea"/>
                  <a:ea typeface="+mj-ea"/>
                </a:rPr>
                <a:t>启动</a:t>
              </a:r>
              <a:endParaRPr lang="en-US" altLang="zh-CN" sz="1200" dirty="0">
                <a:solidFill>
                  <a:srgbClr val="000000"/>
                </a:solidFill>
                <a:latin typeface="+mj-ea"/>
                <a:ea typeface="+mj-ea"/>
              </a:endParaRPr>
            </a:p>
            <a:p>
              <a:pPr algn="ctr" eaLnBrk="0" hangingPunct="0">
                <a:defRPr/>
              </a:pPr>
              <a:r>
                <a:rPr lang="zh-CN" altLang="en-US" sz="1200" dirty="0">
                  <a:solidFill>
                    <a:srgbClr val="000000"/>
                  </a:solidFill>
                  <a:latin typeface="+mj-ea"/>
                  <a:ea typeface="+mj-ea"/>
                </a:rPr>
                <a:t>项目</a:t>
              </a:r>
              <a:endParaRPr lang="en-GB" altLang="zh-CN" sz="1200" dirty="0">
                <a:solidFill>
                  <a:srgbClr val="000000"/>
                </a:solidFill>
                <a:latin typeface="+mj-ea"/>
                <a:ea typeface="+mj-ea"/>
              </a:endParaRPr>
            </a:p>
          </p:txBody>
        </p:sp>
        <p:sp>
          <p:nvSpPr>
            <p:cNvPr id="13" name="Rectangle 29"/>
            <p:cNvSpPr>
              <a:spLocks noChangeArrowheads="1"/>
            </p:cNvSpPr>
            <p:nvPr>
              <p:custDataLst>
                <p:tags r:id="rId37"/>
              </p:custDataLst>
            </p:nvPr>
          </p:nvSpPr>
          <p:spPr bwMode="gray">
            <a:xfrm>
              <a:off x="299922" y="2357438"/>
              <a:ext cx="360077" cy="209902"/>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buFont typeface="Wingdings" pitchFamily="2" charset="2"/>
                <a:buNone/>
                <a:defRPr/>
              </a:pPr>
              <a:r>
                <a:rPr lang="en-GB" altLang="zh-CN" sz="1100" dirty="0">
                  <a:solidFill>
                    <a:srgbClr val="FFFFFF"/>
                  </a:solidFill>
                  <a:latin typeface="+mj-ea"/>
                  <a:ea typeface="+mj-ea"/>
                </a:rPr>
                <a:t>T-0</a:t>
              </a:r>
              <a:r>
                <a:rPr lang="en-US" altLang="zh-CN" sz="1100" dirty="0">
                  <a:solidFill>
                    <a:srgbClr val="FFFFFF"/>
                  </a:solidFill>
                  <a:latin typeface="+mj-ea"/>
                  <a:ea typeface="+mj-ea"/>
                </a:rPr>
                <a:t>0</a:t>
              </a:r>
              <a:endParaRPr lang="en-GB" altLang="zh-CN" sz="1100" dirty="0">
                <a:solidFill>
                  <a:srgbClr val="FFFFFF"/>
                </a:solidFill>
                <a:latin typeface="+mj-ea"/>
                <a:ea typeface="+mj-ea"/>
              </a:endParaRPr>
            </a:p>
          </p:txBody>
        </p:sp>
      </p:grpSp>
      <p:sp>
        <p:nvSpPr>
          <p:cNvPr id="14" name="AutoShape 37"/>
          <p:cNvSpPr>
            <a:spLocks noChangeArrowheads="1"/>
          </p:cNvSpPr>
          <p:nvPr>
            <p:custDataLst>
              <p:tags r:id="rId4"/>
            </p:custDataLst>
          </p:nvPr>
        </p:nvSpPr>
        <p:spPr bwMode="gray">
          <a:xfrm>
            <a:off x="407988" y="5712206"/>
            <a:ext cx="8431212" cy="360000"/>
          </a:xfrm>
          <a:prstGeom prst="homePlate">
            <a:avLst>
              <a:gd name="adj" fmla="val 85502"/>
            </a:avLst>
          </a:prstGeom>
          <a:gradFill flip="none" rotWithShape="1">
            <a:gsLst>
              <a:gs pos="0">
                <a:schemeClr val="accent1">
                  <a:lumMod val="60000"/>
                  <a:lumOff val="40000"/>
                </a:schemeClr>
              </a:gs>
              <a:gs pos="50000">
                <a:schemeClr val="accent1"/>
              </a:gs>
              <a:gs pos="100000">
                <a:schemeClr val="accent1">
                  <a:lumMod val="60000"/>
                  <a:lumOff val="40000"/>
                </a:schemeClr>
              </a:gs>
            </a:gsLst>
            <a:lin ang="5400000" scaled="1"/>
            <a:tileRect/>
          </a:gra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lIns="18288" tIns="18288" rIns="18288" bIns="18288" anchor="ctr"/>
          <a:lstStyle/>
          <a:p>
            <a:pPr marL="11113" indent="-11113" algn="ctr">
              <a:spcBef>
                <a:spcPct val="50000"/>
              </a:spcBef>
              <a:defRPr/>
            </a:pPr>
            <a:r>
              <a:rPr lang="zh-CN" altLang="en-US" sz="1400" b="1" dirty="0">
                <a:solidFill>
                  <a:schemeClr val="bg1"/>
                </a:solidFill>
                <a:latin typeface="+mj-ea"/>
                <a:ea typeface="+mj-ea"/>
              </a:rPr>
              <a:t>项目管理</a:t>
            </a:r>
            <a:endParaRPr lang="en-GB" altLang="zh-CN" sz="1400" b="1" dirty="0">
              <a:solidFill>
                <a:schemeClr val="bg1"/>
              </a:solidFill>
              <a:latin typeface="+mj-ea"/>
              <a:ea typeface="+mj-ea"/>
            </a:endParaRPr>
          </a:p>
        </p:txBody>
      </p:sp>
      <p:sp>
        <p:nvSpPr>
          <p:cNvPr id="15" name="Rectangle 40"/>
          <p:cNvSpPr>
            <a:spLocks noChangeArrowheads="1"/>
          </p:cNvSpPr>
          <p:nvPr>
            <p:custDataLst>
              <p:tags r:id="rId5"/>
            </p:custDataLst>
          </p:nvPr>
        </p:nvSpPr>
        <p:spPr bwMode="gray">
          <a:xfrm>
            <a:off x="419100" y="5716969"/>
            <a:ext cx="366713" cy="209550"/>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a:t>
            </a:r>
            <a:r>
              <a:rPr lang="en-US" altLang="zh-CN" sz="1100" dirty="0" smtClean="0">
                <a:solidFill>
                  <a:srgbClr val="FFFFFF"/>
                </a:solidFill>
                <a:latin typeface="+mj-ea"/>
                <a:ea typeface="+mj-ea"/>
              </a:rPr>
              <a:t>09</a:t>
            </a:r>
            <a:endParaRPr lang="en-GB" altLang="zh-CN" sz="1100" dirty="0">
              <a:solidFill>
                <a:srgbClr val="FFFFFF"/>
              </a:solidFill>
              <a:latin typeface="+mj-ea"/>
              <a:ea typeface="+mj-ea"/>
            </a:endParaRPr>
          </a:p>
        </p:txBody>
      </p:sp>
      <p:sp>
        <p:nvSpPr>
          <p:cNvPr id="16" name="AutoShape 47"/>
          <p:cNvSpPr>
            <a:spLocks noChangeArrowheads="1"/>
          </p:cNvSpPr>
          <p:nvPr>
            <p:custDataLst>
              <p:tags r:id="rId6"/>
            </p:custDataLst>
          </p:nvPr>
        </p:nvSpPr>
        <p:spPr bwMode="gray">
          <a:xfrm>
            <a:off x="2949575" y="1174488"/>
            <a:ext cx="2874971" cy="540000"/>
          </a:xfrm>
          <a:prstGeom prst="chevron">
            <a:avLst>
              <a:gd name="adj" fmla="val 94855"/>
            </a:avLst>
          </a:prstGeom>
          <a:gradFill flip="none" rotWithShape="1">
            <a:gsLst>
              <a:gs pos="0">
                <a:schemeClr val="accent1">
                  <a:lumMod val="60000"/>
                  <a:lumOff val="40000"/>
                </a:schemeClr>
              </a:gs>
              <a:gs pos="50000">
                <a:schemeClr val="accent1"/>
              </a:gs>
              <a:gs pos="100000">
                <a:schemeClr val="accent1">
                  <a:lumMod val="60000"/>
                  <a:lumOff val="40000"/>
                </a:schemeClr>
              </a:gs>
            </a:gsLst>
            <a:lin ang="5400000" scaled="1"/>
            <a:tileRect/>
          </a:gra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lIns="18288" tIns="18288" rIns="18288" bIns="18288" anchor="ctr"/>
          <a:lstStyle/>
          <a:p>
            <a:pPr marL="11113" indent="-11113" algn="ctr">
              <a:spcBef>
                <a:spcPct val="50000"/>
              </a:spcBef>
              <a:defRPr/>
            </a:pPr>
            <a:r>
              <a:rPr lang="en-US" altLang="zh-CN" sz="1400" b="1" dirty="0" smtClean="0">
                <a:solidFill>
                  <a:schemeClr val="bg1"/>
                </a:solidFill>
                <a:latin typeface="+mj-ea"/>
                <a:ea typeface="+mj-ea"/>
              </a:rPr>
              <a:t>2.CRM</a:t>
            </a:r>
            <a:r>
              <a:rPr lang="zh-CN" altLang="en-US" sz="1400" b="1" dirty="0">
                <a:solidFill>
                  <a:schemeClr val="bg1"/>
                </a:solidFill>
                <a:latin typeface="+mj-ea"/>
                <a:ea typeface="+mj-ea"/>
              </a:rPr>
              <a:t>活动</a:t>
            </a:r>
            <a:endParaRPr lang="en-GB" altLang="zh-CN" sz="1400" b="1" dirty="0">
              <a:solidFill>
                <a:schemeClr val="bg1"/>
              </a:solidFill>
              <a:latin typeface="+mj-ea"/>
              <a:ea typeface="+mj-ea"/>
            </a:endParaRPr>
          </a:p>
        </p:txBody>
      </p:sp>
      <p:sp>
        <p:nvSpPr>
          <p:cNvPr id="17" name="AutoShape 47"/>
          <p:cNvSpPr>
            <a:spLocks noChangeArrowheads="1"/>
          </p:cNvSpPr>
          <p:nvPr>
            <p:custDataLst>
              <p:tags r:id="rId7"/>
            </p:custDataLst>
          </p:nvPr>
        </p:nvSpPr>
        <p:spPr bwMode="gray">
          <a:xfrm>
            <a:off x="5715008" y="1174488"/>
            <a:ext cx="3200393" cy="540000"/>
          </a:xfrm>
          <a:prstGeom prst="chevron">
            <a:avLst>
              <a:gd name="adj" fmla="val 83519"/>
            </a:avLst>
          </a:prstGeom>
          <a:gradFill flip="none" rotWithShape="1">
            <a:gsLst>
              <a:gs pos="0">
                <a:schemeClr val="accent1">
                  <a:lumMod val="60000"/>
                  <a:lumOff val="40000"/>
                </a:schemeClr>
              </a:gs>
              <a:gs pos="50000">
                <a:schemeClr val="accent1"/>
              </a:gs>
              <a:gs pos="100000">
                <a:schemeClr val="accent1">
                  <a:lumMod val="60000"/>
                  <a:lumOff val="40000"/>
                </a:schemeClr>
              </a:gs>
            </a:gsLst>
            <a:lin ang="5400000" scaled="1"/>
            <a:tileRect/>
          </a:gra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lIns="18288" tIns="18288" rIns="18288" bIns="18288" anchor="ctr"/>
          <a:lstStyle/>
          <a:p>
            <a:pPr marL="11113" indent="-11113" algn="ctr">
              <a:spcBef>
                <a:spcPct val="50000"/>
              </a:spcBef>
              <a:defRPr/>
            </a:pPr>
            <a:r>
              <a:rPr lang="en-US" altLang="zh-CN" sz="1400" b="1" dirty="0">
                <a:solidFill>
                  <a:schemeClr val="bg1"/>
                </a:solidFill>
                <a:latin typeface="+mj-ea"/>
                <a:ea typeface="+mj-ea"/>
              </a:rPr>
              <a:t>3</a:t>
            </a:r>
            <a:r>
              <a:rPr lang="en-US" altLang="zh-CN" sz="1400" b="1" dirty="0" smtClean="0">
                <a:solidFill>
                  <a:schemeClr val="bg1"/>
                </a:solidFill>
                <a:latin typeface="+mj-ea"/>
                <a:ea typeface="+mj-ea"/>
              </a:rPr>
              <a:t>.</a:t>
            </a:r>
            <a:r>
              <a:rPr lang="zh-CN" altLang="en-US" sz="1400" b="1" dirty="0" smtClean="0">
                <a:solidFill>
                  <a:schemeClr val="bg1"/>
                </a:solidFill>
                <a:latin typeface="+mj-ea"/>
                <a:ea typeface="+mj-ea"/>
              </a:rPr>
              <a:t>在线购物</a:t>
            </a:r>
            <a:endParaRPr lang="en-GB" altLang="zh-CN" sz="1400" b="1" dirty="0">
              <a:solidFill>
                <a:schemeClr val="bg1"/>
              </a:solidFill>
              <a:latin typeface="+mj-ea"/>
              <a:ea typeface="+mj-ea"/>
            </a:endParaRPr>
          </a:p>
        </p:txBody>
      </p:sp>
      <p:sp>
        <p:nvSpPr>
          <p:cNvPr id="18" name="AutoShape 26"/>
          <p:cNvSpPr>
            <a:spLocks noChangeArrowheads="1"/>
          </p:cNvSpPr>
          <p:nvPr/>
        </p:nvSpPr>
        <p:spPr bwMode="auto">
          <a:xfrm>
            <a:off x="2428860" y="2394538"/>
            <a:ext cx="258762" cy="258762"/>
          </a:xfrm>
          <a:prstGeom prst="diamond">
            <a:avLst/>
          </a:prstGeom>
          <a:solidFill>
            <a:srgbClr val="993300"/>
          </a:solidFill>
          <a:ln w="6350" algn="ctr">
            <a:solidFill>
              <a:schemeClr val="tx1"/>
            </a:solidFill>
            <a:miter lim="800000"/>
            <a:headEnd/>
            <a:tailEnd/>
          </a:ln>
        </p:spPr>
        <p:txBody>
          <a:bodyPr wrap="none" lIns="0" rIns="0" anchor="ctr"/>
          <a:lstStyle/>
          <a:p>
            <a:pPr algn="ctr">
              <a:buFont typeface="Wingdings" pitchFamily="2" charset="2"/>
              <a:buNone/>
              <a:defRPr/>
            </a:pPr>
            <a:r>
              <a:rPr lang="en-GB" altLang="zh-CN" sz="1100" b="1" dirty="0">
                <a:solidFill>
                  <a:srgbClr val="FFFFFF"/>
                </a:solidFill>
                <a:latin typeface="+mj-ea"/>
                <a:ea typeface="+mj-ea"/>
              </a:rPr>
              <a:t>1</a:t>
            </a:r>
          </a:p>
        </p:txBody>
      </p:sp>
      <p:sp>
        <p:nvSpPr>
          <p:cNvPr id="19" name="AutoShape 47"/>
          <p:cNvSpPr>
            <a:spLocks noChangeArrowheads="1"/>
          </p:cNvSpPr>
          <p:nvPr>
            <p:custDataLst>
              <p:tags r:id="rId8"/>
            </p:custDataLst>
          </p:nvPr>
        </p:nvSpPr>
        <p:spPr bwMode="gray">
          <a:xfrm>
            <a:off x="381000" y="1174488"/>
            <a:ext cx="2678113" cy="540000"/>
          </a:xfrm>
          <a:prstGeom prst="chevron">
            <a:avLst>
              <a:gd name="adj" fmla="val 94855"/>
            </a:avLst>
          </a:prstGeom>
          <a:gradFill flip="none" rotWithShape="1">
            <a:gsLst>
              <a:gs pos="0">
                <a:schemeClr val="accent1">
                  <a:lumMod val="60000"/>
                  <a:lumOff val="40000"/>
                </a:schemeClr>
              </a:gs>
              <a:gs pos="50000">
                <a:schemeClr val="accent1"/>
              </a:gs>
              <a:gs pos="100000">
                <a:schemeClr val="accent1">
                  <a:lumMod val="60000"/>
                  <a:lumOff val="40000"/>
                </a:schemeClr>
              </a:gs>
            </a:gsLst>
            <a:lin ang="5400000" scaled="1"/>
            <a:tileRect/>
          </a:gra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a:sp3d>
        </p:spPr>
        <p:txBody>
          <a:bodyPr lIns="18288" tIns="18288" rIns="18288" bIns="18288" anchor="ctr"/>
          <a:lstStyle/>
          <a:p>
            <a:pPr marL="11113" indent="-11113" algn="ctr">
              <a:spcBef>
                <a:spcPct val="50000"/>
              </a:spcBef>
              <a:defRPr/>
            </a:pPr>
            <a:r>
              <a:rPr lang="en-US" altLang="zh-CN" sz="1400" b="1" dirty="0" smtClean="0">
                <a:solidFill>
                  <a:schemeClr val="bg1"/>
                </a:solidFill>
                <a:latin typeface="+mj-ea"/>
                <a:ea typeface="+mj-ea"/>
              </a:rPr>
              <a:t>1.</a:t>
            </a:r>
            <a:r>
              <a:rPr lang="zh-CN" altLang="en-US" sz="1400" b="1" dirty="0" smtClean="0">
                <a:solidFill>
                  <a:schemeClr val="bg1"/>
                </a:solidFill>
                <a:latin typeface="+mj-ea"/>
                <a:ea typeface="+mj-ea"/>
              </a:rPr>
              <a:t> 基础版建设</a:t>
            </a:r>
            <a:endParaRPr lang="en-GB" altLang="zh-CN" sz="1400" b="1" dirty="0">
              <a:solidFill>
                <a:schemeClr val="bg1"/>
              </a:solidFill>
              <a:latin typeface="+mj-ea"/>
              <a:ea typeface="+mj-ea"/>
            </a:endParaRPr>
          </a:p>
        </p:txBody>
      </p:sp>
      <p:cxnSp>
        <p:nvCxnSpPr>
          <p:cNvPr id="21" name="AutoShape 11"/>
          <p:cNvCxnSpPr>
            <a:cxnSpLocks noChangeShapeType="1"/>
          </p:cNvCxnSpPr>
          <p:nvPr/>
        </p:nvCxnSpPr>
        <p:spPr bwMode="auto">
          <a:xfrm>
            <a:off x="690563" y="2523919"/>
            <a:ext cx="551421" cy="1588"/>
          </a:xfrm>
          <a:prstGeom prst="bentConnector3">
            <a:avLst>
              <a:gd name="adj1" fmla="val 50000"/>
            </a:avLst>
          </a:prstGeom>
          <a:noFill/>
          <a:ln w="12700">
            <a:solidFill>
              <a:schemeClr val="tx1"/>
            </a:solidFill>
            <a:miter lim="800000"/>
            <a:headEnd/>
            <a:tailEnd type="triangle" w="med" len="med"/>
          </a:ln>
        </p:spPr>
      </p:cxnSp>
      <p:grpSp>
        <p:nvGrpSpPr>
          <p:cNvPr id="22" name="组合 32"/>
          <p:cNvGrpSpPr>
            <a:grpSpLocks/>
          </p:cNvGrpSpPr>
          <p:nvPr/>
        </p:nvGrpSpPr>
        <p:grpSpPr bwMode="auto">
          <a:xfrm>
            <a:off x="1241984" y="3971505"/>
            <a:ext cx="1044000" cy="647700"/>
            <a:chOff x="3714747" y="2354265"/>
            <a:chExt cx="1064928" cy="647991"/>
          </a:xfrm>
          <a:effectLst>
            <a:outerShdw blurRad="50800" dist="38100" dir="2700000" algn="tl" rotWithShape="0">
              <a:prstClr val="black">
                <a:alpha val="40000"/>
              </a:prstClr>
            </a:outerShdw>
          </a:effectLst>
        </p:grpSpPr>
        <p:sp>
          <p:nvSpPr>
            <p:cNvPr id="23" name="Rectangle 7"/>
            <p:cNvSpPr>
              <a:spLocks noChangeArrowheads="1"/>
            </p:cNvSpPr>
            <p:nvPr>
              <p:custDataLst>
                <p:tags r:id="rId34"/>
              </p:custDataLst>
            </p:nvPr>
          </p:nvSpPr>
          <p:spPr bwMode="auto">
            <a:xfrm>
              <a:off x="3714747" y="2354265"/>
              <a:ext cx="1064928"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en-US" altLang="zh-CN" sz="1200" dirty="0" smtClean="0">
                  <a:solidFill>
                    <a:srgbClr val="000000"/>
                  </a:solidFill>
                  <a:latin typeface="+mj-ea"/>
                  <a:ea typeface="+mj-ea"/>
                </a:rPr>
                <a:t>UI</a:t>
              </a:r>
              <a:r>
                <a:rPr lang="zh-CN" altLang="en-US" sz="1200" dirty="0" smtClean="0">
                  <a:solidFill>
                    <a:srgbClr val="000000"/>
                  </a:solidFill>
                  <a:latin typeface="+mj-ea"/>
                  <a:ea typeface="+mj-ea"/>
                </a:rPr>
                <a:t>设计及文案</a:t>
              </a:r>
              <a:endParaRPr lang="en-US" altLang="zh-CN" sz="1200" dirty="0">
                <a:solidFill>
                  <a:srgbClr val="000000"/>
                </a:solidFill>
                <a:latin typeface="+mj-ea"/>
                <a:ea typeface="+mj-ea"/>
              </a:endParaRPr>
            </a:p>
          </p:txBody>
        </p:sp>
        <p:sp>
          <p:nvSpPr>
            <p:cNvPr id="24" name="Rectangle 33"/>
            <p:cNvSpPr>
              <a:spLocks noChangeArrowheads="1"/>
            </p:cNvSpPr>
            <p:nvPr>
              <p:custDataLst>
                <p:tags r:id="rId35"/>
              </p:custDataLst>
            </p:nvPr>
          </p:nvSpPr>
          <p:spPr bwMode="gray">
            <a:xfrm>
              <a:off x="3714747" y="2354265"/>
              <a:ext cx="367217"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1</a:t>
              </a:r>
              <a:endParaRPr lang="en-GB" altLang="zh-CN" sz="1100" dirty="0">
                <a:solidFill>
                  <a:srgbClr val="FFFFFF"/>
                </a:solidFill>
                <a:latin typeface="+mj-ea"/>
                <a:ea typeface="+mj-ea"/>
              </a:endParaRPr>
            </a:p>
          </p:txBody>
        </p:sp>
      </p:grpSp>
      <p:grpSp>
        <p:nvGrpSpPr>
          <p:cNvPr id="26" name="组合 65"/>
          <p:cNvGrpSpPr>
            <a:grpSpLocks/>
          </p:cNvGrpSpPr>
          <p:nvPr/>
        </p:nvGrpSpPr>
        <p:grpSpPr bwMode="auto">
          <a:xfrm>
            <a:off x="1241984" y="2200069"/>
            <a:ext cx="1044000" cy="647700"/>
            <a:chOff x="3714743" y="2354263"/>
            <a:chExt cx="1261241" cy="647991"/>
          </a:xfrm>
          <a:effectLst>
            <a:outerShdw blurRad="50800" dist="38100" dir="2700000" algn="tl" rotWithShape="0">
              <a:prstClr val="black">
                <a:alpha val="40000"/>
              </a:prstClr>
            </a:outerShdw>
          </a:effectLst>
        </p:grpSpPr>
        <p:sp>
          <p:nvSpPr>
            <p:cNvPr id="27" name="Rectangle 7"/>
            <p:cNvSpPr>
              <a:spLocks noChangeArrowheads="1"/>
            </p:cNvSpPr>
            <p:nvPr>
              <p:custDataLst>
                <p:tags r:id="rId32"/>
              </p:custDataLst>
            </p:nvPr>
          </p:nvSpPr>
          <p:spPr bwMode="auto">
            <a:xfrm>
              <a:off x="3714743" y="2354263"/>
              <a:ext cx="1261241"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基础版建设</a:t>
              </a:r>
              <a:endParaRPr lang="en-US" altLang="zh-CN" sz="1200" dirty="0">
                <a:solidFill>
                  <a:srgbClr val="000000"/>
                </a:solidFill>
                <a:latin typeface="+mj-ea"/>
                <a:ea typeface="+mj-ea"/>
              </a:endParaRPr>
            </a:p>
          </p:txBody>
        </p:sp>
        <p:sp>
          <p:nvSpPr>
            <p:cNvPr id="28" name="Rectangle 33"/>
            <p:cNvSpPr>
              <a:spLocks noChangeArrowheads="1"/>
            </p:cNvSpPr>
            <p:nvPr>
              <p:custDataLst>
                <p:tags r:id="rId33"/>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smtClean="0">
                  <a:solidFill>
                    <a:srgbClr val="FFFFFF"/>
                  </a:solidFill>
                  <a:latin typeface="+mj-ea"/>
                  <a:ea typeface="+mj-ea"/>
                </a:rPr>
                <a:t>1</a:t>
              </a:r>
              <a:endParaRPr lang="en-GB" altLang="zh-CN" sz="1100" dirty="0">
                <a:solidFill>
                  <a:srgbClr val="FFFFFF"/>
                </a:solidFill>
                <a:latin typeface="+mj-ea"/>
                <a:ea typeface="+mj-ea"/>
              </a:endParaRPr>
            </a:p>
          </p:txBody>
        </p:sp>
      </p:grpSp>
      <p:grpSp>
        <p:nvGrpSpPr>
          <p:cNvPr id="32" name="组合 78"/>
          <p:cNvGrpSpPr>
            <a:grpSpLocks/>
          </p:cNvGrpSpPr>
          <p:nvPr/>
        </p:nvGrpSpPr>
        <p:grpSpPr bwMode="auto">
          <a:xfrm>
            <a:off x="1241984" y="4850192"/>
            <a:ext cx="1044000" cy="647700"/>
            <a:chOff x="3714743" y="2354265"/>
            <a:chExt cx="1261241" cy="647991"/>
          </a:xfrm>
          <a:effectLst>
            <a:outerShdw blurRad="50800" dist="38100" dir="2700000" algn="tl" rotWithShape="0">
              <a:prstClr val="black">
                <a:alpha val="40000"/>
              </a:prstClr>
            </a:outerShdw>
          </a:effectLst>
        </p:grpSpPr>
        <p:sp>
          <p:nvSpPr>
            <p:cNvPr id="33" name="Rectangle 7"/>
            <p:cNvSpPr>
              <a:spLocks noChangeArrowheads="1"/>
            </p:cNvSpPr>
            <p:nvPr>
              <p:custDataLst>
                <p:tags r:id="rId30"/>
              </p:custDataLst>
            </p:nvPr>
          </p:nvSpPr>
          <p:spPr bwMode="auto">
            <a:xfrm>
              <a:off x="3714743" y="2354265"/>
              <a:ext cx="1261241"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基础版开发</a:t>
              </a:r>
              <a:endParaRPr lang="en-US" altLang="zh-CN" sz="1200" dirty="0">
                <a:solidFill>
                  <a:srgbClr val="000000"/>
                </a:solidFill>
                <a:latin typeface="+mj-ea"/>
                <a:ea typeface="+mj-ea"/>
              </a:endParaRPr>
            </a:p>
          </p:txBody>
        </p:sp>
        <p:sp>
          <p:nvSpPr>
            <p:cNvPr id="34" name="Rectangle 33"/>
            <p:cNvSpPr>
              <a:spLocks noChangeArrowheads="1"/>
            </p:cNvSpPr>
            <p:nvPr>
              <p:custDataLst>
                <p:tags r:id="rId31"/>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1</a:t>
              </a:r>
              <a:endParaRPr lang="en-GB" altLang="zh-CN" sz="1100" dirty="0">
                <a:solidFill>
                  <a:srgbClr val="FFFFFF"/>
                </a:solidFill>
                <a:latin typeface="+mj-ea"/>
                <a:ea typeface="+mj-ea"/>
              </a:endParaRPr>
            </a:p>
          </p:txBody>
        </p:sp>
      </p:grpSp>
      <p:cxnSp>
        <p:nvCxnSpPr>
          <p:cNvPr id="61" name="AutoShape 11"/>
          <p:cNvCxnSpPr>
            <a:cxnSpLocks noChangeShapeType="1"/>
          </p:cNvCxnSpPr>
          <p:nvPr/>
        </p:nvCxnSpPr>
        <p:spPr bwMode="auto">
          <a:xfrm>
            <a:off x="690563" y="2523919"/>
            <a:ext cx="551421" cy="1771436"/>
          </a:xfrm>
          <a:prstGeom prst="bentConnector3">
            <a:avLst>
              <a:gd name="adj1" fmla="val 50000"/>
            </a:avLst>
          </a:prstGeom>
          <a:noFill/>
          <a:ln w="12700">
            <a:solidFill>
              <a:schemeClr val="tx1"/>
            </a:solidFill>
            <a:miter lim="800000"/>
            <a:headEnd/>
            <a:tailEnd type="triangle" w="med" len="med"/>
          </a:ln>
        </p:spPr>
      </p:cxnSp>
      <p:sp>
        <p:nvSpPr>
          <p:cNvPr id="71" name="Text Box 27"/>
          <p:cNvSpPr txBox="1">
            <a:spLocks noChangeArrowheads="1"/>
          </p:cNvSpPr>
          <p:nvPr>
            <p:custDataLst>
              <p:tags r:id="rId9"/>
            </p:custDataLst>
          </p:nvPr>
        </p:nvSpPr>
        <p:spPr bwMode="auto">
          <a:xfrm>
            <a:off x="5214942" y="1857364"/>
            <a:ext cx="762000" cy="260350"/>
          </a:xfrm>
          <a:prstGeom prst="rect">
            <a:avLst/>
          </a:prstGeom>
          <a:noFill/>
          <a:ln w="9525" algn="ctr">
            <a:noFill/>
            <a:miter lim="800000"/>
            <a:headEnd/>
            <a:tailEnd/>
          </a:ln>
        </p:spPr>
        <p:txBody>
          <a:bodyPr>
            <a:spAutoFit/>
          </a:bodyPr>
          <a:lstStyle/>
          <a:p>
            <a:pPr marL="228600" indent="-228600" algn="ctr">
              <a:spcBef>
                <a:spcPct val="50000"/>
              </a:spcBef>
              <a:buClr>
                <a:schemeClr val="accent2"/>
              </a:buClr>
              <a:buFont typeface="Wingdings" pitchFamily="2" charset="2"/>
              <a:buNone/>
              <a:defRPr/>
            </a:pPr>
            <a:r>
              <a:rPr lang="en-US" altLang="zh-CN" sz="1100" b="1" dirty="0" smtClean="0">
                <a:solidFill>
                  <a:srgbClr val="D03200"/>
                </a:solidFill>
                <a:latin typeface="+mj-ea"/>
                <a:ea typeface="+mj-ea"/>
              </a:rPr>
              <a:t>2013.10</a:t>
            </a:r>
            <a:endParaRPr lang="en-GB" altLang="zh-CN" sz="1100" b="1" dirty="0">
              <a:solidFill>
                <a:srgbClr val="D03200"/>
              </a:solidFill>
              <a:latin typeface="+mj-ea"/>
              <a:ea typeface="+mj-ea"/>
            </a:endParaRPr>
          </a:p>
        </p:txBody>
      </p:sp>
      <p:sp>
        <p:nvSpPr>
          <p:cNvPr id="72" name="AutoShape 26"/>
          <p:cNvSpPr>
            <a:spLocks noChangeArrowheads="1"/>
          </p:cNvSpPr>
          <p:nvPr/>
        </p:nvSpPr>
        <p:spPr bwMode="auto">
          <a:xfrm>
            <a:off x="5500694" y="2394538"/>
            <a:ext cx="258762" cy="258762"/>
          </a:xfrm>
          <a:prstGeom prst="diamond">
            <a:avLst/>
          </a:prstGeom>
          <a:solidFill>
            <a:srgbClr val="993300"/>
          </a:solidFill>
          <a:ln w="6350" algn="ctr">
            <a:solidFill>
              <a:schemeClr val="tx1"/>
            </a:solidFill>
            <a:miter lim="800000"/>
            <a:headEnd/>
            <a:tailEnd/>
          </a:ln>
        </p:spPr>
        <p:txBody>
          <a:bodyPr wrap="none" lIns="0" rIns="0" anchor="ctr"/>
          <a:lstStyle/>
          <a:p>
            <a:pPr algn="ctr">
              <a:buFont typeface="Wingdings" pitchFamily="2" charset="2"/>
              <a:buNone/>
              <a:defRPr/>
            </a:pPr>
            <a:r>
              <a:rPr lang="en-GB" altLang="zh-CN" sz="1100" b="1" dirty="0">
                <a:solidFill>
                  <a:srgbClr val="FFFFFF"/>
                </a:solidFill>
                <a:latin typeface="+mj-ea"/>
                <a:ea typeface="+mj-ea"/>
              </a:rPr>
              <a:t>2</a:t>
            </a:r>
          </a:p>
        </p:txBody>
      </p:sp>
      <p:sp>
        <p:nvSpPr>
          <p:cNvPr id="79" name="AutoShape 26"/>
          <p:cNvSpPr>
            <a:spLocks noChangeArrowheads="1"/>
          </p:cNvSpPr>
          <p:nvPr/>
        </p:nvSpPr>
        <p:spPr bwMode="auto">
          <a:xfrm>
            <a:off x="8742394" y="2393297"/>
            <a:ext cx="258762" cy="258762"/>
          </a:xfrm>
          <a:prstGeom prst="diamond">
            <a:avLst/>
          </a:prstGeom>
          <a:solidFill>
            <a:srgbClr val="993300"/>
          </a:solidFill>
          <a:ln w="6350" algn="ctr">
            <a:solidFill>
              <a:schemeClr val="tx1"/>
            </a:solidFill>
            <a:miter lim="800000"/>
            <a:headEnd/>
            <a:tailEnd/>
          </a:ln>
        </p:spPr>
        <p:txBody>
          <a:bodyPr wrap="none" lIns="0" rIns="0" anchor="ctr"/>
          <a:lstStyle/>
          <a:p>
            <a:pPr algn="ctr">
              <a:buFont typeface="Wingdings" pitchFamily="2" charset="2"/>
              <a:buNone/>
              <a:defRPr/>
            </a:pPr>
            <a:r>
              <a:rPr lang="en-GB" altLang="zh-CN" sz="1100" b="1" dirty="0">
                <a:solidFill>
                  <a:srgbClr val="FFFFFF"/>
                </a:solidFill>
                <a:latin typeface="+mj-ea"/>
                <a:ea typeface="+mj-ea"/>
              </a:rPr>
              <a:t>3</a:t>
            </a:r>
          </a:p>
        </p:txBody>
      </p:sp>
      <p:cxnSp>
        <p:nvCxnSpPr>
          <p:cNvPr id="249" name="AutoShape 11"/>
          <p:cNvCxnSpPr>
            <a:cxnSpLocks noChangeShapeType="1"/>
          </p:cNvCxnSpPr>
          <p:nvPr/>
        </p:nvCxnSpPr>
        <p:spPr bwMode="auto">
          <a:xfrm>
            <a:off x="690563" y="2523919"/>
            <a:ext cx="551421" cy="891956"/>
          </a:xfrm>
          <a:prstGeom prst="bentConnector3">
            <a:avLst>
              <a:gd name="adj1" fmla="val 50000"/>
            </a:avLst>
          </a:prstGeom>
          <a:noFill/>
          <a:ln w="12700">
            <a:solidFill>
              <a:schemeClr val="tx1"/>
            </a:solidFill>
            <a:miter lim="800000"/>
            <a:headEnd/>
            <a:tailEnd type="triangle" w="med" len="med"/>
          </a:ln>
        </p:spPr>
      </p:cxnSp>
      <p:grpSp>
        <p:nvGrpSpPr>
          <p:cNvPr id="254" name="组合 65"/>
          <p:cNvGrpSpPr>
            <a:grpSpLocks/>
          </p:cNvGrpSpPr>
          <p:nvPr/>
        </p:nvGrpSpPr>
        <p:grpSpPr bwMode="auto">
          <a:xfrm>
            <a:off x="3000364" y="2200069"/>
            <a:ext cx="1044000" cy="647700"/>
            <a:chOff x="3714743" y="2354263"/>
            <a:chExt cx="1261241" cy="647991"/>
          </a:xfrm>
          <a:effectLst>
            <a:outerShdw blurRad="50800" dist="38100" dir="2700000" algn="tl" rotWithShape="0">
              <a:prstClr val="black">
                <a:alpha val="40000"/>
              </a:prstClr>
            </a:outerShdw>
          </a:effectLst>
        </p:grpSpPr>
        <p:sp>
          <p:nvSpPr>
            <p:cNvPr id="255" name="Rectangle 7"/>
            <p:cNvSpPr>
              <a:spLocks noChangeArrowheads="1"/>
            </p:cNvSpPr>
            <p:nvPr>
              <p:custDataLst>
                <p:tags r:id="rId28"/>
              </p:custDataLst>
            </p:nvPr>
          </p:nvSpPr>
          <p:spPr bwMode="auto">
            <a:xfrm>
              <a:off x="3714743" y="2354263"/>
              <a:ext cx="1261241"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en-US" altLang="zh-CN" sz="1200" dirty="0" smtClean="0">
                  <a:solidFill>
                    <a:srgbClr val="000000"/>
                  </a:solidFill>
                  <a:latin typeface="+mj-ea"/>
                  <a:ea typeface="+mj-ea"/>
                </a:rPr>
                <a:t>CRM</a:t>
              </a:r>
              <a:r>
                <a:rPr lang="zh-CN" altLang="en-US" sz="1200" dirty="0" smtClean="0">
                  <a:solidFill>
                    <a:srgbClr val="000000"/>
                  </a:solidFill>
                  <a:latin typeface="+mj-ea"/>
                  <a:ea typeface="+mj-ea"/>
                </a:rPr>
                <a:t>系统</a:t>
              </a:r>
              <a:r>
                <a:rPr lang="zh-CN" altLang="en-US" sz="1200" dirty="0">
                  <a:solidFill>
                    <a:srgbClr val="000000"/>
                  </a:solidFill>
                  <a:latin typeface="+mj-ea"/>
                  <a:ea typeface="+mj-ea"/>
                </a:rPr>
                <a:t>建设</a:t>
              </a:r>
              <a:endParaRPr lang="en-US" altLang="zh-CN" sz="1200" dirty="0">
                <a:solidFill>
                  <a:srgbClr val="000000"/>
                </a:solidFill>
                <a:latin typeface="+mj-ea"/>
                <a:ea typeface="+mj-ea"/>
              </a:endParaRPr>
            </a:p>
          </p:txBody>
        </p:sp>
        <p:sp>
          <p:nvSpPr>
            <p:cNvPr id="256" name="Rectangle 33"/>
            <p:cNvSpPr>
              <a:spLocks noChangeArrowheads="1"/>
            </p:cNvSpPr>
            <p:nvPr>
              <p:custDataLst>
                <p:tags r:id="rId29"/>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2</a:t>
              </a:r>
              <a:endParaRPr lang="en-GB" altLang="zh-CN" sz="1100" dirty="0">
                <a:solidFill>
                  <a:srgbClr val="FFFFFF"/>
                </a:solidFill>
                <a:latin typeface="+mj-ea"/>
                <a:ea typeface="+mj-ea"/>
              </a:endParaRPr>
            </a:p>
          </p:txBody>
        </p:sp>
      </p:grpSp>
      <p:grpSp>
        <p:nvGrpSpPr>
          <p:cNvPr id="257" name="组合 65"/>
          <p:cNvGrpSpPr>
            <a:grpSpLocks/>
          </p:cNvGrpSpPr>
          <p:nvPr/>
        </p:nvGrpSpPr>
        <p:grpSpPr bwMode="auto">
          <a:xfrm>
            <a:off x="3000364" y="3992936"/>
            <a:ext cx="2448000" cy="647700"/>
            <a:chOff x="3714743" y="2354263"/>
            <a:chExt cx="2957390" cy="647991"/>
          </a:xfrm>
          <a:effectLst>
            <a:outerShdw blurRad="50800" dist="38100" dir="2700000" algn="tl" rotWithShape="0">
              <a:prstClr val="black">
                <a:alpha val="40000"/>
              </a:prstClr>
            </a:outerShdw>
          </a:effectLst>
        </p:grpSpPr>
        <p:sp>
          <p:nvSpPr>
            <p:cNvPr id="258" name="Rectangle 7"/>
            <p:cNvSpPr>
              <a:spLocks noChangeArrowheads="1"/>
            </p:cNvSpPr>
            <p:nvPr>
              <p:custDataLst>
                <p:tags r:id="rId26"/>
              </p:custDataLst>
            </p:nvPr>
          </p:nvSpPr>
          <p:spPr bwMode="auto">
            <a:xfrm>
              <a:off x="3714743" y="2354263"/>
              <a:ext cx="2957390"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smtClean="0">
                <a:solidFill>
                  <a:srgbClr val="000000"/>
                </a:solidFill>
                <a:latin typeface="+mj-ea"/>
                <a:ea typeface="+mj-ea"/>
              </a:endParaRPr>
            </a:p>
            <a:p>
              <a:pPr algn="ctr" eaLnBrk="0" hangingPunct="0">
                <a:defRPr/>
              </a:pPr>
              <a:r>
                <a:rPr lang="zh-CN" altLang="en-US" sz="1200" dirty="0">
                  <a:solidFill>
                    <a:srgbClr val="000000"/>
                  </a:solidFill>
                  <a:latin typeface="+mj-ea"/>
                  <a:ea typeface="+mj-ea"/>
                </a:rPr>
                <a:t>聚芳永</a:t>
              </a:r>
              <a:r>
                <a:rPr lang="en-US" altLang="zh-CN" sz="1200" dirty="0" smtClean="0">
                  <a:solidFill>
                    <a:srgbClr val="000000"/>
                  </a:solidFill>
                  <a:latin typeface="+mj-ea"/>
                  <a:ea typeface="+mj-ea"/>
                </a:rPr>
                <a:t>CRM</a:t>
              </a:r>
              <a:r>
                <a:rPr lang="zh-CN" altLang="en-US" sz="1200" dirty="0" smtClean="0">
                  <a:solidFill>
                    <a:srgbClr val="000000"/>
                  </a:solidFill>
                  <a:latin typeface="+mj-ea"/>
                  <a:ea typeface="+mj-ea"/>
                </a:rPr>
                <a:t>系统个性化定制</a:t>
              </a:r>
              <a:endParaRPr lang="en-US" altLang="zh-CN" sz="1200" dirty="0">
                <a:solidFill>
                  <a:srgbClr val="000000"/>
                </a:solidFill>
                <a:latin typeface="+mj-ea"/>
                <a:ea typeface="+mj-ea"/>
              </a:endParaRPr>
            </a:p>
          </p:txBody>
        </p:sp>
        <p:sp>
          <p:nvSpPr>
            <p:cNvPr id="259" name="Rectangle 33"/>
            <p:cNvSpPr>
              <a:spLocks noChangeArrowheads="1"/>
            </p:cNvSpPr>
            <p:nvPr>
              <p:custDataLst>
                <p:tags r:id="rId27"/>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2</a:t>
              </a:r>
              <a:endParaRPr lang="en-GB" altLang="zh-CN" sz="1100" dirty="0">
                <a:solidFill>
                  <a:srgbClr val="FFFFFF"/>
                </a:solidFill>
                <a:latin typeface="+mj-ea"/>
                <a:ea typeface="+mj-ea"/>
              </a:endParaRPr>
            </a:p>
          </p:txBody>
        </p:sp>
      </p:grpSp>
      <p:cxnSp>
        <p:nvCxnSpPr>
          <p:cNvPr id="260" name="AutoShape 11"/>
          <p:cNvCxnSpPr>
            <a:cxnSpLocks noChangeShapeType="1"/>
            <a:endCxn id="18" idx="1"/>
          </p:cNvCxnSpPr>
          <p:nvPr/>
        </p:nvCxnSpPr>
        <p:spPr bwMode="auto">
          <a:xfrm>
            <a:off x="2285984" y="2523919"/>
            <a:ext cx="142876" cy="1588"/>
          </a:xfrm>
          <a:prstGeom prst="bentConnector3">
            <a:avLst>
              <a:gd name="adj1" fmla="val 50000"/>
            </a:avLst>
          </a:prstGeom>
          <a:noFill/>
          <a:ln w="12700">
            <a:solidFill>
              <a:schemeClr val="tx1"/>
            </a:solidFill>
            <a:miter lim="800000"/>
            <a:headEnd/>
            <a:tailEnd type="triangle" w="med" len="med"/>
          </a:ln>
        </p:spPr>
      </p:cxnSp>
      <p:grpSp>
        <p:nvGrpSpPr>
          <p:cNvPr id="263" name="组合 65"/>
          <p:cNvGrpSpPr>
            <a:grpSpLocks/>
          </p:cNvGrpSpPr>
          <p:nvPr/>
        </p:nvGrpSpPr>
        <p:grpSpPr bwMode="auto">
          <a:xfrm>
            <a:off x="3000364" y="4854950"/>
            <a:ext cx="2448000" cy="647700"/>
            <a:chOff x="3714743" y="2354263"/>
            <a:chExt cx="2957390" cy="647991"/>
          </a:xfrm>
          <a:effectLst>
            <a:outerShdw blurRad="50800" dist="38100" dir="2700000" algn="tl" rotWithShape="0">
              <a:prstClr val="black">
                <a:alpha val="40000"/>
              </a:prstClr>
            </a:outerShdw>
          </a:effectLst>
        </p:grpSpPr>
        <p:sp>
          <p:nvSpPr>
            <p:cNvPr id="264" name="Rectangle 7"/>
            <p:cNvSpPr>
              <a:spLocks noChangeArrowheads="1"/>
            </p:cNvSpPr>
            <p:nvPr>
              <p:custDataLst>
                <p:tags r:id="rId24"/>
              </p:custDataLst>
            </p:nvPr>
          </p:nvSpPr>
          <p:spPr bwMode="auto">
            <a:xfrm>
              <a:off x="3714743" y="2354263"/>
              <a:ext cx="2957390"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  聚芳永官网与</a:t>
              </a:r>
              <a:r>
                <a:rPr lang="en-US" altLang="zh-CN" sz="1200" dirty="0" smtClean="0">
                  <a:solidFill>
                    <a:srgbClr val="000000"/>
                  </a:solidFill>
                  <a:latin typeface="+mj-ea"/>
                  <a:ea typeface="+mj-ea"/>
                </a:rPr>
                <a:t>ERP/CRM</a:t>
              </a:r>
              <a:r>
                <a:rPr lang="zh-CN" altLang="en-US" sz="1200" dirty="0" smtClean="0">
                  <a:solidFill>
                    <a:srgbClr val="000000"/>
                  </a:solidFill>
                  <a:latin typeface="+mj-ea"/>
                  <a:ea typeface="+mj-ea"/>
                </a:rPr>
                <a:t>系统无缝对接</a:t>
              </a:r>
              <a:endParaRPr lang="en-US" altLang="zh-CN" sz="1200" dirty="0">
                <a:solidFill>
                  <a:srgbClr val="000000"/>
                </a:solidFill>
                <a:latin typeface="+mj-ea"/>
                <a:ea typeface="+mj-ea"/>
              </a:endParaRPr>
            </a:p>
          </p:txBody>
        </p:sp>
        <p:sp>
          <p:nvSpPr>
            <p:cNvPr id="265" name="Rectangle 33"/>
            <p:cNvSpPr>
              <a:spLocks noChangeArrowheads="1"/>
            </p:cNvSpPr>
            <p:nvPr>
              <p:custDataLst>
                <p:tags r:id="rId25"/>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2</a:t>
              </a:r>
              <a:endParaRPr lang="en-GB" altLang="zh-CN" sz="1100" dirty="0">
                <a:solidFill>
                  <a:srgbClr val="FFFFFF"/>
                </a:solidFill>
                <a:latin typeface="+mj-ea"/>
                <a:ea typeface="+mj-ea"/>
              </a:endParaRPr>
            </a:p>
          </p:txBody>
        </p:sp>
      </p:grpSp>
      <p:cxnSp>
        <p:nvCxnSpPr>
          <p:cNvPr id="281" name="AutoShape 11"/>
          <p:cNvCxnSpPr>
            <a:cxnSpLocks noChangeShapeType="1"/>
            <a:endCxn id="72" idx="2"/>
          </p:cNvCxnSpPr>
          <p:nvPr/>
        </p:nvCxnSpPr>
        <p:spPr bwMode="auto">
          <a:xfrm flipV="1">
            <a:off x="5448364" y="2653300"/>
            <a:ext cx="181711" cy="1663486"/>
          </a:xfrm>
          <a:prstGeom prst="bentConnector2">
            <a:avLst/>
          </a:prstGeom>
          <a:noFill/>
          <a:ln w="12700">
            <a:solidFill>
              <a:schemeClr val="tx1"/>
            </a:solidFill>
            <a:miter lim="800000"/>
            <a:headEnd/>
            <a:tailEnd type="triangle" w="med" len="med"/>
          </a:ln>
        </p:spPr>
      </p:cxnSp>
      <p:cxnSp>
        <p:nvCxnSpPr>
          <p:cNvPr id="287" name="AutoShape 11"/>
          <p:cNvCxnSpPr>
            <a:cxnSpLocks noChangeShapeType="1"/>
            <a:stCxn id="18" idx="3"/>
          </p:cNvCxnSpPr>
          <p:nvPr/>
        </p:nvCxnSpPr>
        <p:spPr bwMode="auto">
          <a:xfrm>
            <a:off x="2687622" y="2523919"/>
            <a:ext cx="312742" cy="1588"/>
          </a:xfrm>
          <a:prstGeom prst="bentConnector3">
            <a:avLst>
              <a:gd name="adj1" fmla="val 50000"/>
            </a:avLst>
          </a:prstGeom>
          <a:noFill/>
          <a:ln w="12700">
            <a:solidFill>
              <a:schemeClr val="tx1"/>
            </a:solidFill>
            <a:miter lim="800000"/>
            <a:headEnd/>
            <a:tailEnd type="triangle" w="med" len="med"/>
          </a:ln>
        </p:spPr>
      </p:cxnSp>
      <p:grpSp>
        <p:nvGrpSpPr>
          <p:cNvPr id="295" name="组合 65"/>
          <p:cNvGrpSpPr>
            <a:grpSpLocks/>
          </p:cNvGrpSpPr>
          <p:nvPr/>
        </p:nvGrpSpPr>
        <p:grpSpPr bwMode="auto">
          <a:xfrm>
            <a:off x="6124528" y="3973161"/>
            <a:ext cx="2448000" cy="647700"/>
            <a:chOff x="3714743" y="2354263"/>
            <a:chExt cx="2957390" cy="647991"/>
          </a:xfrm>
          <a:effectLst>
            <a:outerShdw blurRad="50800" dist="38100" dir="2700000" algn="tl" rotWithShape="0">
              <a:prstClr val="black">
                <a:alpha val="40000"/>
              </a:prstClr>
            </a:outerShdw>
          </a:effectLst>
        </p:grpSpPr>
        <p:sp>
          <p:nvSpPr>
            <p:cNvPr id="296" name="Rectangle 7"/>
            <p:cNvSpPr>
              <a:spLocks noChangeArrowheads="1"/>
            </p:cNvSpPr>
            <p:nvPr>
              <p:custDataLst>
                <p:tags r:id="rId22"/>
              </p:custDataLst>
            </p:nvPr>
          </p:nvSpPr>
          <p:spPr bwMode="auto">
            <a:xfrm>
              <a:off x="3714743" y="2354263"/>
              <a:ext cx="2957390"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移动</a:t>
              </a:r>
              <a:r>
                <a:rPr lang="en-US" altLang="zh-CN" sz="1200" dirty="0" smtClean="0">
                  <a:solidFill>
                    <a:srgbClr val="000000"/>
                  </a:solidFill>
                  <a:latin typeface="+mj-ea"/>
                  <a:ea typeface="+mj-ea"/>
                </a:rPr>
                <a:t>APP</a:t>
              </a:r>
              <a:r>
                <a:rPr lang="zh-CN" altLang="en-US" sz="1200" dirty="0" smtClean="0">
                  <a:solidFill>
                    <a:srgbClr val="000000"/>
                  </a:solidFill>
                  <a:latin typeface="+mj-ea"/>
                  <a:ea typeface="+mj-ea"/>
                </a:rPr>
                <a:t>开发</a:t>
              </a:r>
              <a:endParaRPr lang="en-US" altLang="zh-CN" sz="1200" dirty="0">
                <a:solidFill>
                  <a:srgbClr val="000000"/>
                </a:solidFill>
                <a:latin typeface="+mj-ea"/>
                <a:ea typeface="+mj-ea"/>
              </a:endParaRPr>
            </a:p>
          </p:txBody>
        </p:sp>
        <p:sp>
          <p:nvSpPr>
            <p:cNvPr id="297" name="Rectangle 33"/>
            <p:cNvSpPr>
              <a:spLocks noChangeArrowheads="1"/>
            </p:cNvSpPr>
            <p:nvPr>
              <p:custDataLst>
                <p:tags r:id="rId23"/>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3</a:t>
              </a:r>
              <a:endParaRPr lang="en-GB" altLang="zh-CN" sz="1100" dirty="0">
                <a:solidFill>
                  <a:srgbClr val="FFFFFF"/>
                </a:solidFill>
                <a:latin typeface="+mj-ea"/>
                <a:ea typeface="+mj-ea"/>
              </a:endParaRPr>
            </a:p>
          </p:txBody>
        </p:sp>
      </p:grpSp>
      <p:grpSp>
        <p:nvGrpSpPr>
          <p:cNvPr id="298" name="组合 65"/>
          <p:cNvGrpSpPr>
            <a:grpSpLocks/>
          </p:cNvGrpSpPr>
          <p:nvPr/>
        </p:nvGrpSpPr>
        <p:grpSpPr bwMode="auto">
          <a:xfrm>
            <a:off x="6124528" y="4859708"/>
            <a:ext cx="2448000" cy="647700"/>
            <a:chOff x="3714743" y="2354263"/>
            <a:chExt cx="2957390" cy="647991"/>
          </a:xfrm>
          <a:effectLst>
            <a:outerShdw blurRad="50800" dist="38100" dir="2700000" algn="tl" rotWithShape="0">
              <a:prstClr val="black">
                <a:alpha val="40000"/>
              </a:prstClr>
            </a:outerShdw>
          </a:effectLst>
        </p:grpSpPr>
        <p:sp>
          <p:nvSpPr>
            <p:cNvPr id="299" name="Rectangle 7"/>
            <p:cNvSpPr>
              <a:spLocks noChangeArrowheads="1"/>
            </p:cNvSpPr>
            <p:nvPr>
              <p:custDataLst>
                <p:tags r:id="rId20"/>
              </p:custDataLst>
            </p:nvPr>
          </p:nvSpPr>
          <p:spPr bwMode="auto">
            <a:xfrm>
              <a:off x="3714743" y="2354263"/>
              <a:ext cx="2957390"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移动</a:t>
              </a:r>
              <a:r>
                <a:rPr lang="en-US" altLang="zh-CN" sz="1200" dirty="0" smtClean="0">
                  <a:solidFill>
                    <a:srgbClr val="000000"/>
                  </a:solidFill>
                  <a:latin typeface="+mj-ea"/>
                  <a:ea typeface="+mj-ea"/>
                </a:rPr>
                <a:t>APP</a:t>
              </a:r>
              <a:r>
                <a:rPr lang="zh-CN" altLang="en-US" sz="1200" dirty="0" smtClean="0">
                  <a:solidFill>
                    <a:srgbClr val="000000"/>
                  </a:solidFill>
                  <a:latin typeface="+mj-ea"/>
                  <a:ea typeface="+mj-ea"/>
                </a:rPr>
                <a:t>实现在线购买</a:t>
              </a:r>
              <a:endParaRPr lang="en-US" altLang="zh-CN" sz="1200" dirty="0">
                <a:solidFill>
                  <a:srgbClr val="000000"/>
                </a:solidFill>
                <a:latin typeface="+mj-ea"/>
                <a:ea typeface="+mj-ea"/>
              </a:endParaRPr>
            </a:p>
          </p:txBody>
        </p:sp>
        <p:sp>
          <p:nvSpPr>
            <p:cNvPr id="300" name="Rectangle 33"/>
            <p:cNvSpPr>
              <a:spLocks noChangeArrowheads="1"/>
            </p:cNvSpPr>
            <p:nvPr>
              <p:custDataLst>
                <p:tags r:id="rId21"/>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3</a:t>
              </a:r>
              <a:endParaRPr lang="en-GB" altLang="zh-CN" sz="1100" dirty="0">
                <a:solidFill>
                  <a:srgbClr val="FFFFFF"/>
                </a:solidFill>
                <a:latin typeface="+mj-ea"/>
                <a:ea typeface="+mj-ea"/>
              </a:endParaRPr>
            </a:p>
          </p:txBody>
        </p:sp>
      </p:grpSp>
      <p:grpSp>
        <p:nvGrpSpPr>
          <p:cNvPr id="301" name="组合 65"/>
          <p:cNvGrpSpPr>
            <a:grpSpLocks/>
          </p:cNvGrpSpPr>
          <p:nvPr/>
        </p:nvGrpSpPr>
        <p:grpSpPr bwMode="auto">
          <a:xfrm>
            <a:off x="6124528" y="2200069"/>
            <a:ext cx="1044000" cy="647700"/>
            <a:chOff x="3714743" y="2354263"/>
            <a:chExt cx="1261241" cy="647991"/>
          </a:xfrm>
          <a:effectLst>
            <a:outerShdw blurRad="50800" dist="38100" dir="2700000" algn="tl" rotWithShape="0">
              <a:prstClr val="black">
                <a:alpha val="40000"/>
              </a:prstClr>
            </a:outerShdw>
          </a:effectLst>
        </p:grpSpPr>
        <p:sp>
          <p:nvSpPr>
            <p:cNvPr id="302" name="Rectangle 7"/>
            <p:cNvSpPr>
              <a:spLocks noChangeArrowheads="1"/>
            </p:cNvSpPr>
            <p:nvPr>
              <p:custDataLst>
                <p:tags r:id="rId18"/>
              </p:custDataLst>
            </p:nvPr>
          </p:nvSpPr>
          <p:spPr bwMode="auto">
            <a:xfrm>
              <a:off x="3714743" y="2354263"/>
              <a:ext cx="1261241"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在线购物</a:t>
              </a:r>
              <a:endParaRPr lang="en-US" altLang="zh-CN" sz="1200" dirty="0">
                <a:solidFill>
                  <a:srgbClr val="000000"/>
                </a:solidFill>
                <a:latin typeface="+mj-ea"/>
                <a:ea typeface="+mj-ea"/>
              </a:endParaRPr>
            </a:p>
          </p:txBody>
        </p:sp>
        <p:sp>
          <p:nvSpPr>
            <p:cNvPr id="303" name="Rectangle 33"/>
            <p:cNvSpPr>
              <a:spLocks noChangeArrowheads="1"/>
            </p:cNvSpPr>
            <p:nvPr>
              <p:custDataLst>
                <p:tags r:id="rId19"/>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3</a:t>
              </a:r>
              <a:endParaRPr lang="en-GB" altLang="zh-CN" sz="1100" dirty="0">
                <a:solidFill>
                  <a:srgbClr val="FFFFFF"/>
                </a:solidFill>
                <a:latin typeface="+mj-ea"/>
                <a:ea typeface="+mj-ea"/>
              </a:endParaRPr>
            </a:p>
          </p:txBody>
        </p:sp>
      </p:grpSp>
      <p:cxnSp>
        <p:nvCxnSpPr>
          <p:cNvPr id="304" name="AutoShape 11"/>
          <p:cNvCxnSpPr>
            <a:cxnSpLocks noChangeShapeType="1"/>
            <a:endCxn id="72" idx="2"/>
          </p:cNvCxnSpPr>
          <p:nvPr/>
        </p:nvCxnSpPr>
        <p:spPr bwMode="auto">
          <a:xfrm flipV="1">
            <a:off x="4121984" y="2653300"/>
            <a:ext cx="1508091" cy="762575"/>
          </a:xfrm>
          <a:prstGeom prst="bentConnector2">
            <a:avLst/>
          </a:prstGeom>
          <a:noFill/>
          <a:ln w="12700">
            <a:solidFill>
              <a:schemeClr val="tx1"/>
            </a:solidFill>
            <a:miter lim="800000"/>
            <a:headEnd/>
            <a:tailEnd type="triangle" w="med" len="med"/>
          </a:ln>
        </p:spPr>
      </p:cxnSp>
      <p:cxnSp>
        <p:nvCxnSpPr>
          <p:cNvPr id="307" name="AutoShape 11"/>
          <p:cNvCxnSpPr>
            <a:cxnSpLocks noChangeShapeType="1"/>
            <a:endCxn id="72" idx="1"/>
          </p:cNvCxnSpPr>
          <p:nvPr/>
        </p:nvCxnSpPr>
        <p:spPr bwMode="auto">
          <a:xfrm>
            <a:off x="4044364" y="2523919"/>
            <a:ext cx="1456330" cy="1588"/>
          </a:xfrm>
          <a:prstGeom prst="bentConnector3">
            <a:avLst>
              <a:gd name="adj1" fmla="val 50000"/>
            </a:avLst>
          </a:prstGeom>
          <a:noFill/>
          <a:ln w="12700">
            <a:solidFill>
              <a:schemeClr val="tx1"/>
            </a:solidFill>
            <a:miter lim="800000"/>
            <a:headEnd/>
            <a:tailEnd type="triangle" w="med" len="med"/>
          </a:ln>
        </p:spPr>
      </p:cxnSp>
      <p:cxnSp>
        <p:nvCxnSpPr>
          <p:cNvPr id="312" name="AutoShape 11"/>
          <p:cNvCxnSpPr>
            <a:cxnSpLocks noChangeShapeType="1"/>
            <a:endCxn id="72" idx="2"/>
          </p:cNvCxnSpPr>
          <p:nvPr/>
        </p:nvCxnSpPr>
        <p:spPr bwMode="auto">
          <a:xfrm flipV="1">
            <a:off x="5448364" y="2653300"/>
            <a:ext cx="181711" cy="2525500"/>
          </a:xfrm>
          <a:prstGeom prst="bentConnector2">
            <a:avLst/>
          </a:prstGeom>
          <a:noFill/>
          <a:ln w="12700">
            <a:solidFill>
              <a:schemeClr val="tx1"/>
            </a:solidFill>
            <a:miter lim="800000"/>
            <a:headEnd/>
            <a:tailEnd type="triangle" w="med" len="med"/>
          </a:ln>
        </p:spPr>
      </p:cxnSp>
      <p:grpSp>
        <p:nvGrpSpPr>
          <p:cNvPr id="316" name="组合 65"/>
          <p:cNvGrpSpPr>
            <a:grpSpLocks/>
          </p:cNvGrpSpPr>
          <p:nvPr/>
        </p:nvGrpSpPr>
        <p:grpSpPr bwMode="auto">
          <a:xfrm>
            <a:off x="6124528" y="3086615"/>
            <a:ext cx="2448000" cy="647700"/>
            <a:chOff x="3714743" y="2354263"/>
            <a:chExt cx="2957390" cy="647991"/>
          </a:xfrm>
          <a:effectLst>
            <a:outerShdw blurRad="50800" dist="38100" dir="2700000" algn="tl" rotWithShape="0">
              <a:prstClr val="black">
                <a:alpha val="40000"/>
              </a:prstClr>
            </a:outerShdw>
          </a:effectLst>
        </p:grpSpPr>
        <p:sp>
          <p:nvSpPr>
            <p:cNvPr id="317" name="Rectangle 7"/>
            <p:cNvSpPr>
              <a:spLocks noChangeArrowheads="1"/>
            </p:cNvSpPr>
            <p:nvPr>
              <p:custDataLst>
                <p:tags r:id="rId16"/>
              </p:custDataLst>
            </p:nvPr>
          </p:nvSpPr>
          <p:spPr bwMode="auto">
            <a:xfrm>
              <a:off x="3714743" y="2354263"/>
              <a:ext cx="2957390"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官网集成</a:t>
              </a:r>
              <a:r>
                <a:rPr lang="en-US" altLang="zh-CN" sz="1200" dirty="0" smtClean="0">
                  <a:solidFill>
                    <a:srgbClr val="000000"/>
                  </a:solidFill>
                  <a:latin typeface="+mj-ea"/>
                  <a:ea typeface="+mj-ea"/>
                </a:rPr>
                <a:t>xTao</a:t>
              </a:r>
              <a:r>
                <a:rPr lang="zh-CN" altLang="en-US" sz="1200" dirty="0" smtClean="0">
                  <a:solidFill>
                    <a:srgbClr val="000000"/>
                  </a:solidFill>
                  <a:latin typeface="+mj-ea"/>
                  <a:ea typeface="+mj-ea"/>
                </a:rPr>
                <a:t>实现在线购买</a:t>
              </a:r>
              <a:endParaRPr lang="en-US" altLang="zh-CN" sz="1200" dirty="0">
                <a:solidFill>
                  <a:srgbClr val="000000"/>
                </a:solidFill>
                <a:latin typeface="+mj-ea"/>
                <a:ea typeface="+mj-ea"/>
              </a:endParaRPr>
            </a:p>
          </p:txBody>
        </p:sp>
        <p:sp>
          <p:nvSpPr>
            <p:cNvPr id="318" name="Rectangle 33"/>
            <p:cNvSpPr>
              <a:spLocks noChangeArrowheads="1"/>
            </p:cNvSpPr>
            <p:nvPr>
              <p:custDataLst>
                <p:tags r:id="rId17"/>
              </p:custDataLst>
            </p:nvPr>
          </p:nvSpPr>
          <p:spPr bwMode="gray">
            <a:xfrm>
              <a:off x="3714743" y="2354265"/>
              <a:ext cx="434911"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3</a:t>
              </a:r>
              <a:endParaRPr lang="en-GB" altLang="zh-CN" sz="1100" dirty="0">
                <a:solidFill>
                  <a:srgbClr val="FFFFFF"/>
                </a:solidFill>
                <a:latin typeface="+mj-ea"/>
                <a:ea typeface="+mj-ea"/>
              </a:endParaRPr>
            </a:p>
          </p:txBody>
        </p:sp>
      </p:grpSp>
      <p:cxnSp>
        <p:nvCxnSpPr>
          <p:cNvPr id="319" name="AutoShape 11"/>
          <p:cNvCxnSpPr>
            <a:cxnSpLocks noChangeShapeType="1"/>
            <a:stCxn id="72" idx="3"/>
          </p:cNvCxnSpPr>
          <p:nvPr/>
        </p:nvCxnSpPr>
        <p:spPr bwMode="auto">
          <a:xfrm>
            <a:off x="5759456" y="2523919"/>
            <a:ext cx="365072" cy="1588"/>
          </a:xfrm>
          <a:prstGeom prst="bentConnector3">
            <a:avLst>
              <a:gd name="adj1" fmla="val 50000"/>
            </a:avLst>
          </a:prstGeom>
          <a:noFill/>
          <a:ln w="12700">
            <a:solidFill>
              <a:schemeClr val="tx1"/>
            </a:solidFill>
            <a:miter lim="800000"/>
            <a:headEnd/>
            <a:tailEnd type="triangle" w="med" len="med"/>
          </a:ln>
        </p:spPr>
      </p:cxnSp>
      <p:cxnSp>
        <p:nvCxnSpPr>
          <p:cNvPr id="322" name="AutoShape 11"/>
          <p:cNvCxnSpPr>
            <a:cxnSpLocks noChangeShapeType="1"/>
            <a:stCxn id="72" idx="3"/>
          </p:cNvCxnSpPr>
          <p:nvPr/>
        </p:nvCxnSpPr>
        <p:spPr bwMode="auto">
          <a:xfrm>
            <a:off x="5759456" y="2523919"/>
            <a:ext cx="365072" cy="886546"/>
          </a:xfrm>
          <a:prstGeom prst="bentConnector3">
            <a:avLst>
              <a:gd name="adj1" fmla="val 50000"/>
            </a:avLst>
          </a:prstGeom>
          <a:noFill/>
          <a:ln w="12700">
            <a:solidFill>
              <a:schemeClr val="tx1"/>
            </a:solidFill>
            <a:miter lim="800000"/>
            <a:headEnd/>
            <a:tailEnd type="triangle" w="med" len="med"/>
          </a:ln>
        </p:spPr>
      </p:cxnSp>
      <p:cxnSp>
        <p:nvCxnSpPr>
          <p:cNvPr id="325" name="AutoShape 11"/>
          <p:cNvCxnSpPr>
            <a:cxnSpLocks noChangeShapeType="1"/>
            <a:stCxn id="72" idx="3"/>
          </p:cNvCxnSpPr>
          <p:nvPr/>
        </p:nvCxnSpPr>
        <p:spPr bwMode="auto">
          <a:xfrm>
            <a:off x="5759456" y="2523919"/>
            <a:ext cx="365072" cy="1773092"/>
          </a:xfrm>
          <a:prstGeom prst="bentConnector3">
            <a:avLst>
              <a:gd name="adj1" fmla="val 50000"/>
            </a:avLst>
          </a:prstGeom>
          <a:noFill/>
          <a:ln w="12700">
            <a:solidFill>
              <a:schemeClr val="tx1"/>
            </a:solidFill>
            <a:miter lim="800000"/>
            <a:headEnd/>
            <a:tailEnd type="triangle" w="med" len="med"/>
          </a:ln>
        </p:spPr>
      </p:cxnSp>
      <p:cxnSp>
        <p:nvCxnSpPr>
          <p:cNvPr id="328" name="AutoShape 11"/>
          <p:cNvCxnSpPr>
            <a:cxnSpLocks noChangeShapeType="1"/>
            <a:stCxn id="72" idx="3"/>
          </p:cNvCxnSpPr>
          <p:nvPr/>
        </p:nvCxnSpPr>
        <p:spPr bwMode="auto">
          <a:xfrm>
            <a:off x="5759456" y="2523919"/>
            <a:ext cx="365072" cy="2659639"/>
          </a:xfrm>
          <a:prstGeom prst="bentConnector3">
            <a:avLst>
              <a:gd name="adj1" fmla="val 50000"/>
            </a:avLst>
          </a:prstGeom>
          <a:noFill/>
          <a:ln w="12700">
            <a:solidFill>
              <a:schemeClr val="tx1"/>
            </a:solidFill>
            <a:miter lim="800000"/>
            <a:headEnd/>
            <a:tailEnd type="triangle" w="med" len="med"/>
          </a:ln>
        </p:spPr>
      </p:cxnSp>
      <p:cxnSp>
        <p:nvCxnSpPr>
          <p:cNvPr id="331" name="AutoShape 11"/>
          <p:cNvCxnSpPr>
            <a:cxnSpLocks noChangeShapeType="1"/>
            <a:endCxn id="79" idx="1"/>
          </p:cNvCxnSpPr>
          <p:nvPr/>
        </p:nvCxnSpPr>
        <p:spPr bwMode="auto">
          <a:xfrm flipV="1">
            <a:off x="7168528" y="2522678"/>
            <a:ext cx="1573866" cy="1241"/>
          </a:xfrm>
          <a:prstGeom prst="bentConnector3">
            <a:avLst>
              <a:gd name="adj1" fmla="val 50000"/>
            </a:avLst>
          </a:prstGeom>
          <a:noFill/>
          <a:ln w="12700">
            <a:solidFill>
              <a:schemeClr val="tx1"/>
            </a:solidFill>
            <a:miter lim="800000"/>
            <a:headEnd/>
            <a:tailEnd type="triangle" w="med" len="med"/>
          </a:ln>
        </p:spPr>
      </p:cxnSp>
      <p:cxnSp>
        <p:nvCxnSpPr>
          <p:cNvPr id="334" name="AutoShape 11"/>
          <p:cNvCxnSpPr>
            <a:cxnSpLocks noChangeShapeType="1"/>
            <a:endCxn id="79" idx="2"/>
          </p:cNvCxnSpPr>
          <p:nvPr/>
        </p:nvCxnSpPr>
        <p:spPr bwMode="auto">
          <a:xfrm flipV="1">
            <a:off x="8572528" y="2652059"/>
            <a:ext cx="299247" cy="758406"/>
          </a:xfrm>
          <a:prstGeom prst="bentConnector2">
            <a:avLst/>
          </a:prstGeom>
          <a:noFill/>
          <a:ln w="12700">
            <a:solidFill>
              <a:schemeClr val="tx1"/>
            </a:solidFill>
            <a:miter lim="800000"/>
            <a:headEnd/>
            <a:tailEnd type="triangle" w="med" len="med"/>
          </a:ln>
        </p:spPr>
      </p:cxnSp>
      <p:cxnSp>
        <p:nvCxnSpPr>
          <p:cNvPr id="337" name="AutoShape 11"/>
          <p:cNvCxnSpPr>
            <a:cxnSpLocks noChangeShapeType="1"/>
            <a:endCxn id="79" idx="2"/>
          </p:cNvCxnSpPr>
          <p:nvPr/>
        </p:nvCxnSpPr>
        <p:spPr bwMode="auto">
          <a:xfrm flipV="1">
            <a:off x="8572528" y="2652059"/>
            <a:ext cx="299247" cy="1644952"/>
          </a:xfrm>
          <a:prstGeom prst="bentConnector2">
            <a:avLst/>
          </a:prstGeom>
          <a:noFill/>
          <a:ln w="12700">
            <a:solidFill>
              <a:schemeClr val="tx1"/>
            </a:solidFill>
            <a:miter lim="800000"/>
            <a:headEnd/>
            <a:tailEnd type="triangle" w="med" len="med"/>
          </a:ln>
        </p:spPr>
      </p:cxnSp>
      <p:cxnSp>
        <p:nvCxnSpPr>
          <p:cNvPr id="340" name="AutoShape 11"/>
          <p:cNvCxnSpPr>
            <a:cxnSpLocks noChangeShapeType="1"/>
            <a:endCxn id="79" idx="2"/>
          </p:cNvCxnSpPr>
          <p:nvPr/>
        </p:nvCxnSpPr>
        <p:spPr bwMode="auto">
          <a:xfrm flipV="1">
            <a:off x="8572528" y="2652059"/>
            <a:ext cx="299247" cy="2531499"/>
          </a:xfrm>
          <a:prstGeom prst="bentConnector2">
            <a:avLst/>
          </a:prstGeom>
          <a:noFill/>
          <a:ln w="12700">
            <a:solidFill>
              <a:schemeClr val="tx1"/>
            </a:solidFill>
            <a:miter lim="800000"/>
            <a:headEnd/>
            <a:tailEnd type="triangle" w="med" len="med"/>
          </a:ln>
        </p:spPr>
      </p:cxnSp>
      <p:sp>
        <p:nvSpPr>
          <p:cNvPr id="343" name="Text Box 27"/>
          <p:cNvSpPr txBox="1">
            <a:spLocks noChangeArrowheads="1"/>
          </p:cNvSpPr>
          <p:nvPr>
            <p:custDataLst>
              <p:tags r:id="rId10"/>
            </p:custDataLst>
          </p:nvPr>
        </p:nvSpPr>
        <p:spPr bwMode="auto">
          <a:xfrm>
            <a:off x="2214546" y="1857364"/>
            <a:ext cx="762000" cy="260350"/>
          </a:xfrm>
          <a:prstGeom prst="rect">
            <a:avLst/>
          </a:prstGeom>
          <a:noFill/>
          <a:ln w="9525" algn="ctr">
            <a:noFill/>
            <a:miter lim="800000"/>
            <a:headEnd/>
            <a:tailEnd/>
          </a:ln>
        </p:spPr>
        <p:txBody>
          <a:bodyPr>
            <a:spAutoFit/>
          </a:bodyPr>
          <a:lstStyle/>
          <a:p>
            <a:pPr marL="228600" indent="-228600" algn="ctr">
              <a:spcBef>
                <a:spcPct val="50000"/>
              </a:spcBef>
              <a:buClr>
                <a:schemeClr val="accent2"/>
              </a:buClr>
              <a:buFont typeface="Wingdings" pitchFamily="2" charset="2"/>
              <a:buNone/>
              <a:defRPr/>
            </a:pPr>
            <a:r>
              <a:rPr lang="en-US" altLang="zh-CN" sz="1100" b="1" dirty="0" smtClean="0">
                <a:solidFill>
                  <a:srgbClr val="D03200"/>
                </a:solidFill>
                <a:latin typeface="+mj-ea"/>
                <a:ea typeface="+mj-ea"/>
              </a:rPr>
              <a:t>2013.3</a:t>
            </a:r>
            <a:endParaRPr lang="en-GB" altLang="zh-CN" sz="1100" b="1" dirty="0">
              <a:solidFill>
                <a:srgbClr val="D03200"/>
              </a:solidFill>
              <a:latin typeface="+mj-ea"/>
              <a:ea typeface="+mj-ea"/>
            </a:endParaRPr>
          </a:p>
        </p:txBody>
      </p:sp>
      <p:sp>
        <p:nvSpPr>
          <p:cNvPr id="344" name="Text Box 27"/>
          <p:cNvSpPr txBox="1">
            <a:spLocks noChangeArrowheads="1"/>
          </p:cNvSpPr>
          <p:nvPr>
            <p:custDataLst>
              <p:tags r:id="rId11"/>
            </p:custDataLst>
          </p:nvPr>
        </p:nvSpPr>
        <p:spPr bwMode="auto">
          <a:xfrm>
            <a:off x="8215338" y="1857364"/>
            <a:ext cx="762000" cy="260350"/>
          </a:xfrm>
          <a:prstGeom prst="rect">
            <a:avLst/>
          </a:prstGeom>
          <a:noFill/>
          <a:ln w="9525" algn="ctr">
            <a:noFill/>
            <a:miter lim="800000"/>
            <a:headEnd/>
            <a:tailEnd/>
          </a:ln>
        </p:spPr>
        <p:txBody>
          <a:bodyPr>
            <a:spAutoFit/>
          </a:bodyPr>
          <a:lstStyle/>
          <a:p>
            <a:pPr marL="228600" indent="-228600" algn="ctr">
              <a:spcBef>
                <a:spcPct val="50000"/>
              </a:spcBef>
              <a:buClr>
                <a:schemeClr val="accent2"/>
              </a:buClr>
              <a:buFont typeface="Wingdings" pitchFamily="2" charset="2"/>
              <a:buNone/>
              <a:defRPr/>
            </a:pPr>
            <a:r>
              <a:rPr lang="en-US" altLang="zh-CN" sz="1100" b="1" dirty="0" smtClean="0">
                <a:solidFill>
                  <a:srgbClr val="D03200"/>
                </a:solidFill>
                <a:latin typeface="+mj-ea"/>
                <a:ea typeface="+mj-ea"/>
              </a:rPr>
              <a:t>2014.06</a:t>
            </a:r>
            <a:endParaRPr lang="en-GB" altLang="zh-CN" sz="1100" b="1" dirty="0">
              <a:solidFill>
                <a:srgbClr val="D03200"/>
              </a:solidFill>
              <a:latin typeface="+mj-ea"/>
              <a:ea typeface="+mj-ea"/>
            </a:endParaRPr>
          </a:p>
        </p:txBody>
      </p:sp>
      <p:grpSp>
        <p:nvGrpSpPr>
          <p:cNvPr id="76" name="组合 32"/>
          <p:cNvGrpSpPr>
            <a:grpSpLocks/>
          </p:cNvGrpSpPr>
          <p:nvPr/>
        </p:nvGrpSpPr>
        <p:grpSpPr bwMode="auto">
          <a:xfrm>
            <a:off x="1241984" y="3065693"/>
            <a:ext cx="1044000" cy="647700"/>
            <a:chOff x="3714747" y="2354265"/>
            <a:chExt cx="1064928" cy="647991"/>
          </a:xfrm>
          <a:effectLst>
            <a:outerShdw blurRad="50800" dist="38100" dir="2700000" algn="tl" rotWithShape="0">
              <a:prstClr val="black">
                <a:alpha val="40000"/>
              </a:prstClr>
            </a:outerShdw>
          </a:effectLst>
        </p:grpSpPr>
        <p:sp>
          <p:nvSpPr>
            <p:cNvPr id="77" name="Rectangle 7"/>
            <p:cNvSpPr>
              <a:spLocks noChangeArrowheads="1"/>
            </p:cNvSpPr>
            <p:nvPr>
              <p:custDataLst>
                <p:tags r:id="rId14"/>
              </p:custDataLst>
            </p:nvPr>
          </p:nvSpPr>
          <p:spPr bwMode="auto">
            <a:xfrm>
              <a:off x="3714747" y="2354265"/>
              <a:ext cx="1064928"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smtClean="0">
                <a:solidFill>
                  <a:srgbClr val="000000"/>
                </a:solidFill>
                <a:latin typeface="+mj-ea"/>
                <a:ea typeface="+mj-ea"/>
              </a:endParaRPr>
            </a:p>
            <a:p>
              <a:pPr algn="ctr" eaLnBrk="0" hangingPunct="0">
                <a:defRPr/>
              </a:pPr>
              <a:r>
                <a:rPr lang="zh-CN" altLang="en-US" sz="1200" dirty="0" smtClean="0">
                  <a:solidFill>
                    <a:srgbClr val="000000"/>
                  </a:solidFill>
                  <a:latin typeface="+mj-ea"/>
                  <a:ea typeface="+mj-ea"/>
                </a:rPr>
                <a:t>产品信息了解</a:t>
              </a:r>
              <a:endParaRPr lang="en-US" altLang="zh-CN" sz="1200" dirty="0">
                <a:solidFill>
                  <a:srgbClr val="000000"/>
                </a:solidFill>
                <a:latin typeface="+mj-ea"/>
                <a:ea typeface="+mj-ea"/>
              </a:endParaRPr>
            </a:p>
          </p:txBody>
        </p:sp>
        <p:sp>
          <p:nvSpPr>
            <p:cNvPr id="78" name="Rectangle 33"/>
            <p:cNvSpPr>
              <a:spLocks noChangeArrowheads="1"/>
            </p:cNvSpPr>
            <p:nvPr>
              <p:custDataLst>
                <p:tags r:id="rId15"/>
              </p:custDataLst>
            </p:nvPr>
          </p:nvSpPr>
          <p:spPr bwMode="gray">
            <a:xfrm>
              <a:off x="3714747" y="2354265"/>
              <a:ext cx="367217"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a:solidFill>
                    <a:srgbClr val="FFFFFF"/>
                  </a:solidFill>
                  <a:latin typeface="+mj-ea"/>
                  <a:ea typeface="+mj-ea"/>
                </a:rPr>
                <a:t>1</a:t>
              </a:r>
              <a:endParaRPr lang="en-GB" altLang="zh-CN" sz="1100" dirty="0">
                <a:solidFill>
                  <a:srgbClr val="FFFFFF"/>
                </a:solidFill>
                <a:latin typeface="+mj-ea"/>
                <a:ea typeface="+mj-ea"/>
              </a:endParaRPr>
            </a:p>
          </p:txBody>
        </p:sp>
      </p:grpSp>
      <p:cxnSp>
        <p:nvCxnSpPr>
          <p:cNvPr id="80" name="AutoShape 11"/>
          <p:cNvCxnSpPr>
            <a:cxnSpLocks noChangeShapeType="1"/>
            <a:endCxn id="18" idx="2"/>
          </p:cNvCxnSpPr>
          <p:nvPr/>
        </p:nvCxnSpPr>
        <p:spPr bwMode="auto">
          <a:xfrm rot="5400000" flipH="1" flipV="1">
            <a:off x="2067076" y="2865379"/>
            <a:ext cx="703244" cy="279086"/>
          </a:xfrm>
          <a:prstGeom prst="bentConnector3">
            <a:avLst>
              <a:gd name="adj1" fmla="val -660"/>
            </a:avLst>
          </a:prstGeom>
          <a:noFill/>
          <a:ln w="12700">
            <a:solidFill>
              <a:schemeClr val="tx1"/>
            </a:solidFill>
            <a:miter lim="800000"/>
            <a:headEnd/>
            <a:tailEnd type="triangle" w="med" len="med"/>
          </a:ln>
        </p:spPr>
      </p:cxnSp>
      <p:grpSp>
        <p:nvGrpSpPr>
          <p:cNvPr id="85" name="组合 32"/>
          <p:cNvGrpSpPr>
            <a:grpSpLocks/>
          </p:cNvGrpSpPr>
          <p:nvPr/>
        </p:nvGrpSpPr>
        <p:grpSpPr bwMode="auto">
          <a:xfrm>
            <a:off x="3000364" y="3086617"/>
            <a:ext cx="2448000" cy="647700"/>
            <a:chOff x="3714747" y="2354265"/>
            <a:chExt cx="1064928" cy="647991"/>
          </a:xfrm>
          <a:effectLst>
            <a:outerShdw blurRad="50800" dist="38100" dir="2700000" algn="tl" rotWithShape="0">
              <a:prstClr val="black">
                <a:alpha val="40000"/>
              </a:prstClr>
            </a:outerShdw>
          </a:effectLst>
        </p:grpSpPr>
        <p:sp>
          <p:nvSpPr>
            <p:cNvPr id="86" name="Rectangle 7"/>
            <p:cNvSpPr>
              <a:spLocks noChangeArrowheads="1"/>
            </p:cNvSpPr>
            <p:nvPr>
              <p:custDataLst>
                <p:tags r:id="rId12"/>
              </p:custDataLst>
            </p:nvPr>
          </p:nvSpPr>
          <p:spPr bwMode="auto">
            <a:xfrm>
              <a:off x="3714747" y="2354265"/>
              <a:ext cx="1064928" cy="647991"/>
            </a:xfrm>
            <a:prstGeom prst="rect">
              <a:avLst/>
            </a:prstGeom>
            <a:solidFill>
              <a:srgbClr val="FFFFFF"/>
            </a:solidFill>
            <a:ln w="12700" algn="ctr">
              <a:solidFill>
                <a:schemeClr val="tx1"/>
              </a:solidFill>
              <a:miter lim="800000"/>
              <a:headEnd/>
              <a:tailEnd/>
            </a:ln>
            <a:effectLst/>
          </p:spPr>
          <p:txBody>
            <a:bodyPr lIns="36000" tIns="18000" rIns="36000" bIns="18000" anchor="ctr"/>
            <a:lstStyle/>
            <a:p>
              <a:pPr algn="ctr" eaLnBrk="0" hangingPunct="0">
                <a:defRPr/>
              </a:pPr>
              <a:endParaRPr lang="en-US" altLang="zh-CN" sz="1200" dirty="0">
                <a:solidFill>
                  <a:srgbClr val="000000"/>
                </a:solidFill>
                <a:latin typeface="+mj-ea"/>
                <a:ea typeface="+mj-ea"/>
              </a:endParaRPr>
            </a:p>
            <a:p>
              <a:pPr eaLnBrk="0" hangingPunct="0">
                <a:defRPr/>
              </a:pPr>
              <a:r>
                <a:rPr lang="zh-CN" altLang="en-US" sz="1200" dirty="0" smtClean="0">
                  <a:solidFill>
                    <a:srgbClr val="000000"/>
                  </a:solidFill>
                  <a:latin typeface="+mj-ea"/>
                  <a:ea typeface="+mj-ea"/>
                </a:rPr>
                <a:t>    聚</a:t>
              </a:r>
              <a:r>
                <a:rPr lang="zh-CN" altLang="en-US" sz="1200" dirty="0">
                  <a:solidFill>
                    <a:srgbClr val="000000"/>
                  </a:solidFill>
                  <a:latin typeface="+mj-ea"/>
                  <a:ea typeface="+mj-ea"/>
                </a:rPr>
                <a:t>芳</a:t>
              </a:r>
              <a:r>
                <a:rPr lang="zh-CN" altLang="en-US" sz="1200" dirty="0" smtClean="0">
                  <a:solidFill>
                    <a:srgbClr val="000000"/>
                  </a:solidFill>
                  <a:latin typeface="+mj-ea"/>
                  <a:ea typeface="+mj-ea"/>
                </a:rPr>
                <a:t>永</a:t>
              </a:r>
              <a:r>
                <a:rPr lang="en-US" altLang="zh-CN" sz="1200" dirty="0" smtClean="0">
                  <a:solidFill>
                    <a:srgbClr val="000000"/>
                  </a:solidFill>
                  <a:latin typeface="+mj-ea"/>
                  <a:ea typeface="+mj-ea"/>
                </a:rPr>
                <a:t>CRM</a:t>
              </a:r>
              <a:r>
                <a:rPr lang="zh-CN" altLang="en-US" sz="1200" dirty="0" smtClean="0">
                  <a:solidFill>
                    <a:srgbClr val="000000"/>
                  </a:solidFill>
                  <a:latin typeface="+mj-ea"/>
                  <a:ea typeface="+mj-ea"/>
                </a:rPr>
                <a:t>需求分析</a:t>
              </a:r>
              <a:endParaRPr lang="en-US" altLang="zh-CN" sz="1200" dirty="0">
                <a:solidFill>
                  <a:srgbClr val="000000"/>
                </a:solidFill>
                <a:latin typeface="+mj-ea"/>
                <a:ea typeface="+mj-ea"/>
              </a:endParaRPr>
            </a:p>
          </p:txBody>
        </p:sp>
        <p:sp>
          <p:nvSpPr>
            <p:cNvPr id="87" name="Rectangle 33"/>
            <p:cNvSpPr>
              <a:spLocks noChangeArrowheads="1"/>
            </p:cNvSpPr>
            <p:nvPr>
              <p:custDataLst>
                <p:tags r:id="rId13"/>
              </p:custDataLst>
            </p:nvPr>
          </p:nvSpPr>
          <p:spPr bwMode="gray">
            <a:xfrm>
              <a:off x="3714747" y="2354265"/>
              <a:ext cx="183608" cy="209644"/>
            </a:xfrm>
            <a:prstGeom prst="rect">
              <a:avLst/>
            </a:prstGeom>
            <a:solidFill>
              <a:schemeClr val="accent1">
                <a:lumMod val="60000"/>
                <a:lumOff val="40000"/>
              </a:schemeClr>
            </a:solidFill>
            <a:ln w="6350" algn="ctr">
              <a:solidFill>
                <a:schemeClr val="tx1"/>
              </a:solidFill>
              <a:miter lim="800000"/>
              <a:headEnd/>
              <a:tailEnd/>
            </a:ln>
          </p:spPr>
          <p:txBody>
            <a:bodyPr wrap="none" lIns="18000" tIns="18000" rIns="18000" bIns="18000" anchor="ctr"/>
            <a:lstStyle/>
            <a:p>
              <a:pPr algn="ctr">
                <a:defRPr/>
              </a:pPr>
              <a:r>
                <a:rPr lang="en-GB" altLang="zh-CN" sz="1100" dirty="0" smtClean="0">
                  <a:solidFill>
                    <a:srgbClr val="FFFFFF"/>
                  </a:solidFill>
                  <a:latin typeface="+mj-ea"/>
                  <a:ea typeface="+mj-ea"/>
                </a:rPr>
                <a:t>T-0</a:t>
              </a:r>
              <a:r>
                <a:rPr lang="en-US" altLang="zh-CN" sz="1100" dirty="0" smtClean="0">
                  <a:solidFill>
                    <a:srgbClr val="FFFFFF"/>
                  </a:solidFill>
                  <a:latin typeface="+mj-ea"/>
                  <a:ea typeface="+mj-ea"/>
                </a:rPr>
                <a:t>2</a:t>
              </a:r>
              <a:endParaRPr lang="en-GB" altLang="zh-CN" sz="1100" dirty="0">
                <a:solidFill>
                  <a:srgbClr val="FFFFFF"/>
                </a:solidFill>
                <a:latin typeface="+mj-ea"/>
                <a:ea typeface="+mj-ea"/>
              </a:endParaRPr>
            </a:p>
          </p:txBody>
        </p:sp>
      </p:grpSp>
      <p:cxnSp>
        <p:nvCxnSpPr>
          <p:cNvPr id="88" name="AutoShape 11"/>
          <p:cNvCxnSpPr>
            <a:cxnSpLocks noChangeShapeType="1"/>
            <a:stCxn id="18" idx="3"/>
            <a:endCxn id="86" idx="1"/>
          </p:cNvCxnSpPr>
          <p:nvPr/>
        </p:nvCxnSpPr>
        <p:spPr bwMode="auto">
          <a:xfrm>
            <a:off x="2687622" y="2523919"/>
            <a:ext cx="312742" cy="886548"/>
          </a:xfrm>
          <a:prstGeom prst="bentConnector3">
            <a:avLst>
              <a:gd name="adj1" fmla="val 50000"/>
            </a:avLst>
          </a:prstGeom>
          <a:noFill/>
          <a:ln w="12700">
            <a:solidFill>
              <a:schemeClr val="tx1"/>
            </a:solidFill>
            <a:miter lim="800000"/>
            <a:headEnd/>
            <a:tailEnd type="triangle" w="med" len="med"/>
          </a:ln>
        </p:spPr>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聚芳永官网系统架构图</a:t>
            </a:r>
            <a:endParaRPr lang="zh-CN" altLang="en-US" dirty="0"/>
          </a:p>
        </p:txBody>
      </p:sp>
      <p:sp>
        <p:nvSpPr>
          <p:cNvPr id="7" name="圆角矩形 6"/>
          <p:cNvSpPr/>
          <p:nvPr/>
        </p:nvSpPr>
        <p:spPr>
          <a:xfrm>
            <a:off x="153927" y="1055655"/>
            <a:ext cx="8715436" cy="4527612"/>
          </a:xfrm>
          <a:prstGeom prst="roundRect">
            <a:avLst>
              <a:gd name="adj" fmla="val 8355"/>
            </a:avLst>
          </a:prstGeom>
          <a:solidFill>
            <a:srgbClr val="CCECFF"/>
          </a:solidFill>
          <a:ln>
            <a:solidFill>
              <a:srgbClr val="3399FF"/>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442855" y="5859480"/>
            <a:ext cx="2790835" cy="569916"/>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3257576" y="2479662"/>
            <a:ext cx="1857388" cy="1387494"/>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642910" y="2500306"/>
            <a:ext cx="1571636" cy="1387494"/>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641267" y="4259472"/>
            <a:ext cx="4491099" cy="1133502"/>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96858" y="5969019"/>
            <a:ext cx="772193"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订单管理</a:t>
            </a:r>
            <a:endParaRPr lang="zh-CN" altLang="en-US" sz="1100" dirty="0">
              <a:solidFill>
                <a:schemeClr val="tx1"/>
              </a:solidFill>
            </a:endParaRPr>
          </a:p>
        </p:txBody>
      </p:sp>
      <p:sp>
        <p:nvSpPr>
          <p:cNvPr id="14" name="矩形 13"/>
          <p:cNvSpPr/>
          <p:nvPr/>
        </p:nvSpPr>
        <p:spPr>
          <a:xfrm>
            <a:off x="1736657" y="5969019"/>
            <a:ext cx="785818"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仓库管理</a:t>
            </a:r>
          </a:p>
        </p:txBody>
      </p:sp>
      <p:sp>
        <p:nvSpPr>
          <p:cNvPr id="16" name="矩形 15"/>
          <p:cNvSpPr/>
          <p:nvPr/>
        </p:nvSpPr>
        <p:spPr>
          <a:xfrm>
            <a:off x="2538366" y="5990873"/>
            <a:ext cx="547695" cy="270023"/>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rPr>
              <a:t>…</a:t>
            </a:r>
            <a:endParaRPr lang="zh-CN" altLang="en-US" dirty="0">
              <a:solidFill>
                <a:schemeClr val="bg1"/>
              </a:solidFill>
            </a:endParaRPr>
          </a:p>
        </p:txBody>
      </p:sp>
      <p:sp>
        <p:nvSpPr>
          <p:cNvPr id="20" name="矩形 19"/>
          <p:cNvSpPr/>
          <p:nvPr/>
        </p:nvSpPr>
        <p:spPr>
          <a:xfrm>
            <a:off x="812771" y="4572008"/>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数据清洗</a:t>
            </a:r>
            <a:endParaRPr lang="zh-CN" altLang="en-US" sz="1100" dirty="0">
              <a:solidFill>
                <a:schemeClr val="tx1"/>
              </a:solidFill>
            </a:endParaRPr>
          </a:p>
        </p:txBody>
      </p:sp>
      <p:sp>
        <p:nvSpPr>
          <p:cNvPr id="21" name="矩形 20"/>
          <p:cNvSpPr/>
          <p:nvPr/>
        </p:nvSpPr>
        <p:spPr>
          <a:xfrm>
            <a:off x="1741465" y="4572008"/>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数据转换</a:t>
            </a:r>
            <a:endParaRPr lang="zh-CN" altLang="en-US" sz="1100" dirty="0">
              <a:solidFill>
                <a:schemeClr val="tx1"/>
              </a:solidFill>
            </a:endParaRPr>
          </a:p>
        </p:txBody>
      </p:sp>
      <p:sp>
        <p:nvSpPr>
          <p:cNvPr id="22" name="矩形 21"/>
          <p:cNvSpPr/>
          <p:nvPr/>
        </p:nvSpPr>
        <p:spPr>
          <a:xfrm>
            <a:off x="812771" y="4997683"/>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数据校验</a:t>
            </a:r>
            <a:endParaRPr lang="zh-CN" altLang="en-US" sz="1100" dirty="0">
              <a:solidFill>
                <a:schemeClr val="tx1"/>
              </a:solidFill>
            </a:endParaRPr>
          </a:p>
        </p:txBody>
      </p:sp>
      <p:sp>
        <p:nvSpPr>
          <p:cNvPr id="23" name="矩形 22"/>
          <p:cNvSpPr/>
          <p:nvPr/>
        </p:nvSpPr>
        <p:spPr>
          <a:xfrm>
            <a:off x="1741465" y="4997683"/>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数据提取</a:t>
            </a:r>
            <a:endParaRPr lang="zh-CN" altLang="en-US" sz="1100" dirty="0">
              <a:solidFill>
                <a:schemeClr val="tx1"/>
              </a:solidFill>
            </a:endParaRPr>
          </a:p>
        </p:txBody>
      </p:sp>
      <p:sp>
        <p:nvSpPr>
          <p:cNvPr id="24" name="矩形 23"/>
          <p:cNvSpPr/>
          <p:nvPr/>
        </p:nvSpPr>
        <p:spPr>
          <a:xfrm>
            <a:off x="2371681" y="4286256"/>
            <a:ext cx="785818" cy="285752"/>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accent3"/>
                </a:solidFill>
              </a:rPr>
              <a:t>数据仓库</a:t>
            </a:r>
            <a:endParaRPr lang="zh-CN" altLang="en-US" sz="1100" dirty="0">
              <a:solidFill>
                <a:schemeClr val="accent3"/>
              </a:solidFill>
            </a:endParaRPr>
          </a:p>
        </p:txBody>
      </p:sp>
      <p:sp>
        <p:nvSpPr>
          <p:cNvPr id="25" name="矩形 24"/>
          <p:cNvSpPr/>
          <p:nvPr/>
        </p:nvSpPr>
        <p:spPr>
          <a:xfrm>
            <a:off x="2670159" y="4997683"/>
            <a:ext cx="1000132"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元数据管理</a:t>
            </a:r>
            <a:endParaRPr lang="zh-CN" altLang="en-US" sz="1100" dirty="0">
              <a:solidFill>
                <a:schemeClr val="tx1"/>
              </a:solidFill>
            </a:endParaRPr>
          </a:p>
        </p:txBody>
      </p:sp>
      <p:sp>
        <p:nvSpPr>
          <p:cNvPr id="26" name="矩形 25"/>
          <p:cNvSpPr/>
          <p:nvPr/>
        </p:nvSpPr>
        <p:spPr>
          <a:xfrm>
            <a:off x="3854411" y="4997683"/>
            <a:ext cx="1071570"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外部系统对接</a:t>
            </a:r>
            <a:endParaRPr lang="zh-CN" altLang="en-US" sz="1100" dirty="0">
              <a:solidFill>
                <a:schemeClr val="tx1"/>
              </a:solidFill>
            </a:endParaRPr>
          </a:p>
        </p:txBody>
      </p:sp>
      <p:sp>
        <p:nvSpPr>
          <p:cNvPr id="27" name="矩形 26"/>
          <p:cNvSpPr/>
          <p:nvPr/>
        </p:nvSpPr>
        <p:spPr>
          <a:xfrm>
            <a:off x="2670159" y="4572008"/>
            <a:ext cx="1000132"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数据安全</a:t>
            </a:r>
            <a:endParaRPr lang="zh-CN" altLang="en-US" sz="1100" dirty="0">
              <a:solidFill>
                <a:schemeClr val="tx1"/>
              </a:solidFill>
            </a:endParaRPr>
          </a:p>
        </p:txBody>
      </p:sp>
      <p:sp>
        <p:nvSpPr>
          <p:cNvPr id="28" name="矩形 27"/>
          <p:cNvSpPr/>
          <p:nvPr/>
        </p:nvSpPr>
        <p:spPr>
          <a:xfrm>
            <a:off x="3854411" y="4572008"/>
            <a:ext cx="1071570"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数据调度配置</a:t>
            </a:r>
            <a:endParaRPr lang="zh-CN" altLang="en-US" sz="1100" dirty="0">
              <a:solidFill>
                <a:schemeClr val="tx1"/>
              </a:solidFill>
            </a:endParaRPr>
          </a:p>
        </p:txBody>
      </p:sp>
      <p:sp>
        <p:nvSpPr>
          <p:cNvPr id="29" name="矩形 28"/>
          <p:cNvSpPr/>
          <p:nvPr/>
        </p:nvSpPr>
        <p:spPr>
          <a:xfrm>
            <a:off x="3329014" y="2857496"/>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客户信息</a:t>
            </a:r>
          </a:p>
        </p:txBody>
      </p:sp>
      <p:sp>
        <p:nvSpPr>
          <p:cNvPr id="30" name="圆角矩形 29"/>
          <p:cNvSpPr/>
          <p:nvPr/>
        </p:nvSpPr>
        <p:spPr>
          <a:xfrm>
            <a:off x="5975512" y="2479662"/>
            <a:ext cx="2628936" cy="1386000"/>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5813431" y="4249966"/>
            <a:ext cx="2500330" cy="1143008"/>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6078528" y="4572008"/>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决策分析</a:t>
            </a:r>
            <a:endParaRPr lang="zh-CN" altLang="en-US" sz="1100" dirty="0">
              <a:solidFill>
                <a:schemeClr val="tx1"/>
              </a:solidFill>
            </a:endParaRPr>
          </a:p>
        </p:txBody>
      </p:sp>
      <p:sp>
        <p:nvSpPr>
          <p:cNvPr id="33" name="矩形 32"/>
          <p:cNvSpPr/>
          <p:nvPr/>
        </p:nvSpPr>
        <p:spPr>
          <a:xfrm>
            <a:off x="7302513" y="4572008"/>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应用报表</a:t>
            </a:r>
            <a:endParaRPr lang="zh-CN" altLang="en-US" sz="1100" dirty="0">
              <a:solidFill>
                <a:schemeClr val="tx1"/>
              </a:solidFill>
            </a:endParaRPr>
          </a:p>
        </p:txBody>
      </p:sp>
      <p:sp>
        <p:nvSpPr>
          <p:cNvPr id="34" name="矩形 33"/>
          <p:cNvSpPr/>
          <p:nvPr/>
        </p:nvSpPr>
        <p:spPr>
          <a:xfrm>
            <a:off x="6742125" y="4286256"/>
            <a:ext cx="785818" cy="285752"/>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accent3"/>
                </a:solidFill>
              </a:rPr>
              <a:t>商业智能</a:t>
            </a:r>
            <a:endParaRPr lang="zh-CN" altLang="en-US" sz="1100" dirty="0">
              <a:solidFill>
                <a:schemeClr val="accent3"/>
              </a:solidFill>
            </a:endParaRPr>
          </a:p>
        </p:txBody>
      </p:sp>
      <p:sp>
        <p:nvSpPr>
          <p:cNvPr id="35" name="矩形 34"/>
          <p:cNvSpPr/>
          <p:nvPr/>
        </p:nvSpPr>
        <p:spPr>
          <a:xfrm>
            <a:off x="6086457" y="4997683"/>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预警提示</a:t>
            </a:r>
            <a:endParaRPr lang="zh-CN" altLang="en-US" sz="1100" dirty="0">
              <a:solidFill>
                <a:schemeClr val="tx1"/>
              </a:solidFill>
            </a:endParaRPr>
          </a:p>
        </p:txBody>
      </p:sp>
      <p:sp>
        <p:nvSpPr>
          <p:cNvPr id="36" name="矩形 35"/>
          <p:cNvSpPr/>
          <p:nvPr/>
        </p:nvSpPr>
        <p:spPr>
          <a:xfrm>
            <a:off x="7300903" y="4997683"/>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财务报表</a:t>
            </a:r>
            <a:endParaRPr lang="zh-CN" altLang="en-US" sz="1100" dirty="0">
              <a:solidFill>
                <a:schemeClr val="tx1"/>
              </a:solidFill>
            </a:endParaRPr>
          </a:p>
        </p:txBody>
      </p:sp>
      <p:sp>
        <p:nvSpPr>
          <p:cNvPr id="37" name="矩形 36"/>
          <p:cNvSpPr/>
          <p:nvPr/>
        </p:nvSpPr>
        <p:spPr>
          <a:xfrm>
            <a:off x="4230684" y="2857496"/>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活动信息</a:t>
            </a:r>
          </a:p>
        </p:txBody>
      </p:sp>
      <p:sp>
        <p:nvSpPr>
          <p:cNvPr id="38" name="矩形 37"/>
          <p:cNvSpPr/>
          <p:nvPr/>
        </p:nvSpPr>
        <p:spPr>
          <a:xfrm>
            <a:off x="3329014" y="3357562"/>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交易订单</a:t>
            </a:r>
          </a:p>
        </p:txBody>
      </p:sp>
      <p:sp>
        <p:nvSpPr>
          <p:cNvPr id="39" name="矩形 38"/>
          <p:cNvSpPr/>
          <p:nvPr/>
        </p:nvSpPr>
        <p:spPr>
          <a:xfrm>
            <a:off x="4230684" y="3357562"/>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积分礼券</a:t>
            </a:r>
          </a:p>
        </p:txBody>
      </p:sp>
      <p:sp>
        <p:nvSpPr>
          <p:cNvPr id="40" name="矩形 39"/>
          <p:cNvSpPr/>
          <p:nvPr/>
        </p:nvSpPr>
        <p:spPr>
          <a:xfrm>
            <a:off x="3489281" y="2500306"/>
            <a:ext cx="1225606" cy="285752"/>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bg1"/>
                </a:solidFill>
              </a:rPr>
              <a:t>聚芳永数据集市</a:t>
            </a:r>
            <a:endParaRPr lang="zh-CN" altLang="en-US" sz="1100" dirty="0">
              <a:solidFill>
                <a:schemeClr val="bg1"/>
              </a:solidFill>
            </a:endParaRPr>
          </a:p>
        </p:txBody>
      </p:sp>
      <p:sp>
        <p:nvSpPr>
          <p:cNvPr id="41" name="矩形 40"/>
          <p:cNvSpPr/>
          <p:nvPr/>
        </p:nvSpPr>
        <p:spPr>
          <a:xfrm>
            <a:off x="857224" y="2928934"/>
            <a:ext cx="1071570"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定制逻辑配置</a:t>
            </a:r>
          </a:p>
        </p:txBody>
      </p:sp>
      <p:sp>
        <p:nvSpPr>
          <p:cNvPr id="42" name="矩形 41"/>
          <p:cNvSpPr/>
          <p:nvPr/>
        </p:nvSpPr>
        <p:spPr>
          <a:xfrm>
            <a:off x="857224" y="3429000"/>
            <a:ext cx="1071570"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数据挖掘统计</a:t>
            </a:r>
          </a:p>
        </p:txBody>
      </p:sp>
      <p:sp>
        <p:nvSpPr>
          <p:cNvPr id="44" name="矩形 43"/>
          <p:cNvSpPr/>
          <p:nvPr/>
        </p:nvSpPr>
        <p:spPr>
          <a:xfrm>
            <a:off x="857224" y="2571744"/>
            <a:ext cx="1071570" cy="285752"/>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accent3"/>
                </a:solidFill>
              </a:rPr>
              <a:t>目标客户定位</a:t>
            </a:r>
            <a:endParaRPr lang="zh-CN" altLang="en-US" sz="1100" dirty="0">
              <a:solidFill>
                <a:schemeClr val="accent3"/>
              </a:solidFill>
            </a:endParaRPr>
          </a:p>
        </p:txBody>
      </p:sp>
      <p:sp>
        <p:nvSpPr>
          <p:cNvPr id="46" name="矩形 45"/>
          <p:cNvSpPr/>
          <p:nvPr/>
        </p:nvSpPr>
        <p:spPr>
          <a:xfrm>
            <a:off x="399968" y="5969019"/>
            <a:ext cx="642942" cy="357190"/>
          </a:xfrm>
          <a:prstGeom prst="rect">
            <a:avLst/>
          </a:prstGeom>
          <a:noFill/>
          <a:ln w="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smtClean="0">
                <a:solidFill>
                  <a:schemeClr val="accent3"/>
                </a:solidFill>
              </a:rPr>
              <a:t>ERP</a:t>
            </a:r>
            <a:endParaRPr lang="zh-CN" altLang="en-US" sz="1100" dirty="0">
              <a:solidFill>
                <a:schemeClr val="accent3"/>
              </a:solidFill>
            </a:endParaRPr>
          </a:p>
        </p:txBody>
      </p:sp>
      <p:sp>
        <p:nvSpPr>
          <p:cNvPr id="49" name="矩形 48"/>
          <p:cNvSpPr/>
          <p:nvPr/>
        </p:nvSpPr>
        <p:spPr>
          <a:xfrm>
            <a:off x="6048538" y="2928934"/>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新客户量</a:t>
            </a:r>
          </a:p>
        </p:txBody>
      </p:sp>
      <p:sp>
        <p:nvSpPr>
          <p:cNvPr id="50" name="矩形 49"/>
          <p:cNvSpPr/>
          <p:nvPr/>
        </p:nvSpPr>
        <p:spPr>
          <a:xfrm>
            <a:off x="6048538" y="3357562"/>
            <a:ext cx="785818"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交易金额</a:t>
            </a:r>
          </a:p>
        </p:txBody>
      </p:sp>
      <p:sp>
        <p:nvSpPr>
          <p:cNvPr id="51" name="矩形 50"/>
          <p:cNvSpPr/>
          <p:nvPr/>
        </p:nvSpPr>
        <p:spPr>
          <a:xfrm>
            <a:off x="6935623" y="2928934"/>
            <a:ext cx="756000" cy="2844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客单价</a:t>
            </a:r>
          </a:p>
        </p:txBody>
      </p:sp>
      <p:sp>
        <p:nvSpPr>
          <p:cNvPr id="52" name="矩形 51"/>
          <p:cNvSpPr/>
          <p:nvPr/>
        </p:nvSpPr>
        <p:spPr>
          <a:xfrm>
            <a:off x="6924850" y="3357562"/>
            <a:ext cx="756000" cy="3060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浏览量转化率</a:t>
            </a:r>
            <a:endParaRPr lang="zh-CN" altLang="en-US" sz="1100" dirty="0">
              <a:solidFill>
                <a:schemeClr val="tx1"/>
              </a:solidFill>
            </a:endParaRPr>
          </a:p>
        </p:txBody>
      </p:sp>
      <p:sp>
        <p:nvSpPr>
          <p:cNvPr id="53" name="矩形 52"/>
          <p:cNvSpPr/>
          <p:nvPr/>
        </p:nvSpPr>
        <p:spPr>
          <a:xfrm>
            <a:off x="6586523" y="2571744"/>
            <a:ext cx="1071570" cy="285752"/>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accent3"/>
                </a:solidFill>
              </a:rPr>
              <a:t>活动效果评估</a:t>
            </a:r>
            <a:endParaRPr lang="zh-CN" altLang="en-US" sz="1100" dirty="0">
              <a:solidFill>
                <a:schemeClr val="accent3"/>
              </a:solidFill>
            </a:endParaRPr>
          </a:p>
        </p:txBody>
      </p:sp>
      <p:sp>
        <p:nvSpPr>
          <p:cNvPr id="54" name="圆角矩形 53"/>
          <p:cNvSpPr/>
          <p:nvPr/>
        </p:nvSpPr>
        <p:spPr>
          <a:xfrm>
            <a:off x="3489281" y="5857892"/>
            <a:ext cx="4311688" cy="571504"/>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4548158" y="5976747"/>
            <a:ext cx="785818"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官网</a:t>
            </a:r>
          </a:p>
        </p:txBody>
      </p:sp>
      <p:sp>
        <p:nvSpPr>
          <p:cNvPr id="60" name="矩形 59"/>
          <p:cNvSpPr/>
          <p:nvPr/>
        </p:nvSpPr>
        <p:spPr>
          <a:xfrm>
            <a:off x="5424470" y="5976747"/>
            <a:ext cx="785818"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rPr>
              <a:t>专卖店</a:t>
            </a:r>
            <a:endParaRPr lang="zh-CN" altLang="en-US" sz="1100" dirty="0" smtClean="0">
              <a:solidFill>
                <a:schemeClr val="tx1"/>
              </a:solidFill>
            </a:endParaRPr>
          </a:p>
        </p:txBody>
      </p:sp>
      <p:sp>
        <p:nvSpPr>
          <p:cNvPr id="61" name="矩形 60"/>
          <p:cNvSpPr/>
          <p:nvPr/>
        </p:nvSpPr>
        <p:spPr>
          <a:xfrm>
            <a:off x="6300782" y="5976747"/>
            <a:ext cx="785818"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移动</a:t>
            </a:r>
            <a:r>
              <a:rPr lang="en-US" altLang="zh-CN" sz="1100" dirty="0" smtClean="0">
                <a:solidFill>
                  <a:schemeClr val="tx1"/>
                </a:solidFill>
              </a:rPr>
              <a:t>APP</a:t>
            </a:r>
            <a:endParaRPr lang="zh-CN" altLang="en-US" sz="1100" dirty="0" smtClean="0">
              <a:solidFill>
                <a:schemeClr val="tx1"/>
              </a:solidFill>
            </a:endParaRPr>
          </a:p>
        </p:txBody>
      </p:sp>
      <p:sp>
        <p:nvSpPr>
          <p:cNvPr id="62" name="矩形 61"/>
          <p:cNvSpPr/>
          <p:nvPr/>
        </p:nvSpPr>
        <p:spPr>
          <a:xfrm>
            <a:off x="3671846" y="5976747"/>
            <a:ext cx="785818"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淘宝</a:t>
            </a:r>
          </a:p>
        </p:txBody>
      </p:sp>
      <p:sp>
        <p:nvSpPr>
          <p:cNvPr id="65" name="右箭头 64"/>
          <p:cNvSpPr/>
          <p:nvPr/>
        </p:nvSpPr>
        <p:spPr>
          <a:xfrm>
            <a:off x="5143503" y="3071810"/>
            <a:ext cx="828661" cy="144464"/>
          </a:xfrm>
          <a:prstGeom prst="rightArrow">
            <a:avLst/>
          </a:prstGeom>
          <a:solidFill>
            <a:srgbClr val="FF3C00">
              <a:alpha val="72941"/>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右箭头 72"/>
          <p:cNvSpPr/>
          <p:nvPr/>
        </p:nvSpPr>
        <p:spPr>
          <a:xfrm rot="10800000">
            <a:off x="2214545" y="3143248"/>
            <a:ext cx="1042877" cy="146052"/>
          </a:xfrm>
          <a:prstGeom prst="right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14304" y="1201707"/>
            <a:ext cx="4600638" cy="803286"/>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23843" y="1384272"/>
            <a:ext cx="785818" cy="438156"/>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产品管理</a:t>
            </a:r>
          </a:p>
        </p:txBody>
      </p:sp>
      <p:sp>
        <p:nvSpPr>
          <p:cNvPr id="19" name="矩形 18"/>
          <p:cNvSpPr/>
          <p:nvPr/>
        </p:nvSpPr>
        <p:spPr>
          <a:xfrm>
            <a:off x="1628303" y="1384271"/>
            <a:ext cx="784800" cy="4392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会员管理</a:t>
            </a:r>
          </a:p>
        </p:txBody>
      </p:sp>
      <p:sp>
        <p:nvSpPr>
          <p:cNvPr id="75" name="矩形 74"/>
          <p:cNvSpPr/>
          <p:nvPr/>
        </p:nvSpPr>
        <p:spPr>
          <a:xfrm>
            <a:off x="2531745" y="1383228"/>
            <a:ext cx="784800" cy="4392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活动管理</a:t>
            </a:r>
          </a:p>
        </p:txBody>
      </p:sp>
      <p:sp>
        <p:nvSpPr>
          <p:cNvPr id="76" name="矩形 75"/>
          <p:cNvSpPr/>
          <p:nvPr/>
        </p:nvSpPr>
        <p:spPr>
          <a:xfrm>
            <a:off x="3435187" y="1383228"/>
            <a:ext cx="784800" cy="4392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积分管理</a:t>
            </a:r>
          </a:p>
        </p:txBody>
      </p:sp>
      <p:sp>
        <p:nvSpPr>
          <p:cNvPr id="77" name="矩形 76"/>
          <p:cNvSpPr/>
          <p:nvPr/>
        </p:nvSpPr>
        <p:spPr>
          <a:xfrm>
            <a:off x="4338630" y="1383228"/>
            <a:ext cx="784800" cy="4392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rPr>
              <a:t>礼券管理</a:t>
            </a:r>
          </a:p>
        </p:txBody>
      </p:sp>
      <p:sp>
        <p:nvSpPr>
          <p:cNvPr id="78" name="上箭头 77"/>
          <p:cNvSpPr/>
          <p:nvPr/>
        </p:nvSpPr>
        <p:spPr>
          <a:xfrm>
            <a:off x="1773170" y="5400702"/>
            <a:ext cx="182565" cy="468000"/>
          </a:xfrm>
          <a:prstGeom prst="upArrow">
            <a:avLst/>
          </a:prstGeom>
          <a:solidFill>
            <a:srgbClr val="ACB4BF">
              <a:alpha val="71765"/>
            </a:srgb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上箭头 78"/>
          <p:cNvSpPr/>
          <p:nvPr/>
        </p:nvSpPr>
        <p:spPr>
          <a:xfrm>
            <a:off x="4256054" y="5400702"/>
            <a:ext cx="182565" cy="468000"/>
          </a:xfrm>
          <a:prstGeom prst="upArrow">
            <a:avLst/>
          </a:prstGeom>
          <a:solidFill>
            <a:srgbClr val="ACB4BF">
              <a:alpha val="71765"/>
            </a:srgb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a:off x="5132366" y="4706956"/>
            <a:ext cx="693747" cy="144000"/>
          </a:xfrm>
          <a:prstGeom prst="right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圆角矩形 83"/>
          <p:cNvSpPr/>
          <p:nvPr/>
        </p:nvSpPr>
        <p:spPr>
          <a:xfrm>
            <a:off x="5972165" y="1347760"/>
            <a:ext cx="2701962" cy="584208"/>
          </a:xfrm>
          <a:prstGeom prst="roundRect">
            <a:avLst/>
          </a:prstGeom>
          <a:solidFill>
            <a:srgbClr val="6682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775451" y="1457298"/>
            <a:ext cx="530227"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短信</a:t>
            </a:r>
            <a:endParaRPr lang="zh-CN" altLang="en-US" sz="1100" dirty="0">
              <a:solidFill>
                <a:schemeClr val="tx1"/>
              </a:solidFill>
            </a:endParaRPr>
          </a:p>
        </p:txBody>
      </p:sp>
      <p:sp>
        <p:nvSpPr>
          <p:cNvPr id="57" name="矩形 56"/>
          <p:cNvSpPr/>
          <p:nvPr/>
        </p:nvSpPr>
        <p:spPr>
          <a:xfrm>
            <a:off x="7413640" y="1457298"/>
            <a:ext cx="566740"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社区</a:t>
            </a:r>
            <a:endParaRPr lang="zh-CN" altLang="en-US" sz="1100" dirty="0">
              <a:solidFill>
                <a:schemeClr val="tx1"/>
              </a:solidFill>
            </a:endParaRPr>
          </a:p>
        </p:txBody>
      </p:sp>
      <p:sp>
        <p:nvSpPr>
          <p:cNvPr id="85" name="矩形 84"/>
          <p:cNvSpPr/>
          <p:nvPr/>
        </p:nvSpPr>
        <p:spPr>
          <a:xfrm>
            <a:off x="6154730" y="1457298"/>
            <a:ext cx="530227" cy="35719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电话</a:t>
            </a:r>
            <a:endParaRPr lang="zh-CN" altLang="en-US" sz="1100" dirty="0">
              <a:solidFill>
                <a:schemeClr val="tx1"/>
              </a:solidFill>
            </a:endParaRPr>
          </a:p>
        </p:txBody>
      </p:sp>
      <p:sp>
        <p:nvSpPr>
          <p:cNvPr id="87" name="上箭头 86"/>
          <p:cNvSpPr/>
          <p:nvPr/>
        </p:nvSpPr>
        <p:spPr>
          <a:xfrm>
            <a:off x="1357290" y="2004993"/>
            <a:ext cx="142876" cy="495313"/>
          </a:xfrm>
          <a:prstGeom prst="up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右箭头 88"/>
          <p:cNvSpPr/>
          <p:nvPr/>
        </p:nvSpPr>
        <p:spPr>
          <a:xfrm>
            <a:off x="5214943" y="1571611"/>
            <a:ext cx="757222" cy="141277"/>
          </a:xfrm>
          <a:prstGeom prst="rightArrow">
            <a:avLst/>
          </a:prstGeom>
          <a:solidFill>
            <a:srgbClr val="FF3C00">
              <a:alpha val="68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上箭头 89"/>
          <p:cNvSpPr/>
          <p:nvPr/>
        </p:nvSpPr>
        <p:spPr>
          <a:xfrm>
            <a:off x="4140229" y="3867156"/>
            <a:ext cx="144000" cy="401642"/>
          </a:xfrm>
          <a:prstGeom prst="up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上箭头 90"/>
          <p:cNvSpPr/>
          <p:nvPr/>
        </p:nvSpPr>
        <p:spPr>
          <a:xfrm>
            <a:off x="7067555" y="3867157"/>
            <a:ext cx="146052" cy="401642"/>
          </a:xfrm>
          <a:prstGeom prst="up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7943867" y="1428736"/>
            <a:ext cx="566740" cy="357190"/>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rPr>
              <a:t>…</a:t>
            </a:r>
            <a:endParaRPr lang="zh-CN" altLang="en-US" dirty="0">
              <a:solidFill>
                <a:schemeClr val="bg1"/>
              </a:solidFill>
            </a:endParaRPr>
          </a:p>
        </p:txBody>
      </p:sp>
      <p:sp>
        <p:nvSpPr>
          <p:cNvPr id="71" name="TextBox 70"/>
          <p:cNvSpPr txBox="1"/>
          <p:nvPr/>
        </p:nvSpPr>
        <p:spPr>
          <a:xfrm>
            <a:off x="270408" y="4414851"/>
            <a:ext cx="369332" cy="912826"/>
          </a:xfrm>
          <a:prstGeom prst="rect">
            <a:avLst/>
          </a:prstGeom>
          <a:noFill/>
          <a:effectLst>
            <a:outerShdw blurRad="50800" dist="38100" dir="2700000" algn="tl" rotWithShape="0">
              <a:prstClr val="black">
                <a:alpha val="40000"/>
              </a:prstClr>
            </a:outerShdw>
          </a:effectLst>
        </p:spPr>
        <p:txBody>
          <a:bodyPr vert="eaVert" wrap="square" rtlCol="0">
            <a:spAutoFit/>
          </a:bodyPr>
          <a:lstStyle/>
          <a:p>
            <a:r>
              <a:rPr lang="zh-CN" altLang="en-US" sz="1200" dirty="0" smtClean="0">
                <a:solidFill>
                  <a:schemeClr val="accent1"/>
                </a:solidFill>
              </a:rPr>
              <a:t>公用平台层</a:t>
            </a:r>
            <a:endParaRPr lang="zh-CN" altLang="en-US" sz="1200" dirty="0">
              <a:solidFill>
                <a:schemeClr val="accent1"/>
              </a:solidFill>
            </a:endParaRPr>
          </a:p>
        </p:txBody>
      </p:sp>
      <p:sp>
        <p:nvSpPr>
          <p:cNvPr id="72" name="TextBox 71"/>
          <p:cNvSpPr txBox="1"/>
          <p:nvPr/>
        </p:nvSpPr>
        <p:spPr>
          <a:xfrm>
            <a:off x="270408" y="2798751"/>
            <a:ext cx="369332" cy="1058877"/>
          </a:xfrm>
          <a:prstGeom prst="rect">
            <a:avLst/>
          </a:prstGeom>
          <a:noFill/>
          <a:effectLst>
            <a:outerShdw blurRad="50800" dist="38100" dir="2700000" algn="tl" rotWithShape="0">
              <a:prstClr val="black">
                <a:alpha val="40000"/>
              </a:prstClr>
            </a:outerShdw>
          </a:effectLst>
        </p:spPr>
        <p:txBody>
          <a:bodyPr vert="eaVert" wrap="square" rtlCol="0">
            <a:spAutoFit/>
          </a:bodyPr>
          <a:lstStyle/>
          <a:p>
            <a:r>
              <a:rPr lang="zh-CN" altLang="en-US" sz="1200" dirty="0" smtClean="0">
                <a:solidFill>
                  <a:schemeClr val="accent1"/>
                </a:solidFill>
              </a:rPr>
              <a:t>定制逻辑层</a:t>
            </a:r>
            <a:endParaRPr lang="zh-CN" altLang="en-US" sz="1200" dirty="0">
              <a:solidFill>
                <a:schemeClr val="accent1"/>
              </a:solidFill>
            </a:endParaRPr>
          </a:p>
        </p:txBody>
      </p:sp>
      <p:sp>
        <p:nvSpPr>
          <p:cNvPr id="80" name="TextBox 79"/>
          <p:cNvSpPr txBox="1"/>
          <p:nvPr/>
        </p:nvSpPr>
        <p:spPr>
          <a:xfrm>
            <a:off x="270408" y="1201707"/>
            <a:ext cx="369332" cy="876312"/>
          </a:xfrm>
          <a:prstGeom prst="rect">
            <a:avLst/>
          </a:prstGeom>
          <a:noFill/>
          <a:effectLst>
            <a:outerShdw blurRad="50800" dist="38100" dir="2700000" algn="tl" rotWithShape="0">
              <a:prstClr val="black">
                <a:alpha val="40000"/>
              </a:prstClr>
            </a:outerShdw>
          </a:effectLst>
        </p:spPr>
        <p:txBody>
          <a:bodyPr vert="eaVert" wrap="square" rtlCol="0">
            <a:spAutoFit/>
          </a:bodyPr>
          <a:lstStyle/>
          <a:p>
            <a:r>
              <a:rPr lang="zh-CN" altLang="en-US" sz="1200" dirty="0" smtClean="0">
                <a:solidFill>
                  <a:schemeClr val="accent1"/>
                </a:solidFill>
              </a:rPr>
              <a:t>业务功能层</a:t>
            </a:r>
            <a:endParaRPr lang="zh-CN" altLang="en-US" sz="1200" dirty="0">
              <a:solidFill>
                <a:schemeClr val="accent1"/>
              </a:solidFill>
            </a:endParaRPr>
          </a:p>
        </p:txBody>
      </p:sp>
      <p:sp>
        <p:nvSpPr>
          <p:cNvPr id="83" name="TextBox 82"/>
          <p:cNvSpPr txBox="1"/>
          <p:nvPr/>
        </p:nvSpPr>
        <p:spPr>
          <a:xfrm>
            <a:off x="4176742" y="3970676"/>
            <a:ext cx="938222"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a:t>聚芳永</a:t>
            </a:r>
            <a:r>
              <a:rPr lang="zh-CN" altLang="en-US" sz="1100" dirty="0" smtClean="0"/>
              <a:t>数据</a:t>
            </a:r>
            <a:endParaRPr lang="zh-CN" altLang="en-US" sz="1100" dirty="0"/>
          </a:p>
        </p:txBody>
      </p:sp>
      <p:sp>
        <p:nvSpPr>
          <p:cNvPr id="86" name="TextBox 85"/>
          <p:cNvSpPr txBox="1"/>
          <p:nvPr/>
        </p:nvSpPr>
        <p:spPr>
          <a:xfrm>
            <a:off x="1877967" y="5596282"/>
            <a:ext cx="83979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订单信息</a:t>
            </a:r>
            <a:endParaRPr lang="zh-CN" altLang="en-US" sz="1100" dirty="0"/>
          </a:p>
        </p:txBody>
      </p:sp>
      <p:sp>
        <p:nvSpPr>
          <p:cNvPr id="88" name="TextBox 87"/>
          <p:cNvSpPr txBox="1"/>
          <p:nvPr/>
        </p:nvSpPr>
        <p:spPr>
          <a:xfrm>
            <a:off x="4397364" y="5596282"/>
            <a:ext cx="1460520"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各客户信息数据源</a:t>
            </a:r>
            <a:endParaRPr lang="zh-CN" altLang="en-US" sz="1100" dirty="0"/>
          </a:p>
        </p:txBody>
      </p:sp>
      <p:sp>
        <p:nvSpPr>
          <p:cNvPr id="92" name="上箭头 91"/>
          <p:cNvSpPr/>
          <p:nvPr/>
        </p:nvSpPr>
        <p:spPr>
          <a:xfrm>
            <a:off x="4071934" y="2000240"/>
            <a:ext cx="144000" cy="474669"/>
          </a:xfrm>
          <a:prstGeom prst="upArrow">
            <a:avLst/>
          </a:prstGeom>
          <a:solidFill>
            <a:srgbClr val="FF3300">
              <a:alpha val="73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TextBox 92"/>
          <p:cNvSpPr txBox="1"/>
          <p:nvPr/>
        </p:nvSpPr>
        <p:spPr>
          <a:xfrm>
            <a:off x="4143372" y="2069419"/>
            <a:ext cx="839799" cy="430887"/>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客户信息交易数据</a:t>
            </a:r>
            <a:endParaRPr lang="zh-CN" altLang="en-US" sz="1100" dirty="0"/>
          </a:p>
        </p:txBody>
      </p:sp>
      <p:sp>
        <p:nvSpPr>
          <p:cNvPr id="94" name="TextBox 93"/>
          <p:cNvSpPr txBox="1"/>
          <p:nvPr/>
        </p:nvSpPr>
        <p:spPr>
          <a:xfrm>
            <a:off x="1393803" y="2145026"/>
            <a:ext cx="83979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客户信息</a:t>
            </a:r>
            <a:endParaRPr lang="zh-CN" altLang="en-US" sz="1100" dirty="0"/>
          </a:p>
        </p:txBody>
      </p:sp>
      <p:sp>
        <p:nvSpPr>
          <p:cNvPr id="95" name="TextBox 94"/>
          <p:cNvSpPr txBox="1"/>
          <p:nvPr/>
        </p:nvSpPr>
        <p:spPr>
          <a:xfrm>
            <a:off x="5214942" y="1347759"/>
            <a:ext cx="83979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活动信息</a:t>
            </a:r>
            <a:endParaRPr lang="zh-CN" altLang="en-US" sz="1100" dirty="0"/>
          </a:p>
        </p:txBody>
      </p:sp>
      <p:sp>
        <p:nvSpPr>
          <p:cNvPr id="96" name="TextBox 95"/>
          <p:cNvSpPr txBox="1"/>
          <p:nvPr/>
        </p:nvSpPr>
        <p:spPr>
          <a:xfrm>
            <a:off x="5095853" y="4518371"/>
            <a:ext cx="83979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统计数据</a:t>
            </a:r>
            <a:endParaRPr lang="zh-CN" altLang="en-US" sz="1100" dirty="0"/>
          </a:p>
        </p:txBody>
      </p:sp>
      <p:sp>
        <p:nvSpPr>
          <p:cNvPr id="97" name="TextBox 96"/>
          <p:cNvSpPr txBox="1"/>
          <p:nvPr/>
        </p:nvSpPr>
        <p:spPr>
          <a:xfrm>
            <a:off x="7104068" y="3940182"/>
            <a:ext cx="83979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smtClean="0"/>
              <a:t>统计数据</a:t>
            </a:r>
            <a:endParaRPr lang="zh-CN" altLang="en-US" sz="1100" dirty="0"/>
          </a:p>
        </p:txBody>
      </p:sp>
      <p:sp>
        <p:nvSpPr>
          <p:cNvPr id="99" name="TextBox 98"/>
          <p:cNvSpPr txBox="1"/>
          <p:nvPr/>
        </p:nvSpPr>
        <p:spPr>
          <a:xfrm>
            <a:off x="2296662" y="2928934"/>
            <a:ext cx="900559"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a:t>聚芳永</a:t>
            </a:r>
            <a:r>
              <a:rPr lang="zh-CN" altLang="en-US" sz="1100" dirty="0" smtClean="0"/>
              <a:t>数据</a:t>
            </a:r>
            <a:endParaRPr lang="zh-CN" altLang="en-US" sz="1100" dirty="0"/>
          </a:p>
        </p:txBody>
      </p:sp>
      <p:sp>
        <p:nvSpPr>
          <p:cNvPr id="100" name="矩形 99"/>
          <p:cNvSpPr/>
          <p:nvPr/>
        </p:nvSpPr>
        <p:spPr>
          <a:xfrm>
            <a:off x="7775422" y="2928934"/>
            <a:ext cx="756000" cy="285752"/>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推荐户量</a:t>
            </a:r>
            <a:endParaRPr lang="zh-CN" altLang="en-US" sz="1100" dirty="0">
              <a:solidFill>
                <a:schemeClr val="tx1"/>
              </a:solidFill>
            </a:endParaRPr>
          </a:p>
        </p:txBody>
      </p:sp>
      <p:sp>
        <p:nvSpPr>
          <p:cNvPr id="101" name="矩形 100"/>
          <p:cNvSpPr/>
          <p:nvPr/>
        </p:nvSpPr>
        <p:spPr>
          <a:xfrm>
            <a:off x="7764649" y="3357562"/>
            <a:ext cx="756000" cy="306000"/>
          </a:xfrm>
          <a:prstGeom prst="rect">
            <a:avLst/>
          </a:prstGeom>
          <a:solidFill>
            <a:srgbClr val="E7F6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rPr>
              <a:t>跳失</a:t>
            </a:r>
            <a:r>
              <a:rPr lang="zh-CN" altLang="en-US" sz="1100" dirty="0" smtClean="0">
                <a:solidFill>
                  <a:schemeClr val="tx1"/>
                </a:solidFill>
              </a:rPr>
              <a:t>率</a:t>
            </a:r>
            <a:endParaRPr lang="zh-CN" altLang="en-US" sz="1100" dirty="0">
              <a:solidFill>
                <a:schemeClr val="tx1"/>
              </a:solidFill>
            </a:endParaRPr>
          </a:p>
        </p:txBody>
      </p:sp>
      <p:sp>
        <p:nvSpPr>
          <p:cNvPr id="105" name="矩形 15"/>
          <p:cNvSpPr/>
          <p:nvPr/>
        </p:nvSpPr>
        <p:spPr>
          <a:xfrm>
            <a:off x="7086589" y="5990873"/>
            <a:ext cx="547695" cy="270023"/>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rPr>
              <a:t>…</a:t>
            </a:r>
            <a:endParaRPr lang="zh-CN" altLang="en-US" dirty="0">
              <a:solidFill>
                <a:schemeClr val="bg1"/>
              </a:solidFill>
            </a:endParaRPr>
          </a:p>
        </p:txBody>
      </p:sp>
      <p:sp>
        <p:nvSpPr>
          <p:cNvPr id="102" name="矩形 60"/>
          <p:cNvSpPr/>
          <p:nvPr/>
        </p:nvSpPr>
        <p:spPr>
          <a:xfrm>
            <a:off x="2536017" y="6536541"/>
            <a:ext cx="1368000" cy="214338"/>
          </a:xfrm>
          <a:prstGeom prst="rect">
            <a:avLst/>
          </a:prstGeom>
          <a:solidFill>
            <a:srgbClr val="99CC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二、三阶段升级</a:t>
            </a:r>
          </a:p>
        </p:txBody>
      </p:sp>
      <p:sp>
        <p:nvSpPr>
          <p:cNvPr id="106" name="矩形 60"/>
          <p:cNvSpPr/>
          <p:nvPr/>
        </p:nvSpPr>
        <p:spPr>
          <a:xfrm>
            <a:off x="928662" y="6536541"/>
            <a:ext cx="1368000" cy="214338"/>
          </a:xfrm>
          <a:prstGeom prst="rect">
            <a:avLst/>
          </a:prstGeom>
          <a:solidFill>
            <a:srgbClr val="CCFFF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一阶段开发或对接</a:t>
            </a:r>
          </a:p>
        </p:txBody>
      </p:sp>
      <p:sp>
        <p:nvSpPr>
          <p:cNvPr id="108" name="矩形 60"/>
          <p:cNvSpPr/>
          <p:nvPr/>
        </p:nvSpPr>
        <p:spPr>
          <a:xfrm>
            <a:off x="4143372" y="6536541"/>
            <a:ext cx="1368000" cy="214338"/>
          </a:xfrm>
          <a:prstGeom prst="rect">
            <a:avLst/>
          </a:prstGeom>
          <a:solidFill>
            <a:srgbClr val="F4E7B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solidFill>
                  <a:schemeClr val="tx1"/>
                </a:solidFill>
              </a:rPr>
              <a:t>未来开发或对接</a:t>
            </a:r>
          </a:p>
        </p:txBody>
      </p:sp>
      <p:sp>
        <p:nvSpPr>
          <p:cNvPr id="109" name="TextBox 108"/>
          <p:cNvSpPr txBox="1"/>
          <p:nvPr/>
        </p:nvSpPr>
        <p:spPr>
          <a:xfrm>
            <a:off x="5089523" y="2881638"/>
            <a:ext cx="965218" cy="2616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sz="1100" dirty="0"/>
              <a:t>聚芳永</a:t>
            </a:r>
            <a:r>
              <a:rPr lang="zh-CN" altLang="en-US" sz="1100" dirty="0" smtClean="0"/>
              <a:t>数据</a:t>
            </a:r>
            <a:endParaRPr lang="zh-CN" altLang="en-US" sz="11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18"/>
                                        </p:tgtEl>
                                        <p:attrNameLst>
                                          <p:attrName>fillcolor</p:attrName>
                                        </p:attrNameLst>
                                      </p:cBhvr>
                                      <p:to>
                                        <a:srgbClr val="00FF99"/>
                                      </p:to>
                                    </p:animClr>
                                    <p:set>
                                      <p:cBhvr>
                                        <p:cTn id="7" dur="500" fill="hold"/>
                                        <p:tgtEl>
                                          <p:spTgt spid="18"/>
                                        </p:tgtEl>
                                        <p:attrNameLst>
                                          <p:attrName>fill.type</p:attrName>
                                        </p:attrNameLst>
                                      </p:cBhvr>
                                      <p:to>
                                        <p:strVal val="solid"/>
                                      </p:to>
                                    </p:set>
                                    <p:set>
                                      <p:cBhvr>
                                        <p:cTn id="8" dur="500" fill="hold"/>
                                        <p:tgtEl>
                                          <p:spTgt spid="18"/>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500" fill="hold"/>
                                        <p:tgtEl>
                                          <p:spTgt spid="19"/>
                                        </p:tgtEl>
                                        <p:attrNameLst>
                                          <p:attrName>fillcolor</p:attrName>
                                        </p:attrNameLst>
                                      </p:cBhvr>
                                      <p:to>
                                        <a:srgbClr val="00FF99"/>
                                      </p:to>
                                    </p:animClr>
                                    <p:set>
                                      <p:cBhvr>
                                        <p:cTn id="11" dur="500" fill="hold"/>
                                        <p:tgtEl>
                                          <p:spTgt spid="19"/>
                                        </p:tgtEl>
                                        <p:attrNameLst>
                                          <p:attrName>fill.type</p:attrName>
                                        </p:attrNameLst>
                                      </p:cBhvr>
                                      <p:to>
                                        <p:strVal val="solid"/>
                                      </p:to>
                                    </p:set>
                                    <p:set>
                                      <p:cBhvr>
                                        <p:cTn id="12" dur="500" fill="hold"/>
                                        <p:tgtEl>
                                          <p:spTgt spid="19"/>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500" fill="hold"/>
                                        <p:tgtEl>
                                          <p:spTgt spid="75"/>
                                        </p:tgtEl>
                                        <p:attrNameLst>
                                          <p:attrName>fillcolor</p:attrName>
                                        </p:attrNameLst>
                                      </p:cBhvr>
                                      <p:to>
                                        <a:srgbClr val="00FF99"/>
                                      </p:to>
                                    </p:animClr>
                                    <p:set>
                                      <p:cBhvr>
                                        <p:cTn id="15" dur="500" fill="hold"/>
                                        <p:tgtEl>
                                          <p:spTgt spid="75"/>
                                        </p:tgtEl>
                                        <p:attrNameLst>
                                          <p:attrName>fill.type</p:attrName>
                                        </p:attrNameLst>
                                      </p:cBhvr>
                                      <p:to>
                                        <p:strVal val="solid"/>
                                      </p:to>
                                    </p:set>
                                    <p:set>
                                      <p:cBhvr>
                                        <p:cTn id="16" dur="500" fill="hold"/>
                                        <p:tgtEl>
                                          <p:spTgt spid="75"/>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500" fill="hold"/>
                                        <p:tgtEl>
                                          <p:spTgt spid="76"/>
                                        </p:tgtEl>
                                        <p:attrNameLst>
                                          <p:attrName>fillcolor</p:attrName>
                                        </p:attrNameLst>
                                      </p:cBhvr>
                                      <p:to>
                                        <a:srgbClr val="00FF99"/>
                                      </p:to>
                                    </p:animClr>
                                    <p:set>
                                      <p:cBhvr>
                                        <p:cTn id="19" dur="500" fill="hold"/>
                                        <p:tgtEl>
                                          <p:spTgt spid="76"/>
                                        </p:tgtEl>
                                        <p:attrNameLst>
                                          <p:attrName>fill.type</p:attrName>
                                        </p:attrNameLst>
                                      </p:cBhvr>
                                      <p:to>
                                        <p:strVal val="solid"/>
                                      </p:to>
                                    </p:set>
                                    <p:set>
                                      <p:cBhvr>
                                        <p:cTn id="20" dur="500" fill="hold"/>
                                        <p:tgtEl>
                                          <p:spTgt spid="76"/>
                                        </p:tgtEl>
                                        <p:attrNameLst>
                                          <p:attrName>fill.on</p:attrName>
                                        </p:attrNameLst>
                                      </p:cBhvr>
                                      <p:to>
                                        <p:strVal val="true"/>
                                      </p:to>
                                    </p:set>
                                  </p:childTnLst>
                                </p:cTn>
                              </p:par>
                              <p:par>
                                <p:cTn id="21" presetID="1" presetClass="emph" presetSubtype="2" fill="hold" nodeType="withEffect">
                                  <p:stCondLst>
                                    <p:cond delay="0"/>
                                  </p:stCondLst>
                                  <p:childTnLst>
                                    <p:animClr clrSpc="rgb" dir="cw">
                                      <p:cBhvr>
                                        <p:cTn id="22" dur="500" fill="hold"/>
                                        <p:tgtEl>
                                          <p:spTgt spid="85"/>
                                        </p:tgtEl>
                                        <p:attrNameLst>
                                          <p:attrName>fillcolor</p:attrName>
                                        </p:attrNameLst>
                                      </p:cBhvr>
                                      <p:to>
                                        <a:srgbClr val="00FF99"/>
                                      </p:to>
                                    </p:animClr>
                                    <p:set>
                                      <p:cBhvr>
                                        <p:cTn id="23" dur="500" fill="hold"/>
                                        <p:tgtEl>
                                          <p:spTgt spid="85"/>
                                        </p:tgtEl>
                                        <p:attrNameLst>
                                          <p:attrName>fill.type</p:attrName>
                                        </p:attrNameLst>
                                      </p:cBhvr>
                                      <p:to>
                                        <p:strVal val="solid"/>
                                      </p:to>
                                    </p:set>
                                    <p:set>
                                      <p:cBhvr>
                                        <p:cTn id="24" dur="500" fill="hold"/>
                                        <p:tgtEl>
                                          <p:spTgt spid="85"/>
                                        </p:tgtEl>
                                        <p:attrNameLst>
                                          <p:attrName>fill.on</p:attrName>
                                        </p:attrNameLst>
                                      </p:cBhvr>
                                      <p:to>
                                        <p:strVal val="true"/>
                                      </p:to>
                                    </p:set>
                                  </p:childTnLst>
                                </p:cTn>
                              </p:par>
                              <p:par>
                                <p:cTn id="25" presetID="1" presetClass="emph" presetSubtype="2" fill="hold" nodeType="withEffect">
                                  <p:stCondLst>
                                    <p:cond delay="0"/>
                                  </p:stCondLst>
                                  <p:childTnLst>
                                    <p:animClr clrSpc="rgb" dir="cw">
                                      <p:cBhvr>
                                        <p:cTn id="26" dur="500" fill="hold"/>
                                        <p:tgtEl>
                                          <p:spTgt spid="56"/>
                                        </p:tgtEl>
                                        <p:attrNameLst>
                                          <p:attrName>fillcolor</p:attrName>
                                        </p:attrNameLst>
                                      </p:cBhvr>
                                      <p:to>
                                        <a:srgbClr val="00FF99"/>
                                      </p:to>
                                    </p:animClr>
                                    <p:set>
                                      <p:cBhvr>
                                        <p:cTn id="27" dur="500" fill="hold"/>
                                        <p:tgtEl>
                                          <p:spTgt spid="56"/>
                                        </p:tgtEl>
                                        <p:attrNameLst>
                                          <p:attrName>fill.type</p:attrName>
                                        </p:attrNameLst>
                                      </p:cBhvr>
                                      <p:to>
                                        <p:strVal val="solid"/>
                                      </p:to>
                                    </p:set>
                                    <p:set>
                                      <p:cBhvr>
                                        <p:cTn id="28" dur="500" fill="hold"/>
                                        <p:tgtEl>
                                          <p:spTgt spid="56"/>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500" fill="hold"/>
                                        <p:tgtEl>
                                          <p:spTgt spid="57"/>
                                        </p:tgtEl>
                                        <p:attrNameLst>
                                          <p:attrName>fillcolor</p:attrName>
                                        </p:attrNameLst>
                                      </p:cBhvr>
                                      <p:to>
                                        <a:srgbClr val="00FF99"/>
                                      </p:to>
                                    </p:animClr>
                                    <p:set>
                                      <p:cBhvr>
                                        <p:cTn id="31" dur="500" fill="hold"/>
                                        <p:tgtEl>
                                          <p:spTgt spid="57"/>
                                        </p:tgtEl>
                                        <p:attrNameLst>
                                          <p:attrName>fill.type</p:attrName>
                                        </p:attrNameLst>
                                      </p:cBhvr>
                                      <p:to>
                                        <p:strVal val="solid"/>
                                      </p:to>
                                    </p:set>
                                    <p:set>
                                      <p:cBhvr>
                                        <p:cTn id="32" dur="500" fill="hold"/>
                                        <p:tgtEl>
                                          <p:spTgt spid="57"/>
                                        </p:tgtEl>
                                        <p:attrNameLst>
                                          <p:attrName>fill.on</p:attrName>
                                        </p:attrNameLst>
                                      </p:cBhvr>
                                      <p:to>
                                        <p:strVal val="true"/>
                                      </p:to>
                                    </p:set>
                                  </p:childTnLst>
                                </p:cTn>
                              </p:par>
                              <p:par>
                                <p:cTn id="33" presetID="1" presetClass="emph" presetSubtype="2" fill="hold" nodeType="withEffect">
                                  <p:stCondLst>
                                    <p:cond delay="0"/>
                                  </p:stCondLst>
                                  <p:childTnLst>
                                    <p:animClr clrSpc="rgb" dir="cw">
                                      <p:cBhvr>
                                        <p:cTn id="34" dur="500" fill="hold"/>
                                        <p:tgtEl>
                                          <p:spTgt spid="29"/>
                                        </p:tgtEl>
                                        <p:attrNameLst>
                                          <p:attrName>fillcolor</p:attrName>
                                        </p:attrNameLst>
                                      </p:cBhvr>
                                      <p:to>
                                        <a:srgbClr val="00FF99"/>
                                      </p:to>
                                    </p:animClr>
                                    <p:set>
                                      <p:cBhvr>
                                        <p:cTn id="35" dur="500" fill="hold"/>
                                        <p:tgtEl>
                                          <p:spTgt spid="29"/>
                                        </p:tgtEl>
                                        <p:attrNameLst>
                                          <p:attrName>fill.type</p:attrName>
                                        </p:attrNameLst>
                                      </p:cBhvr>
                                      <p:to>
                                        <p:strVal val="solid"/>
                                      </p:to>
                                    </p:set>
                                    <p:set>
                                      <p:cBhvr>
                                        <p:cTn id="36" dur="500" fill="hold"/>
                                        <p:tgtEl>
                                          <p:spTgt spid="29"/>
                                        </p:tgtEl>
                                        <p:attrNameLst>
                                          <p:attrName>fill.on</p:attrName>
                                        </p:attrNameLst>
                                      </p:cBhvr>
                                      <p:to>
                                        <p:strVal val="true"/>
                                      </p:to>
                                    </p:set>
                                  </p:childTnLst>
                                </p:cTn>
                              </p:par>
                              <p:par>
                                <p:cTn id="37" presetID="1" presetClass="emph" presetSubtype="2" fill="hold" nodeType="withEffect">
                                  <p:stCondLst>
                                    <p:cond delay="0"/>
                                  </p:stCondLst>
                                  <p:childTnLst>
                                    <p:animClr clrSpc="rgb" dir="cw">
                                      <p:cBhvr>
                                        <p:cTn id="38" dur="500" fill="hold"/>
                                        <p:tgtEl>
                                          <p:spTgt spid="38"/>
                                        </p:tgtEl>
                                        <p:attrNameLst>
                                          <p:attrName>fillcolor</p:attrName>
                                        </p:attrNameLst>
                                      </p:cBhvr>
                                      <p:to>
                                        <a:srgbClr val="00FF99"/>
                                      </p:to>
                                    </p:animClr>
                                    <p:set>
                                      <p:cBhvr>
                                        <p:cTn id="39" dur="500" fill="hold"/>
                                        <p:tgtEl>
                                          <p:spTgt spid="38"/>
                                        </p:tgtEl>
                                        <p:attrNameLst>
                                          <p:attrName>fill.type</p:attrName>
                                        </p:attrNameLst>
                                      </p:cBhvr>
                                      <p:to>
                                        <p:strVal val="solid"/>
                                      </p:to>
                                    </p:set>
                                    <p:set>
                                      <p:cBhvr>
                                        <p:cTn id="40" dur="500" fill="hold"/>
                                        <p:tgtEl>
                                          <p:spTgt spid="38"/>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500" fill="hold"/>
                                        <p:tgtEl>
                                          <p:spTgt spid="39"/>
                                        </p:tgtEl>
                                        <p:attrNameLst>
                                          <p:attrName>fillcolor</p:attrName>
                                        </p:attrNameLst>
                                      </p:cBhvr>
                                      <p:to>
                                        <a:srgbClr val="00FF99"/>
                                      </p:to>
                                    </p:animClr>
                                    <p:set>
                                      <p:cBhvr>
                                        <p:cTn id="43" dur="500" fill="hold"/>
                                        <p:tgtEl>
                                          <p:spTgt spid="39"/>
                                        </p:tgtEl>
                                        <p:attrNameLst>
                                          <p:attrName>fill.type</p:attrName>
                                        </p:attrNameLst>
                                      </p:cBhvr>
                                      <p:to>
                                        <p:strVal val="solid"/>
                                      </p:to>
                                    </p:set>
                                    <p:set>
                                      <p:cBhvr>
                                        <p:cTn id="44" dur="500" fill="hold"/>
                                        <p:tgtEl>
                                          <p:spTgt spid="39"/>
                                        </p:tgtEl>
                                        <p:attrNameLst>
                                          <p:attrName>fill.on</p:attrName>
                                        </p:attrNameLst>
                                      </p:cBhvr>
                                      <p:to>
                                        <p:strVal val="true"/>
                                      </p:to>
                                    </p:set>
                                  </p:childTnLst>
                                </p:cTn>
                              </p:par>
                              <p:par>
                                <p:cTn id="45" presetID="1" presetClass="emph" presetSubtype="2" fill="hold" nodeType="withEffect">
                                  <p:stCondLst>
                                    <p:cond delay="0"/>
                                  </p:stCondLst>
                                  <p:childTnLst>
                                    <p:animClr clrSpc="rgb" dir="cw">
                                      <p:cBhvr>
                                        <p:cTn id="46" dur="500" fill="hold"/>
                                        <p:tgtEl>
                                          <p:spTgt spid="37"/>
                                        </p:tgtEl>
                                        <p:attrNameLst>
                                          <p:attrName>fillcolor</p:attrName>
                                        </p:attrNameLst>
                                      </p:cBhvr>
                                      <p:to>
                                        <a:srgbClr val="00FF99"/>
                                      </p:to>
                                    </p:animClr>
                                    <p:set>
                                      <p:cBhvr>
                                        <p:cTn id="47" dur="500" fill="hold"/>
                                        <p:tgtEl>
                                          <p:spTgt spid="37"/>
                                        </p:tgtEl>
                                        <p:attrNameLst>
                                          <p:attrName>fill.type</p:attrName>
                                        </p:attrNameLst>
                                      </p:cBhvr>
                                      <p:to>
                                        <p:strVal val="solid"/>
                                      </p:to>
                                    </p:set>
                                    <p:set>
                                      <p:cBhvr>
                                        <p:cTn id="48" dur="500" fill="hold"/>
                                        <p:tgtEl>
                                          <p:spTgt spid="37"/>
                                        </p:tgtEl>
                                        <p:attrNameLst>
                                          <p:attrName>fill.on</p:attrName>
                                        </p:attrNameLst>
                                      </p:cBhvr>
                                      <p:to>
                                        <p:strVal val="true"/>
                                      </p:to>
                                    </p:set>
                                  </p:childTnLst>
                                </p:cTn>
                              </p:par>
                              <p:par>
                                <p:cTn id="49" presetID="1" presetClass="emph" presetSubtype="2" fill="hold" nodeType="withEffect">
                                  <p:stCondLst>
                                    <p:cond delay="0"/>
                                  </p:stCondLst>
                                  <p:childTnLst>
                                    <p:animClr clrSpc="rgb" dir="cw">
                                      <p:cBhvr>
                                        <p:cTn id="50" dur="500" fill="hold"/>
                                        <p:tgtEl>
                                          <p:spTgt spid="49"/>
                                        </p:tgtEl>
                                        <p:attrNameLst>
                                          <p:attrName>fillcolor</p:attrName>
                                        </p:attrNameLst>
                                      </p:cBhvr>
                                      <p:to>
                                        <a:srgbClr val="00FF99"/>
                                      </p:to>
                                    </p:animClr>
                                    <p:set>
                                      <p:cBhvr>
                                        <p:cTn id="51" dur="500" fill="hold"/>
                                        <p:tgtEl>
                                          <p:spTgt spid="49"/>
                                        </p:tgtEl>
                                        <p:attrNameLst>
                                          <p:attrName>fill.type</p:attrName>
                                        </p:attrNameLst>
                                      </p:cBhvr>
                                      <p:to>
                                        <p:strVal val="solid"/>
                                      </p:to>
                                    </p:set>
                                    <p:set>
                                      <p:cBhvr>
                                        <p:cTn id="52" dur="500" fill="hold"/>
                                        <p:tgtEl>
                                          <p:spTgt spid="49"/>
                                        </p:tgtEl>
                                        <p:attrNameLst>
                                          <p:attrName>fill.on</p:attrName>
                                        </p:attrNameLst>
                                      </p:cBhvr>
                                      <p:to>
                                        <p:strVal val="true"/>
                                      </p:to>
                                    </p:set>
                                  </p:childTnLst>
                                </p:cTn>
                              </p:par>
                              <p:par>
                                <p:cTn id="53" presetID="1" presetClass="emph" presetSubtype="2" fill="hold" nodeType="withEffect">
                                  <p:stCondLst>
                                    <p:cond delay="0"/>
                                  </p:stCondLst>
                                  <p:childTnLst>
                                    <p:animClr clrSpc="rgb" dir="cw">
                                      <p:cBhvr>
                                        <p:cTn id="54" dur="500" fill="hold"/>
                                        <p:tgtEl>
                                          <p:spTgt spid="50"/>
                                        </p:tgtEl>
                                        <p:attrNameLst>
                                          <p:attrName>fillcolor</p:attrName>
                                        </p:attrNameLst>
                                      </p:cBhvr>
                                      <p:to>
                                        <a:srgbClr val="00FF99"/>
                                      </p:to>
                                    </p:animClr>
                                    <p:set>
                                      <p:cBhvr>
                                        <p:cTn id="55" dur="500" fill="hold"/>
                                        <p:tgtEl>
                                          <p:spTgt spid="50"/>
                                        </p:tgtEl>
                                        <p:attrNameLst>
                                          <p:attrName>fill.type</p:attrName>
                                        </p:attrNameLst>
                                      </p:cBhvr>
                                      <p:to>
                                        <p:strVal val="solid"/>
                                      </p:to>
                                    </p:set>
                                    <p:set>
                                      <p:cBhvr>
                                        <p:cTn id="56" dur="500" fill="hold"/>
                                        <p:tgtEl>
                                          <p:spTgt spid="50"/>
                                        </p:tgtEl>
                                        <p:attrNameLst>
                                          <p:attrName>fill.on</p:attrName>
                                        </p:attrNameLst>
                                      </p:cBhvr>
                                      <p:to>
                                        <p:strVal val="true"/>
                                      </p:to>
                                    </p:set>
                                  </p:childTnLst>
                                </p:cTn>
                              </p:par>
                              <p:par>
                                <p:cTn id="57" presetID="1" presetClass="emph" presetSubtype="2" fill="hold" nodeType="withEffect">
                                  <p:stCondLst>
                                    <p:cond delay="0"/>
                                  </p:stCondLst>
                                  <p:childTnLst>
                                    <p:animClr clrSpc="rgb" dir="cw">
                                      <p:cBhvr>
                                        <p:cTn id="58" dur="500" fill="hold"/>
                                        <p:tgtEl>
                                          <p:spTgt spid="20"/>
                                        </p:tgtEl>
                                        <p:attrNameLst>
                                          <p:attrName>fillcolor</p:attrName>
                                        </p:attrNameLst>
                                      </p:cBhvr>
                                      <p:to>
                                        <a:srgbClr val="00FF99"/>
                                      </p:to>
                                    </p:animClr>
                                    <p:set>
                                      <p:cBhvr>
                                        <p:cTn id="59" dur="500" fill="hold"/>
                                        <p:tgtEl>
                                          <p:spTgt spid="20"/>
                                        </p:tgtEl>
                                        <p:attrNameLst>
                                          <p:attrName>fill.type</p:attrName>
                                        </p:attrNameLst>
                                      </p:cBhvr>
                                      <p:to>
                                        <p:strVal val="solid"/>
                                      </p:to>
                                    </p:set>
                                    <p:set>
                                      <p:cBhvr>
                                        <p:cTn id="60" dur="500" fill="hold"/>
                                        <p:tgtEl>
                                          <p:spTgt spid="20"/>
                                        </p:tgtEl>
                                        <p:attrNameLst>
                                          <p:attrName>fill.on</p:attrName>
                                        </p:attrNameLst>
                                      </p:cBhvr>
                                      <p:to>
                                        <p:strVal val="true"/>
                                      </p:to>
                                    </p:set>
                                  </p:childTnLst>
                                </p:cTn>
                              </p:par>
                              <p:par>
                                <p:cTn id="61" presetID="1" presetClass="emph" presetSubtype="2" fill="hold" nodeType="withEffect">
                                  <p:stCondLst>
                                    <p:cond delay="0"/>
                                  </p:stCondLst>
                                  <p:childTnLst>
                                    <p:animClr clrSpc="rgb" dir="cw">
                                      <p:cBhvr>
                                        <p:cTn id="62" dur="500" fill="hold"/>
                                        <p:tgtEl>
                                          <p:spTgt spid="22"/>
                                        </p:tgtEl>
                                        <p:attrNameLst>
                                          <p:attrName>fillcolor</p:attrName>
                                        </p:attrNameLst>
                                      </p:cBhvr>
                                      <p:to>
                                        <a:srgbClr val="00FF99"/>
                                      </p:to>
                                    </p:animClr>
                                    <p:set>
                                      <p:cBhvr>
                                        <p:cTn id="63" dur="500" fill="hold"/>
                                        <p:tgtEl>
                                          <p:spTgt spid="22"/>
                                        </p:tgtEl>
                                        <p:attrNameLst>
                                          <p:attrName>fill.type</p:attrName>
                                        </p:attrNameLst>
                                      </p:cBhvr>
                                      <p:to>
                                        <p:strVal val="solid"/>
                                      </p:to>
                                    </p:set>
                                    <p:set>
                                      <p:cBhvr>
                                        <p:cTn id="64" dur="500" fill="hold"/>
                                        <p:tgtEl>
                                          <p:spTgt spid="22"/>
                                        </p:tgtEl>
                                        <p:attrNameLst>
                                          <p:attrName>fill.on</p:attrName>
                                        </p:attrNameLst>
                                      </p:cBhvr>
                                      <p:to>
                                        <p:strVal val="true"/>
                                      </p:to>
                                    </p:set>
                                  </p:childTnLst>
                                </p:cTn>
                              </p:par>
                              <p:par>
                                <p:cTn id="65" presetID="1" presetClass="emph" presetSubtype="2" fill="hold" nodeType="withEffect">
                                  <p:stCondLst>
                                    <p:cond delay="0"/>
                                  </p:stCondLst>
                                  <p:childTnLst>
                                    <p:animClr clrSpc="rgb" dir="cw">
                                      <p:cBhvr>
                                        <p:cTn id="66" dur="500" fill="hold"/>
                                        <p:tgtEl>
                                          <p:spTgt spid="23"/>
                                        </p:tgtEl>
                                        <p:attrNameLst>
                                          <p:attrName>fillcolor</p:attrName>
                                        </p:attrNameLst>
                                      </p:cBhvr>
                                      <p:to>
                                        <a:srgbClr val="00FF99"/>
                                      </p:to>
                                    </p:animClr>
                                    <p:set>
                                      <p:cBhvr>
                                        <p:cTn id="67" dur="500" fill="hold"/>
                                        <p:tgtEl>
                                          <p:spTgt spid="23"/>
                                        </p:tgtEl>
                                        <p:attrNameLst>
                                          <p:attrName>fill.type</p:attrName>
                                        </p:attrNameLst>
                                      </p:cBhvr>
                                      <p:to>
                                        <p:strVal val="solid"/>
                                      </p:to>
                                    </p:set>
                                    <p:set>
                                      <p:cBhvr>
                                        <p:cTn id="68" dur="500" fill="hold"/>
                                        <p:tgtEl>
                                          <p:spTgt spid="23"/>
                                        </p:tgtEl>
                                        <p:attrNameLst>
                                          <p:attrName>fill.on</p:attrName>
                                        </p:attrNameLst>
                                      </p:cBhvr>
                                      <p:to>
                                        <p:strVal val="true"/>
                                      </p:to>
                                    </p:set>
                                  </p:childTnLst>
                                </p:cTn>
                              </p:par>
                              <p:par>
                                <p:cTn id="69" presetID="1" presetClass="emph" presetSubtype="2" fill="hold" nodeType="withEffect">
                                  <p:stCondLst>
                                    <p:cond delay="0"/>
                                  </p:stCondLst>
                                  <p:childTnLst>
                                    <p:animClr clrSpc="rgb" dir="cw">
                                      <p:cBhvr>
                                        <p:cTn id="70" dur="500" fill="hold"/>
                                        <p:tgtEl>
                                          <p:spTgt spid="21"/>
                                        </p:tgtEl>
                                        <p:attrNameLst>
                                          <p:attrName>fillcolor</p:attrName>
                                        </p:attrNameLst>
                                      </p:cBhvr>
                                      <p:to>
                                        <a:srgbClr val="00FF99"/>
                                      </p:to>
                                    </p:animClr>
                                    <p:set>
                                      <p:cBhvr>
                                        <p:cTn id="71" dur="500" fill="hold"/>
                                        <p:tgtEl>
                                          <p:spTgt spid="21"/>
                                        </p:tgtEl>
                                        <p:attrNameLst>
                                          <p:attrName>fill.type</p:attrName>
                                        </p:attrNameLst>
                                      </p:cBhvr>
                                      <p:to>
                                        <p:strVal val="solid"/>
                                      </p:to>
                                    </p:set>
                                    <p:set>
                                      <p:cBhvr>
                                        <p:cTn id="72" dur="500" fill="hold"/>
                                        <p:tgtEl>
                                          <p:spTgt spid="21"/>
                                        </p:tgtEl>
                                        <p:attrNameLst>
                                          <p:attrName>fill.on</p:attrName>
                                        </p:attrNameLst>
                                      </p:cBhvr>
                                      <p:to>
                                        <p:strVal val="true"/>
                                      </p:to>
                                    </p:set>
                                  </p:childTnLst>
                                </p:cTn>
                              </p:par>
                              <p:par>
                                <p:cTn id="73" presetID="1" presetClass="emph" presetSubtype="2" fill="hold" nodeType="withEffect">
                                  <p:stCondLst>
                                    <p:cond delay="0"/>
                                  </p:stCondLst>
                                  <p:childTnLst>
                                    <p:animClr clrSpc="rgb" dir="cw">
                                      <p:cBhvr>
                                        <p:cTn id="74" dur="500" fill="hold"/>
                                        <p:tgtEl>
                                          <p:spTgt spid="26"/>
                                        </p:tgtEl>
                                        <p:attrNameLst>
                                          <p:attrName>fillcolor</p:attrName>
                                        </p:attrNameLst>
                                      </p:cBhvr>
                                      <p:to>
                                        <a:srgbClr val="00FF99"/>
                                      </p:to>
                                    </p:animClr>
                                    <p:set>
                                      <p:cBhvr>
                                        <p:cTn id="75" dur="500" fill="hold"/>
                                        <p:tgtEl>
                                          <p:spTgt spid="26"/>
                                        </p:tgtEl>
                                        <p:attrNameLst>
                                          <p:attrName>fill.type</p:attrName>
                                        </p:attrNameLst>
                                      </p:cBhvr>
                                      <p:to>
                                        <p:strVal val="solid"/>
                                      </p:to>
                                    </p:set>
                                    <p:set>
                                      <p:cBhvr>
                                        <p:cTn id="76" dur="500" fill="hold"/>
                                        <p:tgtEl>
                                          <p:spTgt spid="26"/>
                                        </p:tgtEl>
                                        <p:attrNameLst>
                                          <p:attrName>fill.on</p:attrName>
                                        </p:attrNameLst>
                                      </p:cBhvr>
                                      <p:to>
                                        <p:strVal val="true"/>
                                      </p:to>
                                    </p:set>
                                  </p:childTnLst>
                                </p:cTn>
                              </p:par>
                              <p:par>
                                <p:cTn id="77" presetID="1" presetClass="emph" presetSubtype="2" fill="hold" nodeType="withEffect">
                                  <p:stCondLst>
                                    <p:cond delay="0"/>
                                  </p:stCondLst>
                                  <p:childTnLst>
                                    <p:animClr clrSpc="rgb" dir="cw">
                                      <p:cBhvr>
                                        <p:cTn id="78" dur="500" fill="hold"/>
                                        <p:tgtEl>
                                          <p:spTgt spid="35"/>
                                        </p:tgtEl>
                                        <p:attrNameLst>
                                          <p:attrName>fillcolor</p:attrName>
                                        </p:attrNameLst>
                                      </p:cBhvr>
                                      <p:to>
                                        <a:srgbClr val="00FF99"/>
                                      </p:to>
                                    </p:animClr>
                                    <p:set>
                                      <p:cBhvr>
                                        <p:cTn id="79" dur="500" fill="hold"/>
                                        <p:tgtEl>
                                          <p:spTgt spid="35"/>
                                        </p:tgtEl>
                                        <p:attrNameLst>
                                          <p:attrName>fill.type</p:attrName>
                                        </p:attrNameLst>
                                      </p:cBhvr>
                                      <p:to>
                                        <p:strVal val="solid"/>
                                      </p:to>
                                    </p:set>
                                    <p:set>
                                      <p:cBhvr>
                                        <p:cTn id="80" dur="500" fill="hold"/>
                                        <p:tgtEl>
                                          <p:spTgt spid="35"/>
                                        </p:tgtEl>
                                        <p:attrNameLst>
                                          <p:attrName>fill.on</p:attrName>
                                        </p:attrNameLst>
                                      </p:cBhvr>
                                      <p:to>
                                        <p:strVal val="true"/>
                                      </p:to>
                                    </p:set>
                                  </p:childTnLst>
                                </p:cTn>
                              </p:par>
                              <p:par>
                                <p:cTn id="81" presetID="1" presetClass="emph" presetSubtype="2" fill="hold" nodeType="withEffect">
                                  <p:stCondLst>
                                    <p:cond delay="0"/>
                                  </p:stCondLst>
                                  <p:childTnLst>
                                    <p:animClr clrSpc="rgb" dir="cw">
                                      <p:cBhvr>
                                        <p:cTn id="82" dur="500" fill="hold"/>
                                        <p:tgtEl>
                                          <p:spTgt spid="36"/>
                                        </p:tgtEl>
                                        <p:attrNameLst>
                                          <p:attrName>fillcolor</p:attrName>
                                        </p:attrNameLst>
                                      </p:cBhvr>
                                      <p:to>
                                        <a:srgbClr val="00FF99"/>
                                      </p:to>
                                    </p:animClr>
                                    <p:set>
                                      <p:cBhvr>
                                        <p:cTn id="83" dur="500" fill="hold"/>
                                        <p:tgtEl>
                                          <p:spTgt spid="36"/>
                                        </p:tgtEl>
                                        <p:attrNameLst>
                                          <p:attrName>fill.type</p:attrName>
                                        </p:attrNameLst>
                                      </p:cBhvr>
                                      <p:to>
                                        <p:strVal val="solid"/>
                                      </p:to>
                                    </p:set>
                                    <p:set>
                                      <p:cBhvr>
                                        <p:cTn id="84" dur="500" fill="hold"/>
                                        <p:tgtEl>
                                          <p:spTgt spid="36"/>
                                        </p:tgtEl>
                                        <p:attrNameLst>
                                          <p:attrName>fill.on</p:attrName>
                                        </p:attrNameLst>
                                      </p:cBhvr>
                                      <p:to>
                                        <p:strVal val="true"/>
                                      </p:to>
                                    </p:set>
                                  </p:childTnLst>
                                </p:cTn>
                              </p:par>
                              <p:par>
                                <p:cTn id="85" presetID="1" presetClass="emph" presetSubtype="2" fill="hold" nodeType="withEffect">
                                  <p:stCondLst>
                                    <p:cond delay="0"/>
                                  </p:stCondLst>
                                  <p:childTnLst>
                                    <p:animClr clrSpc="rgb" dir="cw">
                                      <p:cBhvr>
                                        <p:cTn id="86" dur="500" fill="hold"/>
                                        <p:tgtEl>
                                          <p:spTgt spid="12"/>
                                        </p:tgtEl>
                                        <p:attrNameLst>
                                          <p:attrName>fillcolor</p:attrName>
                                        </p:attrNameLst>
                                      </p:cBhvr>
                                      <p:to>
                                        <a:srgbClr val="00FF99"/>
                                      </p:to>
                                    </p:animClr>
                                    <p:set>
                                      <p:cBhvr>
                                        <p:cTn id="87" dur="500" fill="hold"/>
                                        <p:tgtEl>
                                          <p:spTgt spid="12"/>
                                        </p:tgtEl>
                                        <p:attrNameLst>
                                          <p:attrName>fill.type</p:attrName>
                                        </p:attrNameLst>
                                      </p:cBhvr>
                                      <p:to>
                                        <p:strVal val="solid"/>
                                      </p:to>
                                    </p:set>
                                    <p:set>
                                      <p:cBhvr>
                                        <p:cTn id="88" dur="500" fill="hold"/>
                                        <p:tgtEl>
                                          <p:spTgt spid="12"/>
                                        </p:tgtEl>
                                        <p:attrNameLst>
                                          <p:attrName>fill.on</p:attrName>
                                        </p:attrNameLst>
                                      </p:cBhvr>
                                      <p:to>
                                        <p:strVal val="true"/>
                                      </p:to>
                                    </p:set>
                                  </p:childTnLst>
                                </p:cTn>
                              </p:par>
                              <p:par>
                                <p:cTn id="89" presetID="1" presetClass="emph" presetSubtype="2" fill="hold" nodeType="withEffect">
                                  <p:stCondLst>
                                    <p:cond delay="0"/>
                                  </p:stCondLst>
                                  <p:childTnLst>
                                    <p:animClr clrSpc="rgb" dir="cw">
                                      <p:cBhvr>
                                        <p:cTn id="90" dur="500" fill="hold"/>
                                        <p:tgtEl>
                                          <p:spTgt spid="14"/>
                                        </p:tgtEl>
                                        <p:attrNameLst>
                                          <p:attrName>fillcolor</p:attrName>
                                        </p:attrNameLst>
                                      </p:cBhvr>
                                      <p:to>
                                        <a:srgbClr val="00FF99"/>
                                      </p:to>
                                    </p:animClr>
                                    <p:set>
                                      <p:cBhvr>
                                        <p:cTn id="91" dur="500" fill="hold"/>
                                        <p:tgtEl>
                                          <p:spTgt spid="14"/>
                                        </p:tgtEl>
                                        <p:attrNameLst>
                                          <p:attrName>fill.type</p:attrName>
                                        </p:attrNameLst>
                                      </p:cBhvr>
                                      <p:to>
                                        <p:strVal val="solid"/>
                                      </p:to>
                                    </p:set>
                                    <p:set>
                                      <p:cBhvr>
                                        <p:cTn id="92" dur="500" fill="hold"/>
                                        <p:tgtEl>
                                          <p:spTgt spid="14"/>
                                        </p:tgtEl>
                                        <p:attrNameLst>
                                          <p:attrName>fill.on</p:attrName>
                                        </p:attrNameLst>
                                      </p:cBhvr>
                                      <p:to>
                                        <p:strVal val="true"/>
                                      </p:to>
                                    </p:set>
                                  </p:childTnLst>
                                </p:cTn>
                              </p:par>
                              <p:par>
                                <p:cTn id="93" presetID="1" presetClass="emph" presetSubtype="2" fill="hold" nodeType="withEffect">
                                  <p:stCondLst>
                                    <p:cond delay="0"/>
                                  </p:stCondLst>
                                  <p:childTnLst>
                                    <p:animClr clrSpc="rgb" dir="cw">
                                      <p:cBhvr>
                                        <p:cTn id="94" dur="500" fill="hold"/>
                                        <p:tgtEl>
                                          <p:spTgt spid="62"/>
                                        </p:tgtEl>
                                        <p:attrNameLst>
                                          <p:attrName>fillcolor</p:attrName>
                                        </p:attrNameLst>
                                      </p:cBhvr>
                                      <p:to>
                                        <a:srgbClr val="00FF99"/>
                                      </p:to>
                                    </p:animClr>
                                    <p:set>
                                      <p:cBhvr>
                                        <p:cTn id="95" dur="500" fill="hold"/>
                                        <p:tgtEl>
                                          <p:spTgt spid="62"/>
                                        </p:tgtEl>
                                        <p:attrNameLst>
                                          <p:attrName>fill.type</p:attrName>
                                        </p:attrNameLst>
                                      </p:cBhvr>
                                      <p:to>
                                        <p:strVal val="solid"/>
                                      </p:to>
                                    </p:set>
                                    <p:set>
                                      <p:cBhvr>
                                        <p:cTn id="96" dur="500" fill="hold"/>
                                        <p:tgtEl>
                                          <p:spTgt spid="62"/>
                                        </p:tgtEl>
                                        <p:attrNameLst>
                                          <p:attrName>fill.on</p:attrName>
                                        </p:attrNameLst>
                                      </p:cBhvr>
                                      <p:to>
                                        <p:strVal val="true"/>
                                      </p:to>
                                    </p:set>
                                  </p:childTnLst>
                                </p:cTn>
                              </p:par>
                              <p:par>
                                <p:cTn id="97" presetID="1" presetClass="emph" presetSubtype="2" fill="hold" nodeType="withEffect">
                                  <p:stCondLst>
                                    <p:cond delay="0"/>
                                  </p:stCondLst>
                                  <p:childTnLst>
                                    <p:animClr clrSpc="rgb" dir="cw">
                                      <p:cBhvr>
                                        <p:cTn id="98" dur="500" fill="hold"/>
                                        <p:tgtEl>
                                          <p:spTgt spid="59"/>
                                        </p:tgtEl>
                                        <p:attrNameLst>
                                          <p:attrName>fillcolor</p:attrName>
                                        </p:attrNameLst>
                                      </p:cBhvr>
                                      <p:to>
                                        <a:srgbClr val="00FF99"/>
                                      </p:to>
                                    </p:animClr>
                                    <p:set>
                                      <p:cBhvr>
                                        <p:cTn id="99" dur="500" fill="hold"/>
                                        <p:tgtEl>
                                          <p:spTgt spid="59"/>
                                        </p:tgtEl>
                                        <p:attrNameLst>
                                          <p:attrName>fill.type</p:attrName>
                                        </p:attrNameLst>
                                      </p:cBhvr>
                                      <p:to>
                                        <p:strVal val="solid"/>
                                      </p:to>
                                    </p:set>
                                    <p:set>
                                      <p:cBhvr>
                                        <p:cTn id="100" dur="500" fill="hold"/>
                                        <p:tgtEl>
                                          <p:spTgt spid="59"/>
                                        </p:tgtEl>
                                        <p:attrNameLst>
                                          <p:attrName>fill.on</p:attrName>
                                        </p:attrNameLst>
                                      </p:cBhvr>
                                      <p:to>
                                        <p:strVal val="true"/>
                                      </p:to>
                                    </p:set>
                                  </p:childTnLst>
                                </p:cTn>
                              </p:par>
                              <p:par>
                                <p:cTn id="101" presetID="1" presetClass="emph" presetSubtype="2" fill="hold" nodeType="withEffect">
                                  <p:stCondLst>
                                    <p:cond delay="0"/>
                                  </p:stCondLst>
                                  <p:childTnLst>
                                    <p:animClr clrSpc="rgb" dir="cw">
                                      <p:cBhvr>
                                        <p:cTn id="102" dur="500" fill="hold"/>
                                        <p:tgtEl>
                                          <p:spTgt spid="60"/>
                                        </p:tgtEl>
                                        <p:attrNameLst>
                                          <p:attrName>fillcolor</p:attrName>
                                        </p:attrNameLst>
                                      </p:cBhvr>
                                      <p:to>
                                        <a:srgbClr val="00FF99"/>
                                      </p:to>
                                    </p:animClr>
                                    <p:set>
                                      <p:cBhvr>
                                        <p:cTn id="103" dur="500" fill="hold"/>
                                        <p:tgtEl>
                                          <p:spTgt spid="60"/>
                                        </p:tgtEl>
                                        <p:attrNameLst>
                                          <p:attrName>fill.type</p:attrName>
                                        </p:attrNameLst>
                                      </p:cBhvr>
                                      <p:to>
                                        <p:strVal val="solid"/>
                                      </p:to>
                                    </p:set>
                                    <p:set>
                                      <p:cBhvr>
                                        <p:cTn id="104" dur="500" fill="hold"/>
                                        <p:tgtEl>
                                          <p:spTgt spid="60"/>
                                        </p:tgtEl>
                                        <p:attrNameLst>
                                          <p:attrName>fill.on</p:attrName>
                                        </p:attrNameLst>
                                      </p:cBhvr>
                                      <p:to>
                                        <p:strVal val="true"/>
                                      </p:to>
                                    </p:set>
                                  </p:childTnLst>
                                </p:cTn>
                              </p:par>
                              <p:par>
                                <p:cTn id="105" presetID="1" presetClass="emph" presetSubtype="2" fill="hold" nodeType="withEffect">
                                  <p:stCondLst>
                                    <p:cond delay="0"/>
                                  </p:stCondLst>
                                  <p:childTnLst>
                                    <p:animClr clrSpc="rgb" dir="cw">
                                      <p:cBhvr>
                                        <p:cTn id="106" dur="500" fill="hold"/>
                                        <p:tgtEl>
                                          <p:spTgt spid="61"/>
                                        </p:tgtEl>
                                        <p:attrNameLst>
                                          <p:attrName>fillcolor</p:attrName>
                                        </p:attrNameLst>
                                      </p:cBhvr>
                                      <p:to>
                                        <a:srgbClr val="00FF99"/>
                                      </p:to>
                                    </p:animClr>
                                    <p:set>
                                      <p:cBhvr>
                                        <p:cTn id="107" dur="500" fill="hold"/>
                                        <p:tgtEl>
                                          <p:spTgt spid="61"/>
                                        </p:tgtEl>
                                        <p:attrNameLst>
                                          <p:attrName>fill.type</p:attrName>
                                        </p:attrNameLst>
                                      </p:cBhvr>
                                      <p:to>
                                        <p:strVal val="solid"/>
                                      </p:to>
                                    </p:set>
                                    <p:set>
                                      <p:cBhvr>
                                        <p:cTn id="108" dur="500" fill="hold"/>
                                        <p:tgtEl>
                                          <p:spTgt spid="61"/>
                                        </p:tgtEl>
                                        <p:attrNameLst>
                                          <p:attrName>fill.on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1" presetClass="emph" presetSubtype="2" fill="hold" nodeType="clickEffect">
                                  <p:stCondLst>
                                    <p:cond delay="0"/>
                                  </p:stCondLst>
                                  <p:childTnLst>
                                    <p:animClr clrSpc="rgb" dir="cw">
                                      <p:cBhvr>
                                        <p:cTn id="112" dur="500" fill="hold"/>
                                        <p:tgtEl>
                                          <p:spTgt spid="41"/>
                                        </p:tgtEl>
                                        <p:attrNameLst>
                                          <p:attrName>fillcolor</p:attrName>
                                        </p:attrNameLst>
                                      </p:cBhvr>
                                      <p:to>
                                        <a:srgbClr val="99CCFF"/>
                                      </p:to>
                                    </p:animClr>
                                    <p:set>
                                      <p:cBhvr>
                                        <p:cTn id="113" dur="500" fill="hold"/>
                                        <p:tgtEl>
                                          <p:spTgt spid="41"/>
                                        </p:tgtEl>
                                        <p:attrNameLst>
                                          <p:attrName>fill.type</p:attrName>
                                        </p:attrNameLst>
                                      </p:cBhvr>
                                      <p:to>
                                        <p:strVal val="solid"/>
                                      </p:to>
                                    </p:set>
                                    <p:set>
                                      <p:cBhvr>
                                        <p:cTn id="114" dur="500" fill="hold"/>
                                        <p:tgtEl>
                                          <p:spTgt spid="41"/>
                                        </p:tgtEl>
                                        <p:attrNameLst>
                                          <p:attrName>fill.on</p:attrName>
                                        </p:attrNameLst>
                                      </p:cBhvr>
                                      <p:to>
                                        <p:strVal val="true"/>
                                      </p:to>
                                    </p:set>
                                  </p:childTnLst>
                                </p:cTn>
                              </p:par>
                              <p:par>
                                <p:cTn id="115" presetID="1" presetClass="emph" presetSubtype="2" fill="hold" nodeType="withEffect">
                                  <p:stCondLst>
                                    <p:cond delay="0"/>
                                  </p:stCondLst>
                                  <p:childTnLst>
                                    <p:animClr clrSpc="rgb" dir="cw">
                                      <p:cBhvr>
                                        <p:cTn id="116" dur="500" fill="hold"/>
                                        <p:tgtEl>
                                          <p:spTgt spid="51"/>
                                        </p:tgtEl>
                                        <p:attrNameLst>
                                          <p:attrName>fillcolor</p:attrName>
                                        </p:attrNameLst>
                                      </p:cBhvr>
                                      <p:to>
                                        <a:srgbClr val="99CCFF"/>
                                      </p:to>
                                    </p:animClr>
                                    <p:set>
                                      <p:cBhvr>
                                        <p:cTn id="117" dur="500" fill="hold"/>
                                        <p:tgtEl>
                                          <p:spTgt spid="51"/>
                                        </p:tgtEl>
                                        <p:attrNameLst>
                                          <p:attrName>fill.type</p:attrName>
                                        </p:attrNameLst>
                                      </p:cBhvr>
                                      <p:to>
                                        <p:strVal val="solid"/>
                                      </p:to>
                                    </p:set>
                                    <p:set>
                                      <p:cBhvr>
                                        <p:cTn id="118" dur="500" fill="hold"/>
                                        <p:tgtEl>
                                          <p:spTgt spid="51"/>
                                        </p:tgtEl>
                                        <p:attrNameLst>
                                          <p:attrName>fill.on</p:attrName>
                                        </p:attrNameLst>
                                      </p:cBhvr>
                                      <p:to>
                                        <p:strVal val="true"/>
                                      </p:to>
                                    </p:set>
                                  </p:childTnLst>
                                </p:cTn>
                              </p:par>
                              <p:par>
                                <p:cTn id="119" presetID="1" presetClass="emph" presetSubtype="2" fill="hold" nodeType="withEffect">
                                  <p:stCondLst>
                                    <p:cond delay="0"/>
                                  </p:stCondLst>
                                  <p:childTnLst>
                                    <p:animClr clrSpc="rgb" dir="cw">
                                      <p:cBhvr>
                                        <p:cTn id="120" dur="500" fill="hold"/>
                                        <p:tgtEl>
                                          <p:spTgt spid="52"/>
                                        </p:tgtEl>
                                        <p:attrNameLst>
                                          <p:attrName>fillcolor</p:attrName>
                                        </p:attrNameLst>
                                      </p:cBhvr>
                                      <p:to>
                                        <a:srgbClr val="99CCFF"/>
                                      </p:to>
                                    </p:animClr>
                                    <p:set>
                                      <p:cBhvr>
                                        <p:cTn id="121" dur="500" fill="hold"/>
                                        <p:tgtEl>
                                          <p:spTgt spid="52"/>
                                        </p:tgtEl>
                                        <p:attrNameLst>
                                          <p:attrName>fill.type</p:attrName>
                                        </p:attrNameLst>
                                      </p:cBhvr>
                                      <p:to>
                                        <p:strVal val="solid"/>
                                      </p:to>
                                    </p:set>
                                    <p:set>
                                      <p:cBhvr>
                                        <p:cTn id="122" dur="500" fill="hold"/>
                                        <p:tgtEl>
                                          <p:spTgt spid="52"/>
                                        </p:tgtEl>
                                        <p:attrNameLst>
                                          <p:attrName>fill.on</p:attrName>
                                        </p:attrNameLst>
                                      </p:cBhvr>
                                      <p:to>
                                        <p:strVal val="true"/>
                                      </p:to>
                                    </p:set>
                                  </p:childTnLst>
                                </p:cTn>
                              </p:par>
                              <p:par>
                                <p:cTn id="123" presetID="1" presetClass="emph" presetSubtype="2" fill="hold" nodeType="withEffect">
                                  <p:stCondLst>
                                    <p:cond delay="0"/>
                                  </p:stCondLst>
                                  <p:childTnLst>
                                    <p:animClr clrSpc="rgb" dir="cw">
                                      <p:cBhvr>
                                        <p:cTn id="124" dur="500" fill="hold"/>
                                        <p:tgtEl>
                                          <p:spTgt spid="101"/>
                                        </p:tgtEl>
                                        <p:attrNameLst>
                                          <p:attrName>fillcolor</p:attrName>
                                        </p:attrNameLst>
                                      </p:cBhvr>
                                      <p:to>
                                        <a:srgbClr val="99CCFF"/>
                                      </p:to>
                                    </p:animClr>
                                    <p:set>
                                      <p:cBhvr>
                                        <p:cTn id="125" dur="500" fill="hold"/>
                                        <p:tgtEl>
                                          <p:spTgt spid="101"/>
                                        </p:tgtEl>
                                        <p:attrNameLst>
                                          <p:attrName>fill.type</p:attrName>
                                        </p:attrNameLst>
                                      </p:cBhvr>
                                      <p:to>
                                        <p:strVal val="solid"/>
                                      </p:to>
                                    </p:set>
                                    <p:set>
                                      <p:cBhvr>
                                        <p:cTn id="126" dur="500" fill="hold"/>
                                        <p:tgtEl>
                                          <p:spTgt spid="101"/>
                                        </p:tgtEl>
                                        <p:attrNameLst>
                                          <p:attrName>fill.on</p:attrName>
                                        </p:attrNameLst>
                                      </p:cBhvr>
                                      <p:to>
                                        <p:strVal val="true"/>
                                      </p:to>
                                    </p:set>
                                  </p:childTnLst>
                                </p:cTn>
                              </p:par>
                              <p:par>
                                <p:cTn id="127" presetID="1" presetClass="emph" presetSubtype="2" fill="hold" nodeType="withEffect">
                                  <p:stCondLst>
                                    <p:cond delay="0"/>
                                  </p:stCondLst>
                                  <p:childTnLst>
                                    <p:animClr clrSpc="rgb" dir="cw">
                                      <p:cBhvr>
                                        <p:cTn id="128" dur="500" fill="hold"/>
                                        <p:tgtEl>
                                          <p:spTgt spid="27"/>
                                        </p:tgtEl>
                                        <p:attrNameLst>
                                          <p:attrName>fillcolor</p:attrName>
                                        </p:attrNameLst>
                                      </p:cBhvr>
                                      <p:to>
                                        <a:srgbClr val="99CCFF"/>
                                      </p:to>
                                    </p:animClr>
                                    <p:set>
                                      <p:cBhvr>
                                        <p:cTn id="129" dur="500" fill="hold"/>
                                        <p:tgtEl>
                                          <p:spTgt spid="27"/>
                                        </p:tgtEl>
                                        <p:attrNameLst>
                                          <p:attrName>fill.type</p:attrName>
                                        </p:attrNameLst>
                                      </p:cBhvr>
                                      <p:to>
                                        <p:strVal val="solid"/>
                                      </p:to>
                                    </p:set>
                                    <p:set>
                                      <p:cBhvr>
                                        <p:cTn id="130" dur="500" fill="hold"/>
                                        <p:tgtEl>
                                          <p:spTgt spid="27"/>
                                        </p:tgtEl>
                                        <p:attrNameLst>
                                          <p:attrName>fill.on</p:attrName>
                                        </p:attrNameLst>
                                      </p:cBhvr>
                                      <p:to>
                                        <p:strVal val="true"/>
                                      </p:to>
                                    </p:set>
                                  </p:childTnLst>
                                </p:cTn>
                              </p:par>
                              <p:par>
                                <p:cTn id="131" presetID="1" presetClass="emph" presetSubtype="2" fill="hold" nodeType="withEffect">
                                  <p:stCondLst>
                                    <p:cond delay="0"/>
                                  </p:stCondLst>
                                  <p:childTnLst>
                                    <p:animClr clrSpc="rgb" dir="cw">
                                      <p:cBhvr>
                                        <p:cTn id="132" dur="500" fill="hold"/>
                                        <p:tgtEl>
                                          <p:spTgt spid="25"/>
                                        </p:tgtEl>
                                        <p:attrNameLst>
                                          <p:attrName>fillcolor</p:attrName>
                                        </p:attrNameLst>
                                      </p:cBhvr>
                                      <p:to>
                                        <a:srgbClr val="99CCFF"/>
                                      </p:to>
                                    </p:animClr>
                                    <p:set>
                                      <p:cBhvr>
                                        <p:cTn id="133" dur="500" fill="hold"/>
                                        <p:tgtEl>
                                          <p:spTgt spid="25"/>
                                        </p:tgtEl>
                                        <p:attrNameLst>
                                          <p:attrName>fill.type</p:attrName>
                                        </p:attrNameLst>
                                      </p:cBhvr>
                                      <p:to>
                                        <p:strVal val="solid"/>
                                      </p:to>
                                    </p:set>
                                    <p:set>
                                      <p:cBhvr>
                                        <p:cTn id="134" dur="500" fill="hold"/>
                                        <p:tgtEl>
                                          <p:spTgt spid="25"/>
                                        </p:tgtEl>
                                        <p:attrNameLst>
                                          <p:attrName>fill.on</p:attrName>
                                        </p:attrNameLst>
                                      </p:cBhvr>
                                      <p:to>
                                        <p:strVal val="true"/>
                                      </p:to>
                                    </p:set>
                                  </p:childTnLst>
                                </p:cTn>
                              </p:par>
                              <p:par>
                                <p:cTn id="135" presetID="1" presetClass="emph" presetSubtype="2" fill="hold" nodeType="withEffect">
                                  <p:stCondLst>
                                    <p:cond delay="0"/>
                                  </p:stCondLst>
                                  <p:childTnLst>
                                    <p:animClr clrSpc="rgb" dir="cw">
                                      <p:cBhvr>
                                        <p:cTn id="136" dur="500" fill="hold"/>
                                        <p:tgtEl>
                                          <p:spTgt spid="28"/>
                                        </p:tgtEl>
                                        <p:attrNameLst>
                                          <p:attrName>fillcolor</p:attrName>
                                        </p:attrNameLst>
                                      </p:cBhvr>
                                      <p:to>
                                        <a:srgbClr val="99CCFF"/>
                                      </p:to>
                                    </p:animClr>
                                    <p:set>
                                      <p:cBhvr>
                                        <p:cTn id="137" dur="500" fill="hold"/>
                                        <p:tgtEl>
                                          <p:spTgt spid="28"/>
                                        </p:tgtEl>
                                        <p:attrNameLst>
                                          <p:attrName>fill.type</p:attrName>
                                        </p:attrNameLst>
                                      </p:cBhvr>
                                      <p:to>
                                        <p:strVal val="solid"/>
                                      </p:to>
                                    </p:set>
                                    <p:set>
                                      <p:cBhvr>
                                        <p:cTn id="138" dur="500" fill="hold"/>
                                        <p:tgtEl>
                                          <p:spTgt spid="28"/>
                                        </p:tgtEl>
                                        <p:attrNameLst>
                                          <p:attrName>fill.on</p:attrName>
                                        </p:attrNameLst>
                                      </p:cBhvr>
                                      <p:to>
                                        <p:strVal val="true"/>
                                      </p:to>
                                    </p:set>
                                  </p:childTnLst>
                                </p:cTn>
                              </p:par>
                              <p:par>
                                <p:cTn id="139" presetID="1" presetClass="emph" presetSubtype="2" fill="hold" nodeType="withEffect">
                                  <p:stCondLst>
                                    <p:cond delay="0"/>
                                  </p:stCondLst>
                                  <p:childTnLst>
                                    <p:animClr clrSpc="rgb" dir="cw">
                                      <p:cBhvr>
                                        <p:cTn id="140" dur="500" fill="hold"/>
                                        <p:tgtEl>
                                          <p:spTgt spid="33"/>
                                        </p:tgtEl>
                                        <p:attrNameLst>
                                          <p:attrName>fillcolor</p:attrName>
                                        </p:attrNameLst>
                                      </p:cBhvr>
                                      <p:to>
                                        <a:srgbClr val="99CCFF"/>
                                      </p:to>
                                    </p:animClr>
                                    <p:set>
                                      <p:cBhvr>
                                        <p:cTn id="141" dur="500" fill="hold"/>
                                        <p:tgtEl>
                                          <p:spTgt spid="33"/>
                                        </p:tgtEl>
                                        <p:attrNameLst>
                                          <p:attrName>fill.type</p:attrName>
                                        </p:attrNameLst>
                                      </p:cBhvr>
                                      <p:to>
                                        <p:strVal val="solid"/>
                                      </p:to>
                                    </p:set>
                                    <p:set>
                                      <p:cBhvr>
                                        <p:cTn id="142" dur="500" fill="hold"/>
                                        <p:tgtEl>
                                          <p:spTgt spid="33"/>
                                        </p:tgtEl>
                                        <p:attrNameLst>
                                          <p:attrName>fill.on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2" fill="hold" nodeType="clickEffect">
                                  <p:stCondLst>
                                    <p:cond delay="0"/>
                                  </p:stCondLst>
                                  <p:childTnLst>
                                    <p:animClr clrSpc="rgb" dir="cw">
                                      <p:cBhvr>
                                        <p:cTn id="146" dur="500" fill="hold"/>
                                        <p:tgtEl>
                                          <p:spTgt spid="77"/>
                                        </p:tgtEl>
                                        <p:attrNameLst>
                                          <p:attrName>fillcolor</p:attrName>
                                        </p:attrNameLst>
                                      </p:cBhvr>
                                      <p:to>
                                        <a:srgbClr val="F6EBC2"/>
                                      </p:to>
                                    </p:animClr>
                                    <p:set>
                                      <p:cBhvr>
                                        <p:cTn id="147" dur="500" fill="hold"/>
                                        <p:tgtEl>
                                          <p:spTgt spid="77"/>
                                        </p:tgtEl>
                                        <p:attrNameLst>
                                          <p:attrName>fill.type</p:attrName>
                                        </p:attrNameLst>
                                      </p:cBhvr>
                                      <p:to>
                                        <p:strVal val="solid"/>
                                      </p:to>
                                    </p:set>
                                    <p:set>
                                      <p:cBhvr>
                                        <p:cTn id="148" dur="500" fill="hold"/>
                                        <p:tgtEl>
                                          <p:spTgt spid="77"/>
                                        </p:tgtEl>
                                        <p:attrNameLst>
                                          <p:attrName>fill.on</p:attrName>
                                        </p:attrNameLst>
                                      </p:cBhvr>
                                      <p:to>
                                        <p:strVal val="true"/>
                                      </p:to>
                                    </p:set>
                                  </p:childTnLst>
                                </p:cTn>
                              </p:par>
                              <p:par>
                                <p:cTn id="149" presetID="1" presetClass="emph" presetSubtype="2" fill="hold" nodeType="withEffect">
                                  <p:stCondLst>
                                    <p:cond delay="0"/>
                                  </p:stCondLst>
                                  <p:childTnLst>
                                    <p:animClr clrSpc="rgb" dir="cw">
                                      <p:cBhvr>
                                        <p:cTn id="150" dur="500" fill="hold"/>
                                        <p:tgtEl>
                                          <p:spTgt spid="42"/>
                                        </p:tgtEl>
                                        <p:attrNameLst>
                                          <p:attrName>fillcolor</p:attrName>
                                        </p:attrNameLst>
                                      </p:cBhvr>
                                      <p:to>
                                        <a:srgbClr val="F6EBC2"/>
                                      </p:to>
                                    </p:animClr>
                                    <p:set>
                                      <p:cBhvr>
                                        <p:cTn id="151" dur="500" fill="hold"/>
                                        <p:tgtEl>
                                          <p:spTgt spid="42"/>
                                        </p:tgtEl>
                                        <p:attrNameLst>
                                          <p:attrName>fill.type</p:attrName>
                                        </p:attrNameLst>
                                      </p:cBhvr>
                                      <p:to>
                                        <p:strVal val="solid"/>
                                      </p:to>
                                    </p:set>
                                    <p:set>
                                      <p:cBhvr>
                                        <p:cTn id="152" dur="500" fill="hold"/>
                                        <p:tgtEl>
                                          <p:spTgt spid="42"/>
                                        </p:tgtEl>
                                        <p:attrNameLst>
                                          <p:attrName>fill.on</p:attrName>
                                        </p:attrNameLst>
                                      </p:cBhvr>
                                      <p:to>
                                        <p:strVal val="true"/>
                                      </p:to>
                                    </p:set>
                                  </p:childTnLst>
                                </p:cTn>
                              </p:par>
                              <p:par>
                                <p:cTn id="153" presetID="1" presetClass="emph" presetSubtype="2" fill="hold" nodeType="withEffect">
                                  <p:stCondLst>
                                    <p:cond delay="0"/>
                                  </p:stCondLst>
                                  <p:childTnLst>
                                    <p:animClr clrSpc="rgb" dir="cw">
                                      <p:cBhvr>
                                        <p:cTn id="154" dur="500" fill="hold"/>
                                        <p:tgtEl>
                                          <p:spTgt spid="100"/>
                                        </p:tgtEl>
                                        <p:attrNameLst>
                                          <p:attrName>fillcolor</p:attrName>
                                        </p:attrNameLst>
                                      </p:cBhvr>
                                      <p:to>
                                        <a:srgbClr val="F6EBC2"/>
                                      </p:to>
                                    </p:animClr>
                                    <p:set>
                                      <p:cBhvr>
                                        <p:cTn id="155" dur="500" fill="hold"/>
                                        <p:tgtEl>
                                          <p:spTgt spid="100"/>
                                        </p:tgtEl>
                                        <p:attrNameLst>
                                          <p:attrName>fill.type</p:attrName>
                                        </p:attrNameLst>
                                      </p:cBhvr>
                                      <p:to>
                                        <p:strVal val="solid"/>
                                      </p:to>
                                    </p:set>
                                    <p:set>
                                      <p:cBhvr>
                                        <p:cTn id="156" dur="500" fill="hold"/>
                                        <p:tgtEl>
                                          <p:spTgt spid="100"/>
                                        </p:tgtEl>
                                        <p:attrNameLst>
                                          <p:attrName>fill.on</p:attrName>
                                        </p:attrNameLst>
                                      </p:cBhvr>
                                      <p:to>
                                        <p:strVal val="true"/>
                                      </p:to>
                                    </p:set>
                                  </p:childTnLst>
                                </p:cTn>
                              </p:par>
                              <p:par>
                                <p:cTn id="157" presetID="1" presetClass="emph" presetSubtype="2" fill="hold" nodeType="withEffect">
                                  <p:stCondLst>
                                    <p:cond delay="0"/>
                                  </p:stCondLst>
                                  <p:childTnLst>
                                    <p:animClr clrSpc="rgb" dir="cw">
                                      <p:cBhvr>
                                        <p:cTn id="158" dur="500" fill="hold"/>
                                        <p:tgtEl>
                                          <p:spTgt spid="32"/>
                                        </p:tgtEl>
                                        <p:attrNameLst>
                                          <p:attrName>fillcolor</p:attrName>
                                        </p:attrNameLst>
                                      </p:cBhvr>
                                      <p:to>
                                        <a:srgbClr val="F6EBC2"/>
                                      </p:to>
                                    </p:animClr>
                                    <p:set>
                                      <p:cBhvr>
                                        <p:cTn id="159" dur="500" fill="hold"/>
                                        <p:tgtEl>
                                          <p:spTgt spid="32"/>
                                        </p:tgtEl>
                                        <p:attrNameLst>
                                          <p:attrName>fill.type</p:attrName>
                                        </p:attrNameLst>
                                      </p:cBhvr>
                                      <p:to>
                                        <p:strVal val="solid"/>
                                      </p:to>
                                    </p:set>
                                    <p:set>
                                      <p:cBhvr>
                                        <p:cTn id="160" dur="500" fill="hold"/>
                                        <p:tgtEl>
                                          <p:spTgt spid="3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聚芳永官网一期前端</a:t>
            </a:r>
            <a:r>
              <a:rPr lang="en-US" altLang="zh-CN" dirty="0" smtClean="0"/>
              <a:t>-</a:t>
            </a:r>
            <a:r>
              <a:rPr lang="zh-CN" altLang="en-US" dirty="0" smtClean="0"/>
              <a:t>首页</a:t>
            </a:r>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836712"/>
            <a:ext cx="8515350"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496502"/>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聚芳永官网一期前端</a:t>
            </a:r>
            <a:r>
              <a:rPr lang="en-US" altLang="zh-CN" dirty="0" smtClean="0"/>
              <a:t>-</a:t>
            </a:r>
            <a:r>
              <a:rPr lang="zh-CN" altLang="en-US" dirty="0" smtClean="0"/>
              <a:t>首页</a:t>
            </a:r>
            <a:endParaRPr lang="zh-CN"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836712"/>
            <a:ext cx="8496300" cy="56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360539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聚芳永官</a:t>
            </a:r>
            <a:r>
              <a:rPr lang="zh-CN" altLang="en-US" dirty="0" smtClean="0"/>
              <a:t>网一期前端</a:t>
            </a:r>
            <a:r>
              <a:rPr lang="en-US" altLang="zh-CN" dirty="0"/>
              <a:t>-</a:t>
            </a:r>
            <a:r>
              <a:rPr lang="zh-CN" altLang="en-US" dirty="0"/>
              <a:t>首页</a:t>
            </a:r>
          </a:p>
        </p:txBody>
      </p:sp>
      <p:sp>
        <p:nvSpPr>
          <p:cNvPr id="4" name="灯片编号占位符 3"/>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15</a:t>
            </a:fld>
            <a:endParaRPr lang="en-US" altLang="zh-CN" dirty="0">
              <a:solidFill>
                <a:srgbClr val="333333"/>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 y="829394"/>
            <a:ext cx="8505825" cy="569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3095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聚芳永官网一期前端</a:t>
            </a:r>
            <a:r>
              <a:rPr lang="en-US" altLang="zh-CN" dirty="0" smtClean="0"/>
              <a:t>-</a:t>
            </a:r>
            <a:r>
              <a:rPr lang="zh-CN" altLang="en-US" dirty="0" smtClean="0"/>
              <a:t>首页</a:t>
            </a:r>
            <a:endParaRPr lang="zh-CN"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7" y="838919"/>
            <a:ext cx="8505825" cy="56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1945428"/>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聚芳永官网一期前端</a:t>
            </a:r>
            <a:r>
              <a:rPr lang="en-US" altLang="zh-CN" dirty="0" smtClean="0"/>
              <a:t>-</a:t>
            </a:r>
            <a:r>
              <a:rPr lang="zh-CN" altLang="en-US" dirty="0"/>
              <a:t>商品列表页</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2" y="857969"/>
            <a:ext cx="8601075" cy="566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9318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聚芳永官网一期前端</a:t>
            </a:r>
            <a:r>
              <a:rPr lang="en-US" altLang="zh-CN" dirty="0" smtClean="0"/>
              <a:t>-</a:t>
            </a:r>
            <a:r>
              <a:rPr lang="zh-CN" altLang="en-US" dirty="0" smtClean="0"/>
              <a:t>商品详情页</a:t>
            </a:r>
            <a:endParaRPr lang="zh-CN" alt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838200"/>
            <a:ext cx="6835140" cy="6736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35156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7760" y="0"/>
            <a:ext cx="8287643" cy="908720"/>
          </a:xfrm>
        </p:spPr>
        <p:txBody>
          <a:bodyPr/>
          <a:lstStyle/>
          <a:p>
            <a:r>
              <a:rPr lang="zh-CN" altLang="en-US" sz="2000" dirty="0"/>
              <a:t>聚芳永官</a:t>
            </a:r>
            <a:r>
              <a:rPr lang="zh-CN" altLang="en-US" sz="2000" dirty="0" smtClean="0"/>
              <a:t>网二期</a:t>
            </a:r>
            <a:r>
              <a:rPr lang="en-US" altLang="zh-CN" sz="2000" dirty="0" smtClean="0"/>
              <a:t>CRM——</a:t>
            </a:r>
            <a:r>
              <a:rPr lang="zh-CN" altLang="en-US" sz="2000" b="1" dirty="0" smtClean="0">
                <a:effectLst>
                  <a:outerShdw blurRad="38100" dist="38100" dir="2700000" algn="tl">
                    <a:srgbClr val="000000">
                      <a:alpha val="43137"/>
                    </a:srgbClr>
                  </a:outerShdw>
                </a:effectLst>
                <a:latin typeface="+mj-ea"/>
              </a:rPr>
              <a:t>建议从操作型</a:t>
            </a:r>
            <a:r>
              <a:rPr lang="en-US" altLang="zh-CN" sz="2000" b="1" dirty="0" smtClean="0">
                <a:effectLst>
                  <a:outerShdw blurRad="38100" dist="38100" dir="2700000" algn="tl">
                    <a:srgbClr val="000000">
                      <a:alpha val="43137"/>
                    </a:srgbClr>
                  </a:outerShdw>
                </a:effectLst>
                <a:latin typeface="+mj-ea"/>
              </a:rPr>
              <a:t>CRM</a:t>
            </a:r>
            <a:r>
              <a:rPr lang="zh-CN" altLang="en-US" sz="2000" b="1" dirty="0" smtClean="0">
                <a:effectLst>
                  <a:outerShdw blurRad="38100" dist="38100" dir="2700000" algn="tl">
                    <a:srgbClr val="000000">
                      <a:alpha val="43137"/>
                    </a:srgbClr>
                  </a:outerShdw>
                </a:effectLst>
                <a:latin typeface="+mj-ea"/>
              </a:rPr>
              <a:t>入手，先建立成熟的数据采集工作体系，再逐步构建分析型</a:t>
            </a:r>
            <a:r>
              <a:rPr lang="en-US" altLang="zh-CN" sz="2000" b="1" dirty="0" smtClean="0">
                <a:effectLst>
                  <a:outerShdw blurRad="38100" dist="38100" dir="2700000" algn="tl">
                    <a:srgbClr val="000000">
                      <a:alpha val="43137"/>
                    </a:srgbClr>
                  </a:outerShdw>
                </a:effectLst>
                <a:latin typeface="+mj-ea"/>
              </a:rPr>
              <a:t>CRM</a:t>
            </a:r>
            <a:r>
              <a:rPr lang="zh-CN" altLang="en-US" sz="2000" b="1" dirty="0" smtClean="0">
                <a:effectLst>
                  <a:outerShdw blurRad="38100" dist="38100" dir="2700000" algn="tl">
                    <a:srgbClr val="000000">
                      <a:alpha val="43137"/>
                    </a:srgbClr>
                  </a:outerShdw>
                </a:effectLst>
                <a:latin typeface="+mj-ea"/>
              </a:rPr>
              <a:t>，进一步开展数据挖掘工作</a:t>
            </a:r>
            <a:endParaRPr lang="zh-CN" altLang="en-US" sz="2000" b="1" dirty="0">
              <a:effectLst>
                <a:outerShdw blurRad="38100" dist="38100" dir="2700000" algn="tl">
                  <a:srgbClr val="000000">
                    <a:alpha val="43137"/>
                  </a:srgbClr>
                </a:outerShdw>
              </a:effectLst>
              <a:latin typeface="+mj-ea"/>
            </a:endParaRPr>
          </a:p>
        </p:txBody>
      </p:sp>
      <p:sp>
        <p:nvSpPr>
          <p:cNvPr id="8" name="燕尾形 7"/>
          <p:cNvSpPr/>
          <p:nvPr/>
        </p:nvSpPr>
        <p:spPr>
          <a:xfrm>
            <a:off x="2195736" y="1268760"/>
            <a:ext cx="2232248" cy="576064"/>
          </a:xfrm>
          <a:prstGeom prst="chevron">
            <a:avLst/>
          </a:prstGeom>
          <a:solidFill>
            <a:schemeClr val="tx1">
              <a:lumMod val="60000"/>
              <a:lumOff val="40000"/>
            </a:schemeClr>
          </a:solidFill>
          <a:ln>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smtClean="0">
                <a:solidFill>
                  <a:schemeClr val="bg1"/>
                </a:solidFill>
              </a:rPr>
              <a:t>   集中</a:t>
            </a:r>
            <a:r>
              <a:rPr lang="zh-CN" altLang="en-US" sz="1600" b="1" dirty="0">
                <a:solidFill>
                  <a:schemeClr val="bg1"/>
                </a:solidFill>
              </a:rPr>
              <a:t>和清洗</a:t>
            </a:r>
          </a:p>
        </p:txBody>
      </p:sp>
      <p:sp>
        <p:nvSpPr>
          <p:cNvPr id="9" name="五边形 8"/>
          <p:cNvSpPr/>
          <p:nvPr/>
        </p:nvSpPr>
        <p:spPr>
          <a:xfrm>
            <a:off x="323528" y="1268760"/>
            <a:ext cx="2088232" cy="576064"/>
          </a:xfrm>
          <a:prstGeom prst="homePlate">
            <a:avLst/>
          </a:prstGeom>
          <a:solidFill>
            <a:schemeClr val="tx1">
              <a:lumMod val="60000"/>
              <a:lumOff val="40000"/>
            </a:schemeClr>
          </a:solidFill>
          <a:ln>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smtClean="0">
                <a:solidFill>
                  <a:schemeClr val="bg1"/>
                </a:solidFill>
              </a:rPr>
              <a:t>     采集</a:t>
            </a:r>
            <a:endParaRPr lang="zh-CN" altLang="en-US" sz="1600" b="1" dirty="0">
              <a:solidFill>
                <a:schemeClr val="bg1"/>
              </a:solidFill>
            </a:endParaRPr>
          </a:p>
        </p:txBody>
      </p:sp>
      <p:sp>
        <p:nvSpPr>
          <p:cNvPr id="10" name="燕尾形 9"/>
          <p:cNvSpPr/>
          <p:nvPr/>
        </p:nvSpPr>
        <p:spPr>
          <a:xfrm>
            <a:off x="4211961" y="1272546"/>
            <a:ext cx="2304254" cy="576064"/>
          </a:xfrm>
          <a:prstGeom prst="chevron">
            <a:avLst/>
          </a:prstGeom>
          <a:solidFill>
            <a:schemeClr val="tx1">
              <a:lumMod val="60000"/>
              <a:lumOff val="40000"/>
            </a:schemeClr>
          </a:solidFill>
          <a:ln>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smtClean="0">
                <a:solidFill>
                  <a:schemeClr val="bg1"/>
                </a:solidFill>
              </a:rPr>
              <a:t>   细分</a:t>
            </a:r>
            <a:r>
              <a:rPr lang="zh-CN" altLang="en-US" sz="1600" b="1" dirty="0">
                <a:solidFill>
                  <a:schemeClr val="bg1"/>
                </a:solidFill>
              </a:rPr>
              <a:t>和挖掘</a:t>
            </a:r>
          </a:p>
        </p:txBody>
      </p:sp>
      <p:sp>
        <p:nvSpPr>
          <p:cNvPr id="11" name="燕尾形 10"/>
          <p:cNvSpPr/>
          <p:nvPr/>
        </p:nvSpPr>
        <p:spPr>
          <a:xfrm>
            <a:off x="6300192" y="1268760"/>
            <a:ext cx="2448272" cy="576064"/>
          </a:xfrm>
          <a:prstGeom prst="chevron">
            <a:avLst/>
          </a:prstGeom>
          <a:solidFill>
            <a:schemeClr val="tx1">
              <a:lumMod val="60000"/>
              <a:lumOff val="40000"/>
            </a:schemeClr>
          </a:solidFill>
          <a:ln>
            <a:no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rPr>
              <a:t>   </a:t>
            </a:r>
            <a:r>
              <a:rPr lang="zh-CN" altLang="en-US" sz="1600" b="1" dirty="0" smtClean="0">
                <a:solidFill>
                  <a:schemeClr val="bg1"/>
                </a:solidFill>
              </a:rPr>
              <a:t>  应用</a:t>
            </a:r>
            <a:endParaRPr lang="zh-CN" altLang="en-US" sz="1600" b="1" dirty="0">
              <a:solidFill>
                <a:schemeClr val="bg1"/>
              </a:solidFill>
            </a:endParaRPr>
          </a:p>
        </p:txBody>
      </p:sp>
      <p:sp>
        <p:nvSpPr>
          <p:cNvPr id="12" name="矩形 11"/>
          <p:cNvSpPr/>
          <p:nvPr/>
        </p:nvSpPr>
        <p:spPr>
          <a:xfrm>
            <a:off x="323528" y="1164534"/>
            <a:ext cx="216024" cy="21602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13" name="矩形 12"/>
          <p:cNvSpPr/>
          <p:nvPr/>
        </p:nvSpPr>
        <p:spPr>
          <a:xfrm>
            <a:off x="6574363" y="1183812"/>
            <a:ext cx="216024" cy="21602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14" name="矩形 13"/>
          <p:cNvSpPr/>
          <p:nvPr/>
        </p:nvSpPr>
        <p:spPr>
          <a:xfrm>
            <a:off x="4349723" y="1160748"/>
            <a:ext cx="216024" cy="21602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5" name="矩形 14"/>
          <p:cNvSpPr/>
          <p:nvPr/>
        </p:nvSpPr>
        <p:spPr>
          <a:xfrm>
            <a:off x="2411760" y="1164534"/>
            <a:ext cx="216024" cy="21602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6" name="圆角矩形 15"/>
          <p:cNvSpPr/>
          <p:nvPr/>
        </p:nvSpPr>
        <p:spPr>
          <a:xfrm>
            <a:off x="298307" y="2060848"/>
            <a:ext cx="1753413" cy="2016224"/>
          </a:xfrm>
          <a:prstGeom prst="round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82173" y="4575469"/>
            <a:ext cx="1602478" cy="163961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tabLst>
                <a:tab pos="177800" algn="l"/>
              </a:tabLst>
            </a:pPr>
            <a:endParaRPr lang="en-US" altLang="zh-CN" sz="1400" dirty="0">
              <a:solidFill>
                <a:srgbClr val="FFFFFF"/>
              </a:solidFill>
              <a:latin typeface="华文细黑" pitchFamily="18" charset="0"/>
              <a:cs typeface="华文细黑" pitchFamily="18" charset="0"/>
            </a:endParaRPr>
          </a:p>
        </p:txBody>
      </p:sp>
      <p:sp>
        <p:nvSpPr>
          <p:cNvPr id="18" name="矩形 17"/>
          <p:cNvSpPr/>
          <p:nvPr/>
        </p:nvSpPr>
        <p:spPr>
          <a:xfrm>
            <a:off x="1979712" y="4575469"/>
            <a:ext cx="1960817" cy="163961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tabLst>
                <a:tab pos="177800" algn="l"/>
              </a:tabLst>
            </a:pPr>
            <a:endParaRPr lang="en-US" altLang="zh-CN" sz="1400" dirty="0">
              <a:solidFill>
                <a:srgbClr val="FFFFFF"/>
              </a:solidFill>
              <a:latin typeface="华文细黑" pitchFamily="18" charset="0"/>
              <a:cs typeface="华文细黑" pitchFamily="18" charset="0"/>
            </a:endParaRPr>
          </a:p>
        </p:txBody>
      </p:sp>
      <p:sp>
        <p:nvSpPr>
          <p:cNvPr id="19" name="矩形 18"/>
          <p:cNvSpPr/>
          <p:nvPr/>
        </p:nvSpPr>
        <p:spPr>
          <a:xfrm>
            <a:off x="4025599" y="4575469"/>
            <a:ext cx="4866882" cy="1639613"/>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tabLst>
                <a:tab pos="177800" algn="l"/>
              </a:tabLst>
            </a:pPr>
            <a:endParaRPr lang="en-US" altLang="zh-CN" sz="1400" dirty="0">
              <a:solidFill>
                <a:srgbClr val="FFFFFF"/>
              </a:solidFill>
              <a:latin typeface="华文细黑" pitchFamily="18" charset="0"/>
              <a:cs typeface="华文细黑" pitchFamily="18" charset="0"/>
            </a:endParaRPr>
          </a:p>
        </p:txBody>
      </p:sp>
      <p:sp>
        <p:nvSpPr>
          <p:cNvPr id="24" name="圆角矩形 23"/>
          <p:cNvSpPr/>
          <p:nvPr/>
        </p:nvSpPr>
        <p:spPr>
          <a:xfrm>
            <a:off x="463186" y="3717032"/>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直营店</a:t>
            </a:r>
          </a:p>
        </p:txBody>
      </p:sp>
      <p:sp>
        <p:nvSpPr>
          <p:cNvPr id="25" name="圆角矩形 24"/>
          <p:cNvSpPr/>
          <p:nvPr/>
        </p:nvSpPr>
        <p:spPr>
          <a:xfrm>
            <a:off x="480495" y="2393520"/>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品牌活动</a:t>
            </a:r>
            <a:endParaRPr lang="zh-CN" altLang="en-US" sz="1600" dirty="0"/>
          </a:p>
        </p:txBody>
      </p:sp>
      <p:sp>
        <p:nvSpPr>
          <p:cNvPr id="26" name="圆角矩形 25"/>
          <p:cNvSpPr/>
          <p:nvPr/>
        </p:nvSpPr>
        <p:spPr>
          <a:xfrm>
            <a:off x="480495" y="2712519"/>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互联网</a:t>
            </a:r>
          </a:p>
        </p:txBody>
      </p:sp>
      <p:sp>
        <p:nvSpPr>
          <p:cNvPr id="27" name="圆角矩形 26"/>
          <p:cNvSpPr/>
          <p:nvPr/>
        </p:nvSpPr>
        <p:spPr>
          <a:xfrm>
            <a:off x="472935" y="3055522"/>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呼叫中心</a:t>
            </a:r>
          </a:p>
        </p:txBody>
      </p:sp>
      <p:sp>
        <p:nvSpPr>
          <p:cNvPr id="28" name="圆角矩形 27"/>
          <p:cNvSpPr/>
          <p:nvPr/>
        </p:nvSpPr>
        <p:spPr>
          <a:xfrm>
            <a:off x="472935" y="3389019"/>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经销商</a:t>
            </a:r>
          </a:p>
        </p:txBody>
      </p:sp>
      <p:sp>
        <p:nvSpPr>
          <p:cNvPr id="30" name="TextBox 29"/>
          <p:cNvSpPr txBox="1"/>
          <p:nvPr/>
        </p:nvSpPr>
        <p:spPr>
          <a:xfrm>
            <a:off x="463186" y="2024188"/>
            <a:ext cx="1453111" cy="369332"/>
          </a:xfrm>
          <a:prstGeom prst="rect">
            <a:avLst/>
          </a:prstGeom>
          <a:noFill/>
        </p:spPr>
        <p:txBody>
          <a:bodyPr wrap="square" rtlCol="0">
            <a:spAutoFit/>
          </a:bodyPr>
          <a:lstStyle/>
          <a:p>
            <a:r>
              <a:rPr lang="zh-CN" altLang="en-US" b="1" dirty="0" smtClean="0"/>
              <a:t>数据来源</a:t>
            </a:r>
            <a:endParaRPr lang="zh-CN" altLang="en-US" b="1" dirty="0"/>
          </a:p>
        </p:txBody>
      </p:sp>
      <p:sp>
        <p:nvSpPr>
          <p:cNvPr id="31" name="圆角矩形 30"/>
          <p:cNvSpPr/>
          <p:nvPr/>
        </p:nvSpPr>
        <p:spPr>
          <a:xfrm>
            <a:off x="2267744" y="2061547"/>
            <a:ext cx="2448272" cy="2016224"/>
          </a:xfrm>
          <a:prstGeom prst="round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4860032" y="2068762"/>
            <a:ext cx="1753413" cy="2016224"/>
          </a:xfrm>
          <a:prstGeom prst="round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6804248" y="2068762"/>
            <a:ext cx="1944216" cy="2016224"/>
          </a:xfrm>
          <a:prstGeom prst="round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流程图: 磁盘 33"/>
          <p:cNvSpPr/>
          <p:nvPr/>
        </p:nvSpPr>
        <p:spPr>
          <a:xfrm>
            <a:off x="2771800" y="2482496"/>
            <a:ext cx="1440160" cy="1135280"/>
          </a:xfrm>
          <a:prstGeom prst="flowChartMagneticDisk">
            <a:avLst/>
          </a:prstGeom>
          <a:solidFill>
            <a:schemeClr val="accent1">
              <a:lumMod val="60000"/>
              <a:lumOff val="4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中央数据库</a:t>
            </a:r>
            <a:endParaRPr lang="zh-CN" altLang="en-US" b="1" dirty="0"/>
          </a:p>
        </p:txBody>
      </p:sp>
      <p:sp>
        <p:nvSpPr>
          <p:cNvPr id="35" name="圆角矩形 34"/>
          <p:cNvSpPr/>
          <p:nvPr/>
        </p:nvSpPr>
        <p:spPr>
          <a:xfrm>
            <a:off x="5040052" y="3533539"/>
            <a:ext cx="1476164"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生命周期分析</a:t>
            </a:r>
          </a:p>
        </p:txBody>
      </p:sp>
      <p:sp>
        <p:nvSpPr>
          <p:cNvPr id="36" name="圆角矩形 35"/>
          <p:cNvSpPr/>
          <p:nvPr/>
        </p:nvSpPr>
        <p:spPr>
          <a:xfrm>
            <a:off x="5083241" y="2937093"/>
            <a:ext cx="1432975"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购买行为分析</a:t>
            </a:r>
          </a:p>
        </p:txBody>
      </p:sp>
      <p:sp>
        <p:nvSpPr>
          <p:cNvPr id="37" name="圆角矩形 36"/>
          <p:cNvSpPr/>
          <p:nvPr/>
        </p:nvSpPr>
        <p:spPr>
          <a:xfrm>
            <a:off x="5096670" y="2395052"/>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客户分类</a:t>
            </a:r>
          </a:p>
        </p:txBody>
      </p:sp>
      <p:sp>
        <p:nvSpPr>
          <p:cNvPr id="38" name="圆角矩形 37"/>
          <p:cNvSpPr/>
          <p:nvPr/>
        </p:nvSpPr>
        <p:spPr>
          <a:xfrm>
            <a:off x="6974476" y="3691378"/>
            <a:ext cx="1629972"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合作伙伴计划</a:t>
            </a:r>
          </a:p>
        </p:txBody>
      </p:sp>
      <p:sp>
        <p:nvSpPr>
          <p:cNvPr id="39" name="圆角矩形 38"/>
          <p:cNvSpPr/>
          <p:nvPr/>
        </p:nvSpPr>
        <p:spPr>
          <a:xfrm>
            <a:off x="6804248" y="3322470"/>
            <a:ext cx="1872208"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dirty="0" smtClean="0"/>
              <a:t>交叉销售与重复购买</a:t>
            </a:r>
            <a:endParaRPr lang="en-US" altLang="zh-CN" sz="1600" dirty="0"/>
          </a:p>
        </p:txBody>
      </p:sp>
      <p:sp>
        <p:nvSpPr>
          <p:cNvPr id="40" name="圆角矩形 39"/>
          <p:cNvSpPr/>
          <p:nvPr/>
        </p:nvSpPr>
        <p:spPr>
          <a:xfrm>
            <a:off x="6978876" y="2962377"/>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忠诚度计划</a:t>
            </a:r>
          </a:p>
        </p:txBody>
      </p:sp>
      <p:sp>
        <p:nvSpPr>
          <p:cNvPr id="41" name="圆角矩形 40"/>
          <p:cNvSpPr/>
          <p:nvPr/>
        </p:nvSpPr>
        <p:spPr>
          <a:xfrm>
            <a:off x="6988460" y="2572738"/>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服务挽留</a:t>
            </a:r>
          </a:p>
        </p:txBody>
      </p:sp>
      <p:sp>
        <p:nvSpPr>
          <p:cNvPr id="42" name="圆角矩形 41"/>
          <p:cNvSpPr/>
          <p:nvPr/>
        </p:nvSpPr>
        <p:spPr>
          <a:xfrm>
            <a:off x="6974476" y="2202934"/>
            <a:ext cx="1404156" cy="279562"/>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常规挽留</a:t>
            </a:r>
            <a:endParaRPr lang="zh-CN" altLang="en-US" sz="1600" dirty="0"/>
          </a:p>
        </p:txBody>
      </p:sp>
      <p:sp>
        <p:nvSpPr>
          <p:cNvPr id="43" name="右箭头 42"/>
          <p:cNvSpPr/>
          <p:nvPr/>
        </p:nvSpPr>
        <p:spPr>
          <a:xfrm>
            <a:off x="1979712" y="2810085"/>
            <a:ext cx="576064" cy="385218"/>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右箭头 43"/>
          <p:cNvSpPr/>
          <p:nvPr/>
        </p:nvSpPr>
        <p:spPr>
          <a:xfrm>
            <a:off x="4427984" y="2864578"/>
            <a:ext cx="576064" cy="385218"/>
          </a:xfrm>
          <a:prstGeom prst="rightArrow">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TextBox 44"/>
          <p:cNvSpPr txBox="1"/>
          <p:nvPr/>
        </p:nvSpPr>
        <p:spPr>
          <a:xfrm>
            <a:off x="282172" y="4719485"/>
            <a:ext cx="1585169" cy="1277273"/>
          </a:xfrm>
          <a:prstGeom prst="rect">
            <a:avLst/>
          </a:prstGeom>
          <a:noFill/>
        </p:spPr>
        <p:txBody>
          <a:bodyPr wrap="square" rtlCol="0">
            <a:spAutoFit/>
          </a:bodyPr>
          <a:lstStyle/>
          <a:p>
            <a:pPr>
              <a:lnSpc>
                <a:spcPct val="150000"/>
              </a:lnSpc>
              <a:tabLst>
                <a:tab pos="177800" algn="l"/>
              </a:tabLst>
            </a:pPr>
            <a:r>
              <a:rPr lang="en-US" altLang="zh-CN" sz="1400" dirty="0" smtClean="0">
                <a:solidFill>
                  <a:srgbClr val="FFFFFF"/>
                </a:solidFill>
                <a:latin typeface="华文细黑" pitchFamily="18" charset="0"/>
                <a:cs typeface="华文细黑" pitchFamily="18" charset="0"/>
              </a:rPr>
              <a:t>•</a:t>
            </a:r>
            <a:r>
              <a:rPr lang="zh-CN" altLang="en-US" sz="1400" dirty="0" smtClean="0">
                <a:solidFill>
                  <a:srgbClr val="FFFFFF"/>
                </a:solidFill>
                <a:latin typeface="华文细黑" pitchFamily="18" charset="0"/>
                <a:cs typeface="华文细黑" pitchFamily="18" charset="0"/>
              </a:rPr>
              <a:t>数据校验</a:t>
            </a:r>
            <a:endParaRPr lang="en-US" altLang="zh-CN" sz="1400" dirty="0" smtClean="0">
              <a:solidFill>
                <a:srgbClr val="FFFFFF"/>
              </a:solidFill>
              <a:latin typeface="华文细黑" pitchFamily="18" charset="0"/>
              <a:cs typeface="华文细黑" pitchFamily="18" charset="0"/>
            </a:endParaRPr>
          </a:p>
          <a:p>
            <a:pPr>
              <a:lnSpc>
                <a:spcPct val="150000"/>
              </a:lnSpc>
              <a:tabLst>
                <a:tab pos="177800" algn="l"/>
              </a:tabLst>
            </a:pPr>
            <a:r>
              <a:rPr lang="en-US" altLang="zh-CN" sz="1400" dirty="0" smtClean="0">
                <a:solidFill>
                  <a:srgbClr val="FFFFFF"/>
                </a:solidFill>
                <a:latin typeface="华文细黑" pitchFamily="18" charset="0"/>
                <a:cs typeface="华文细黑" pitchFamily="18" charset="0"/>
              </a:rPr>
              <a:t>•</a:t>
            </a:r>
            <a:r>
              <a:rPr lang="zh-CN" altLang="en-US" sz="1400" dirty="0" smtClean="0">
                <a:solidFill>
                  <a:srgbClr val="FFFFFF"/>
                </a:solidFill>
                <a:latin typeface="华文细黑" pitchFamily="18" charset="0"/>
                <a:cs typeface="华文细黑" pitchFamily="18" charset="0"/>
              </a:rPr>
              <a:t>数据格式数字化</a:t>
            </a:r>
            <a:endParaRPr lang="en-US" altLang="zh-CN" sz="1400" dirty="0">
              <a:solidFill>
                <a:srgbClr val="FFFFFF"/>
              </a:solidFill>
              <a:latin typeface="华文细黑" pitchFamily="18" charset="0"/>
              <a:cs typeface="华文细黑" pitchFamily="18" charset="0"/>
            </a:endParaRPr>
          </a:p>
          <a:p>
            <a:pPr>
              <a:lnSpc>
                <a:spcPct val="150000"/>
              </a:lnSpc>
              <a:tabLst>
                <a:tab pos="177800" algn="l"/>
              </a:tabLst>
            </a:pPr>
            <a:r>
              <a:rPr lang="en-US" altLang="zh-CN" sz="1400" dirty="0" smtClean="0">
                <a:solidFill>
                  <a:srgbClr val="FFFFFF"/>
                </a:solidFill>
                <a:latin typeface="华文细黑" pitchFamily="18" charset="0"/>
                <a:cs typeface="华文细黑" pitchFamily="18" charset="0"/>
              </a:rPr>
              <a:t>•</a:t>
            </a:r>
            <a:r>
              <a:rPr lang="zh-CN" altLang="en-US" sz="1400" dirty="0" smtClean="0">
                <a:solidFill>
                  <a:srgbClr val="FFFFFF"/>
                </a:solidFill>
                <a:latin typeface="华文细黑" pitchFamily="18" charset="0"/>
                <a:cs typeface="华文细黑" pitchFamily="18" charset="0"/>
              </a:rPr>
              <a:t>数据接口同步</a:t>
            </a:r>
            <a:endParaRPr lang="en-US" altLang="zh-CN" sz="1400" dirty="0">
              <a:solidFill>
                <a:srgbClr val="FFFFFF"/>
              </a:solidFill>
              <a:latin typeface="华文细黑" pitchFamily="18" charset="0"/>
              <a:cs typeface="华文细黑" pitchFamily="18" charset="0"/>
            </a:endParaRPr>
          </a:p>
          <a:p>
            <a:endParaRPr lang="zh-CN" altLang="en-US" sz="1400" dirty="0">
              <a:solidFill>
                <a:srgbClr val="FFFFFF"/>
              </a:solidFill>
              <a:latin typeface="华文细黑" pitchFamily="18" charset="0"/>
              <a:cs typeface="华文细黑" pitchFamily="18" charset="0"/>
            </a:endParaRPr>
          </a:p>
        </p:txBody>
      </p:sp>
      <p:sp>
        <p:nvSpPr>
          <p:cNvPr id="47" name="TextBox 46"/>
          <p:cNvSpPr txBox="1"/>
          <p:nvPr/>
        </p:nvSpPr>
        <p:spPr>
          <a:xfrm>
            <a:off x="1952338" y="4623080"/>
            <a:ext cx="1954189" cy="1384995"/>
          </a:xfrm>
          <a:prstGeom prst="rect">
            <a:avLst/>
          </a:prstGeom>
          <a:noFill/>
        </p:spPr>
        <p:txBody>
          <a:bodyPr wrap="square" rtlCol="0">
            <a:spAutoFit/>
          </a:bodyPr>
          <a:lstStyle/>
          <a:p>
            <a:pPr>
              <a:lnSpc>
                <a:spcPct val="150000"/>
              </a:lnSpc>
              <a:tabLst>
                <a:tab pos="177800" algn="l"/>
              </a:tabLst>
            </a:pPr>
            <a:r>
              <a:rPr lang="en-US" altLang="zh-CN" sz="1400" dirty="0">
                <a:solidFill>
                  <a:srgbClr val="FFFFFF"/>
                </a:solidFill>
                <a:latin typeface="华文细黑" pitchFamily="18" charset="0"/>
                <a:cs typeface="华文细黑" pitchFamily="18" charset="0"/>
              </a:rPr>
              <a:t>• </a:t>
            </a:r>
            <a:r>
              <a:rPr lang="zh-CN" altLang="en-US" sz="1400" dirty="0">
                <a:solidFill>
                  <a:srgbClr val="FFFFFF"/>
                </a:solidFill>
                <a:latin typeface="华文细黑" pitchFamily="18" charset="0"/>
                <a:cs typeface="华文细黑" pitchFamily="18" charset="0"/>
              </a:rPr>
              <a:t>统一数据格式</a:t>
            </a:r>
            <a:endParaRPr lang="en-US" altLang="zh-CN" sz="1400" dirty="0">
              <a:solidFill>
                <a:srgbClr val="FFFFFF"/>
              </a:solidFill>
              <a:latin typeface="华文细黑" pitchFamily="18" charset="0"/>
              <a:cs typeface="华文细黑" pitchFamily="18" charset="0"/>
            </a:endParaRPr>
          </a:p>
          <a:p>
            <a:pPr>
              <a:lnSpc>
                <a:spcPct val="150000"/>
              </a:lnSpc>
              <a:tabLst>
                <a:tab pos="1193800" algn="l"/>
              </a:tabLst>
            </a:pPr>
            <a:r>
              <a:rPr lang="en-US" altLang="zh-CN" sz="1400" dirty="0">
                <a:solidFill>
                  <a:srgbClr val="FFFFFF"/>
                </a:solidFill>
                <a:latin typeface="华文细黑" pitchFamily="18" charset="0"/>
                <a:cs typeface="华文细黑" pitchFamily="18" charset="0"/>
              </a:rPr>
              <a:t>• </a:t>
            </a:r>
            <a:r>
              <a:rPr lang="zh-CN" altLang="en-US" sz="1400" dirty="0">
                <a:solidFill>
                  <a:srgbClr val="FFFFFF"/>
                </a:solidFill>
                <a:latin typeface="华文细黑" pitchFamily="18" charset="0"/>
                <a:cs typeface="华文细黑" pitchFamily="18" charset="0"/>
              </a:rPr>
              <a:t>数据清洗和去重复</a:t>
            </a:r>
            <a:endParaRPr lang="en-US" altLang="zh-CN" sz="1400" dirty="0">
              <a:solidFill>
                <a:srgbClr val="FFFFFF"/>
              </a:solidFill>
              <a:latin typeface="华文细黑" pitchFamily="18" charset="0"/>
              <a:cs typeface="华文细黑" pitchFamily="18" charset="0"/>
            </a:endParaRPr>
          </a:p>
          <a:p>
            <a:pPr>
              <a:lnSpc>
                <a:spcPct val="150000"/>
              </a:lnSpc>
              <a:tabLst>
                <a:tab pos="1193800" algn="l"/>
              </a:tabLst>
            </a:pPr>
            <a:r>
              <a:rPr lang="en-US" altLang="zh-CN" sz="1400" dirty="0" smtClean="0">
                <a:solidFill>
                  <a:srgbClr val="FFFFFF"/>
                </a:solidFill>
                <a:latin typeface="华文细黑" pitchFamily="18" charset="0"/>
                <a:cs typeface="华文细黑" pitchFamily="18" charset="0"/>
              </a:rPr>
              <a:t>•</a:t>
            </a:r>
            <a:r>
              <a:rPr lang="en-US" altLang="zh-CN" sz="1400" dirty="0" smtClean="0">
                <a:latin typeface="Times New Roman" pitchFamily="18" charset="0"/>
                <a:cs typeface="Times New Roman" pitchFamily="18" charset="0"/>
              </a:rPr>
              <a:t> </a:t>
            </a:r>
            <a:r>
              <a:rPr lang="zh-CN" altLang="en-US" sz="1400" dirty="0">
                <a:solidFill>
                  <a:srgbClr val="FFFFFF"/>
                </a:solidFill>
                <a:latin typeface="华文细黑" pitchFamily="18" charset="0"/>
                <a:cs typeface="华文细黑" pitchFamily="18" charset="0"/>
              </a:rPr>
              <a:t>业务规则映射</a:t>
            </a:r>
            <a:endParaRPr lang="en-US" altLang="zh-CN" sz="1400" dirty="0">
              <a:solidFill>
                <a:srgbClr val="FFFFFF"/>
              </a:solidFill>
              <a:latin typeface="华文细黑" pitchFamily="18" charset="0"/>
              <a:cs typeface="华文细黑" pitchFamily="18" charset="0"/>
            </a:endParaRPr>
          </a:p>
          <a:p>
            <a:pPr>
              <a:lnSpc>
                <a:spcPct val="150000"/>
              </a:lnSpc>
              <a:tabLst>
                <a:tab pos="1193800" algn="l"/>
              </a:tabLst>
            </a:pPr>
            <a:r>
              <a:rPr lang="en-US" altLang="zh-CN" sz="1400" dirty="0">
                <a:solidFill>
                  <a:srgbClr val="FFFFFF"/>
                </a:solidFill>
                <a:latin typeface="华文细黑" pitchFamily="18" charset="0"/>
                <a:cs typeface="华文细黑" pitchFamily="18" charset="0"/>
              </a:rPr>
              <a:t>• </a:t>
            </a:r>
            <a:r>
              <a:rPr lang="zh-CN" altLang="en-US" sz="1400" dirty="0">
                <a:solidFill>
                  <a:srgbClr val="FFFFFF"/>
                </a:solidFill>
                <a:latin typeface="华文细黑" pitchFamily="18" charset="0"/>
                <a:cs typeface="华文细黑" pitchFamily="18" charset="0"/>
              </a:rPr>
              <a:t>数据归档</a:t>
            </a:r>
          </a:p>
        </p:txBody>
      </p:sp>
      <p:sp>
        <p:nvSpPr>
          <p:cNvPr id="48" name="TextBox 47"/>
          <p:cNvSpPr txBox="1"/>
          <p:nvPr/>
        </p:nvSpPr>
        <p:spPr>
          <a:xfrm>
            <a:off x="4025599" y="4665187"/>
            <a:ext cx="4866882" cy="1384995"/>
          </a:xfrm>
          <a:prstGeom prst="rect">
            <a:avLst/>
          </a:prstGeom>
          <a:noFill/>
        </p:spPr>
        <p:txBody>
          <a:bodyPr wrap="square" rtlCol="0">
            <a:spAutoFit/>
          </a:bodyPr>
          <a:lstStyle/>
          <a:p>
            <a:pPr>
              <a:tabLst>
                <a:tab pos="177800" algn="l"/>
                <a:tab pos="1028700" algn="l"/>
                <a:tab pos="3467100" algn="l"/>
              </a:tabLst>
            </a:pPr>
            <a:r>
              <a:rPr lang="en-US" altLang="zh-CN" sz="1400" dirty="0">
                <a:solidFill>
                  <a:srgbClr val="FFFFFF"/>
                </a:solidFill>
                <a:latin typeface="华文细黑" pitchFamily="18" charset="0"/>
                <a:cs typeface="华文细黑" pitchFamily="18" charset="0"/>
              </a:rPr>
              <a:t>•</a:t>
            </a:r>
            <a:r>
              <a:rPr lang="en-US" altLang="zh-CN" sz="1400" dirty="0">
                <a:latin typeface="Times New Roman" pitchFamily="18" charset="0"/>
                <a:cs typeface="Times New Roman" pitchFamily="18" charset="0"/>
              </a:rPr>
              <a:t> </a:t>
            </a:r>
            <a:r>
              <a:rPr lang="zh-CN" altLang="en-US" sz="1400" dirty="0">
                <a:solidFill>
                  <a:srgbClr val="FFFFFF"/>
                </a:solidFill>
                <a:latin typeface="华文细黑" pitchFamily="18" charset="0"/>
                <a:cs typeface="华文细黑" pitchFamily="18" charset="0"/>
              </a:rPr>
              <a:t>集中的顾客信息、购买记录、售后记录</a:t>
            </a:r>
            <a:r>
              <a:rPr lang="zh-CN" altLang="en-US" sz="1400" dirty="0" smtClean="0">
                <a:solidFill>
                  <a:srgbClr val="FFFFFF"/>
                </a:solidFill>
                <a:latin typeface="华文细黑" pitchFamily="18" charset="0"/>
                <a:cs typeface="华文细黑" pitchFamily="18" charset="0"/>
              </a:rPr>
              <a:t>和</a:t>
            </a:r>
            <a:r>
              <a:rPr lang="zh-CN" altLang="zh-CN" sz="1400" dirty="0" smtClean="0">
                <a:solidFill>
                  <a:srgbClr val="FFFFFF"/>
                </a:solidFill>
                <a:latin typeface="华文细黑" pitchFamily="18" charset="0"/>
                <a:cs typeface="华文细黑" pitchFamily="18" charset="0"/>
              </a:rPr>
              <a:t>沟通历史记录</a:t>
            </a:r>
            <a:r>
              <a:rPr lang="zh-CN" altLang="en-US" sz="1400" dirty="0" smtClean="0">
                <a:solidFill>
                  <a:srgbClr val="FFFFFF"/>
                </a:solidFill>
                <a:latin typeface="华文细黑" pitchFamily="18" charset="0"/>
                <a:cs typeface="华文细黑" pitchFamily="18" charset="0"/>
              </a:rPr>
              <a:t>   </a:t>
            </a:r>
            <a:endParaRPr lang="en-US" altLang="zh-CN" sz="1400" dirty="0">
              <a:solidFill>
                <a:srgbClr val="FFFFFF"/>
              </a:solidFill>
              <a:latin typeface="华文细黑" pitchFamily="18" charset="0"/>
              <a:cs typeface="华文细黑" pitchFamily="18" charset="0"/>
            </a:endParaRPr>
          </a:p>
          <a:p>
            <a:pPr>
              <a:tabLst>
                <a:tab pos="177800" algn="l"/>
                <a:tab pos="1028700" algn="l"/>
                <a:tab pos="3467100" algn="l"/>
              </a:tabLst>
            </a:pPr>
            <a:r>
              <a:rPr lang="en-US" altLang="zh-CN" sz="1400" dirty="0" smtClean="0">
                <a:solidFill>
                  <a:srgbClr val="FFFFFF"/>
                </a:solidFill>
                <a:latin typeface="华文细黑" pitchFamily="18" charset="0"/>
                <a:cs typeface="华文细黑" pitchFamily="18" charset="0"/>
              </a:rPr>
              <a:t>• </a:t>
            </a:r>
            <a:r>
              <a:rPr lang="zh-CN" altLang="en-US" sz="1400" dirty="0" smtClean="0">
                <a:solidFill>
                  <a:srgbClr val="FFFFFF"/>
                </a:solidFill>
                <a:latin typeface="华文细黑" pitchFamily="18" charset="0"/>
                <a:cs typeface="华文细黑" pitchFamily="18" charset="0"/>
              </a:rPr>
              <a:t>根据顾客的情况和采购行为分析</a:t>
            </a:r>
            <a:r>
              <a:rPr lang="en-US" altLang="zh-CN" sz="1400" dirty="0" smtClean="0">
                <a:solidFill>
                  <a:srgbClr val="FFFFFF"/>
                </a:solidFill>
                <a:latin typeface="华文细黑" pitchFamily="18" charset="0"/>
                <a:cs typeface="华文细黑" pitchFamily="18" charset="0"/>
              </a:rPr>
              <a:t>，</a:t>
            </a:r>
            <a:r>
              <a:rPr lang="zh-CN" altLang="en-US" sz="1400" dirty="0" smtClean="0">
                <a:solidFill>
                  <a:srgbClr val="FFFFFF"/>
                </a:solidFill>
                <a:latin typeface="华文细黑" pitchFamily="18" charset="0"/>
                <a:cs typeface="华文细黑" pitchFamily="18" charset="0"/>
              </a:rPr>
              <a:t>可触发多渠道的 </a:t>
            </a:r>
            <a:r>
              <a:rPr lang="en-US" altLang="zh-CN" sz="1400" dirty="0" smtClean="0">
                <a:solidFill>
                  <a:srgbClr val="FFFFFF"/>
                </a:solidFill>
                <a:latin typeface="+mn-ea"/>
                <a:cs typeface="华文细黑" pitchFamily="18" charset="0"/>
              </a:rPr>
              <a:t>CRM</a:t>
            </a:r>
          </a:p>
          <a:p>
            <a:pPr>
              <a:tabLst>
                <a:tab pos="177800" algn="l"/>
                <a:tab pos="1028700" algn="l"/>
                <a:tab pos="3467100" algn="l"/>
              </a:tabLst>
            </a:pPr>
            <a:r>
              <a:rPr lang="en-US" altLang="zh-CN" sz="1400" dirty="0">
                <a:solidFill>
                  <a:srgbClr val="FFFFFF"/>
                </a:solidFill>
                <a:latin typeface="+mn-ea"/>
                <a:cs typeface="华文细黑" pitchFamily="18" charset="0"/>
              </a:rPr>
              <a:t> </a:t>
            </a:r>
            <a:r>
              <a:rPr lang="en-US" altLang="zh-CN" sz="1400" dirty="0" smtClean="0">
                <a:solidFill>
                  <a:srgbClr val="FFFFFF"/>
                </a:solidFill>
                <a:latin typeface="+mn-ea"/>
                <a:cs typeface="华文细黑" pitchFamily="18" charset="0"/>
              </a:rPr>
              <a:t>  Campaign</a:t>
            </a:r>
          </a:p>
          <a:p>
            <a:pPr>
              <a:tabLst>
                <a:tab pos="177800" algn="l"/>
                <a:tab pos="1028700" algn="l"/>
                <a:tab pos="3467100" algn="l"/>
              </a:tabLst>
            </a:pPr>
            <a:r>
              <a:rPr lang="en-US" altLang="zh-CN" sz="1400" dirty="0">
                <a:solidFill>
                  <a:srgbClr val="FFFFFF"/>
                </a:solidFill>
                <a:latin typeface="华文细黑" pitchFamily="18" charset="0"/>
                <a:cs typeface="华文细黑" pitchFamily="18" charset="0"/>
              </a:rPr>
              <a:t>• </a:t>
            </a:r>
            <a:r>
              <a:rPr lang="zh-CN" altLang="en-US" sz="1400" dirty="0" smtClean="0">
                <a:solidFill>
                  <a:srgbClr val="FFFFFF"/>
                </a:solidFill>
                <a:latin typeface="华文细黑" pitchFamily="18" charset="0"/>
                <a:cs typeface="华文细黑" pitchFamily="18" charset="0"/>
              </a:rPr>
              <a:t>根据顾客细分、购买行为分析、生命周期分析等设计常规</a:t>
            </a:r>
            <a:endParaRPr lang="en-US" altLang="zh-CN" sz="1400" dirty="0" smtClean="0">
              <a:solidFill>
                <a:srgbClr val="FFFFFF"/>
              </a:solidFill>
              <a:latin typeface="华文细黑" pitchFamily="18" charset="0"/>
              <a:cs typeface="华文细黑" pitchFamily="18" charset="0"/>
            </a:endParaRPr>
          </a:p>
          <a:p>
            <a:pPr>
              <a:tabLst>
                <a:tab pos="177800" algn="l"/>
                <a:tab pos="1028700" algn="l"/>
                <a:tab pos="3467100" algn="l"/>
              </a:tabLst>
            </a:pPr>
            <a:r>
              <a:rPr lang="en-US" altLang="zh-CN" sz="1400" dirty="0">
                <a:solidFill>
                  <a:srgbClr val="FFFFFF"/>
                </a:solidFill>
                <a:latin typeface="华文细黑" pitchFamily="18" charset="0"/>
                <a:cs typeface="华文细黑" pitchFamily="18" charset="0"/>
              </a:rPr>
              <a:t> </a:t>
            </a:r>
            <a:r>
              <a:rPr lang="en-US" altLang="zh-CN" sz="1400" dirty="0" smtClean="0">
                <a:solidFill>
                  <a:srgbClr val="FFFFFF"/>
                </a:solidFill>
                <a:latin typeface="华文细黑" pitchFamily="18" charset="0"/>
                <a:cs typeface="华文细黑" pitchFamily="18" charset="0"/>
              </a:rPr>
              <a:t>   Retention</a:t>
            </a:r>
            <a:r>
              <a:rPr lang="en-US" altLang="zh-CN" sz="1400" dirty="0" smtClean="0">
                <a:solidFill>
                  <a:srgbClr val="FFFFFF"/>
                </a:solidFill>
                <a:latin typeface="+mn-ea"/>
                <a:cs typeface="华文细黑" pitchFamily="18" charset="0"/>
              </a:rPr>
              <a:t> </a:t>
            </a:r>
            <a:r>
              <a:rPr lang="zh-CN" altLang="en-US" sz="1400" dirty="0" smtClean="0">
                <a:solidFill>
                  <a:srgbClr val="FFFFFF"/>
                </a:solidFill>
                <a:latin typeface="+mn-ea"/>
                <a:cs typeface="华文细黑" pitchFamily="18" charset="0"/>
              </a:rPr>
              <a:t>、服务挽留、忠诚度计划、交叉销售、重复购</a:t>
            </a:r>
            <a:endParaRPr lang="en-US" altLang="zh-CN" sz="1400" dirty="0" smtClean="0">
              <a:solidFill>
                <a:srgbClr val="FFFFFF"/>
              </a:solidFill>
              <a:latin typeface="+mn-ea"/>
              <a:cs typeface="华文细黑" pitchFamily="18" charset="0"/>
            </a:endParaRPr>
          </a:p>
          <a:p>
            <a:pPr>
              <a:tabLst>
                <a:tab pos="177800" algn="l"/>
                <a:tab pos="1028700" algn="l"/>
                <a:tab pos="3467100" algn="l"/>
              </a:tabLst>
            </a:pPr>
            <a:r>
              <a:rPr lang="en-US" altLang="zh-CN" sz="1400" dirty="0">
                <a:solidFill>
                  <a:srgbClr val="FFFFFF"/>
                </a:solidFill>
                <a:latin typeface="+mn-ea"/>
                <a:cs typeface="华文细黑" pitchFamily="18" charset="0"/>
              </a:rPr>
              <a:t> </a:t>
            </a:r>
            <a:r>
              <a:rPr lang="en-US" altLang="zh-CN" sz="1400" dirty="0" smtClean="0">
                <a:solidFill>
                  <a:srgbClr val="FFFFFF"/>
                </a:solidFill>
                <a:latin typeface="+mn-ea"/>
                <a:cs typeface="华文细黑" pitchFamily="18" charset="0"/>
              </a:rPr>
              <a:t>  </a:t>
            </a:r>
            <a:r>
              <a:rPr lang="zh-CN" altLang="en-US" sz="1400" dirty="0" smtClean="0">
                <a:solidFill>
                  <a:srgbClr val="FFFFFF"/>
                </a:solidFill>
                <a:latin typeface="+mn-ea"/>
                <a:cs typeface="华文细黑" pitchFamily="18" charset="0"/>
              </a:rPr>
              <a:t>买以及</a:t>
            </a:r>
            <a:r>
              <a:rPr lang="zh-CN" altLang="en-US" sz="1400" dirty="0">
                <a:solidFill>
                  <a:srgbClr val="FFFFFF"/>
                </a:solidFill>
                <a:latin typeface="+mn-ea"/>
                <a:cs typeface="华文细黑" pitchFamily="18" charset="0"/>
              </a:rPr>
              <a:t>合作</a:t>
            </a:r>
            <a:r>
              <a:rPr lang="zh-CN" altLang="en-US" sz="1400" dirty="0" smtClean="0">
                <a:solidFill>
                  <a:srgbClr val="FFFFFF"/>
                </a:solidFill>
                <a:latin typeface="+mn-ea"/>
                <a:cs typeface="华文细黑" pitchFamily="18" charset="0"/>
              </a:rPr>
              <a:t>伙伴</a:t>
            </a:r>
            <a:endParaRPr lang="zh-CN" altLang="zh-CN" sz="1400" dirty="0">
              <a:solidFill>
                <a:srgbClr val="FFFFFF"/>
              </a:solidFill>
              <a:latin typeface="+mn-ea"/>
              <a:cs typeface="华文细黑" pitchFamily="18" charset="0"/>
            </a:endParaRPr>
          </a:p>
        </p:txBody>
      </p:sp>
      <p:sp>
        <p:nvSpPr>
          <p:cNvPr id="49" name="TextBox 48"/>
          <p:cNvSpPr txBox="1"/>
          <p:nvPr/>
        </p:nvSpPr>
        <p:spPr>
          <a:xfrm>
            <a:off x="493184" y="4183158"/>
            <a:ext cx="1634124" cy="369332"/>
          </a:xfrm>
          <a:prstGeom prst="rect">
            <a:avLst/>
          </a:prstGeom>
          <a:noFill/>
        </p:spPr>
        <p:txBody>
          <a:bodyPr wrap="square" rtlCol="0">
            <a:spAutoFit/>
          </a:bodyPr>
          <a:lstStyle/>
          <a:p>
            <a:r>
              <a:rPr lang="zh-CN" altLang="en-US" b="1" dirty="0" smtClean="0">
                <a:solidFill>
                  <a:schemeClr val="accent1">
                    <a:lumMod val="60000"/>
                    <a:lumOff val="40000"/>
                  </a:schemeClr>
                </a:solidFill>
              </a:rPr>
              <a:t>数据输入</a:t>
            </a:r>
            <a:endParaRPr lang="zh-CN" altLang="en-US" b="1" dirty="0">
              <a:solidFill>
                <a:schemeClr val="accent1">
                  <a:lumMod val="60000"/>
                  <a:lumOff val="40000"/>
                </a:schemeClr>
              </a:solidFill>
            </a:endParaRPr>
          </a:p>
        </p:txBody>
      </p:sp>
      <p:sp>
        <p:nvSpPr>
          <p:cNvPr id="50" name="TextBox 49"/>
          <p:cNvSpPr txBox="1"/>
          <p:nvPr/>
        </p:nvSpPr>
        <p:spPr>
          <a:xfrm>
            <a:off x="2428432" y="4154983"/>
            <a:ext cx="2088232" cy="369332"/>
          </a:xfrm>
          <a:prstGeom prst="rect">
            <a:avLst/>
          </a:prstGeom>
          <a:noFill/>
        </p:spPr>
        <p:txBody>
          <a:bodyPr wrap="square" rtlCol="0">
            <a:spAutoFit/>
          </a:bodyPr>
          <a:lstStyle/>
          <a:p>
            <a:r>
              <a:rPr lang="zh-CN" altLang="en-US" b="1" dirty="0">
                <a:solidFill>
                  <a:schemeClr val="accent1">
                    <a:lumMod val="60000"/>
                    <a:lumOff val="40000"/>
                  </a:schemeClr>
                </a:solidFill>
              </a:rPr>
              <a:t>数据处理</a:t>
            </a:r>
          </a:p>
        </p:txBody>
      </p:sp>
      <p:sp>
        <p:nvSpPr>
          <p:cNvPr id="51" name="TextBox 50"/>
          <p:cNvSpPr txBox="1"/>
          <p:nvPr/>
        </p:nvSpPr>
        <p:spPr>
          <a:xfrm>
            <a:off x="6065022" y="4143511"/>
            <a:ext cx="1667564" cy="369332"/>
          </a:xfrm>
          <a:prstGeom prst="rect">
            <a:avLst/>
          </a:prstGeom>
          <a:noFill/>
        </p:spPr>
        <p:txBody>
          <a:bodyPr wrap="square" rtlCol="0">
            <a:spAutoFit/>
          </a:bodyPr>
          <a:lstStyle/>
          <a:p>
            <a:r>
              <a:rPr lang="zh-CN" altLang="en-US" b="1" dirty="0">
                <a:solidFill>
                  <a:schemeClr val="accent1">
                    <a:lumMod val="60000"/>
                    <a:lumOff val="40000"/>
                  </a:schemeClr>
                </a:solidFill>
              </a:rPr>
              <a:t>数据应用</a:t>
            </a:r>
          </a:p>
        </p:txBody>
      </p:sp>
      <p:sp>
        <p:nvSpPr>
          <p:cNvPr id="52" name="右箭头 51"/>
          <p:cNvSpPr/>
          <p:nvPr/>
        </p:nvSpPr>
        <p:spPr>
          <a:xfrm flipV="1">
            <a:off x="1619672" y="4282458"/>
            <a:ext cx="648072" cy="45719"/>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右箭头 52"/>
          <p:cNvSpPr/>
          <p:nvPr/>
        </p:nvSpPr>
        <p:spPr>
          <a:xfrm>
            <a:off x="3838840" y="4298809"/>
            <a:ext cx="1960888" cy="4601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15236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7760" y="0"/>
            <a:ext cx="8287643" cy="908720"/>
          </a:xfrm>
        </p:spPr>
        <p:txBody>
          <a:bodyPr/>
          <a:lstStyle/>
          <a:p>
            <a:r>
              <a:rPr lang="zh-CN" altLang="en-US" sz="2000" dirty="0"/>
              <a:t>聚芳永官</a:t>
            </a:r>
            <a:r>
              <a:rPr lang="zh-CN" altLang="en-US" sz="2000" dirty="0" smtClean="0"/>
              <a:t>网三期在线购物</a:t>
            </a:r>
            <a:r>
              <a:rPr lang="en-US" altLang="zh-CN" sz="2000" dirty="0" smtClean="0"/>
              <a:t>——</a:t>
            </a:r>
            <a:r>
              <a:rPr lang="zh-CN" altLang="en-US" sz="2000" b="1" dirty="0" smtClean="0">
                <a:effectLst>
                  <a:outerShdw blurRad="38100" dist="38100" dir="2700000" algn="tl">
                    <a:srgbClr val="000000">
                      <a:alpha val="43137"/>
                    </a:srgbClr>
                  </a:outerShdw>
                </a:effectLst>
                <a:latin typeface="+mj-ea"/>
              </a:rPr>
              <a:t>建议从</a:t>
            </a:r>
            <a:r>
              <a:rPr lang="en-US" altLang="zh-CN" sz="2000" b="1" dirty="0" smtClean="0">
                <a:effectLst>
                  <a:outerShdw blurRad="38100" dist="38100" dir="2700000" algn="tl">
                    <a:srgbClr val="000000">
                      <a:alpha val="43137"/>
                    </a:srgbClr>
                  </a:outerShdw>
                </a:effectLst>
                <a:latin typeface="+mj-ea"/>
              </a:rPr>
              <a:t>xTao</a:t>
            </a:r>
            <a:r>
              <a:rPr lang="zh-CN" altLang="en-US" sz="2000" b="1" dirty="0" smtClean="0">
                <a:effectLst>
                  <a:outerShdw blurRad="38100" dist="38100" dir="2700000" algn="tl">
                    <a:srgbClr val="000000">
                      <a:alpha val="43137"/>
                    </a:srgbClr>
                  </a:outerShdw>
                </a:effectLst>
                <a:latin typeface="+mj-ea"/>
              </a:rPr>
              <a:t>入手，先建立官网在线购买体系，再逐步构建移动</a:t>
            </a:r>
            <a:r>
              <a:rPr lang="en-US" altLang="zh-CN" sz="2000" b="1" dirty="0" smtClean="0">
                <a:effectLst>
                  <a:outerShdw blurRad="38100" dist="38100" dir="2700000" algn="tl">
                    <a:srgbClr val="000000">
                      <a:alpha val="43137"/>
                    </a:srgbClr>
                  </a:outerShdw>
                </a:effectLst>
                <a:latin typeface="+mj-ea"/>
              </a:rPr>
              <a:t>APP</a:t>
            </a:r>
            <a:r>
              <a:rPr lang="zh-CN" altLang="en-US" sz="2000" b="1" dirty="0" smtClean="0">
                <a:effectLst>
                  <a:outerShdw blurRad="38100" dist="38100" dir="2700000" algn="tl">
                    <a:srgbClr val="000000">
                      <a:alpha val="43137"/>
                    </a:srgbClr>
                  </a:outerShdw>
                </a:effectLst>
                <a:latin typeface="+mj-ea"/>
              </a:rPr>
              <a:t>，进一步凝聚用户，塑造品牌</a:t>
            </a:r>
            <a:endParaRPr lang="zh-CN" altLang="en-US" sz="2000" b="1" dirty="0">
              <a:effectLst>
                <a:outerShdw blurRad="38100" dist="38100" dir="2700000" algn="tl">
                  <a:srgbClr val="000000">
                    <a:alpha val="43137"/>
                  </a:srgbClr>
                </a:outerShdw>
              </a:effectLst>
              <a:latin typeface="+mj-ea"/>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908720"/>
            <a:ext cx="8134350" cy="608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840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noChangeArrowheads="1"/>
          </p:cNvSpPr>
          <p:nvPr/>
        </p:nvSpPr>
        <p:spPr bwMode="auto">
          <a:xfrm>
            <a:off x="785786" y="3467925"/>
            <a:ext cx="6072230" cy="592142"/>
          </a:xfrm>
          <a:prstGeom prst="roundRect">
            <a:avLst>
              <a:gd name="adj" fmla="val 16667"/>
            </a:avLst>
          </a:prstGeom>
          <a:solidFill>
            <a:schemeClr val="accent1">
              <a:lumMod val="20000"/>
              <a:lumOff val="80000"/>
            </a:schemeClr>
          </a:solidFill>
          <a:ln w="9525" algn="ctr">
            <a:solidFill>
              <a:schemeClr val="accent1"/>
            </a:solidFill>
            <a:round/>
            <a:headEnd/>
            <a:tailEnd/>
          </a:ln>
          <a:effectLst>
            <a:outerShdw blurRad="50800" dist="38100" dir="2700000" algn="tl" rotWithShape="0">
              <a:prstClr val="black">
                <a:alpha val="40000"/>
              </a:prstClr>
            </a:outerShdw>
          </a:effectLst>
        </p:spPr>
        <p:txBody>
          <a:bodyPr wrap="none"/>
          <a:lstStyle/>
          <a:p>
            <a:pPr algn="ctr">
              <a:spcBef>
                <a:spcPct val="50000"/>
              </a:spcBef>
            </a:pPr>
            <a:endParaRPr lang="en-US" altLang="zh-CN">
              <a:solidFill>
                <a:srgbClr val="3C3C3C"/>
              </a:solidFill>
            </a:endParaRPr>
          </a:p>
        </p:txBody>
      </p:sp>
      <p:sp>
        <p:nvSpPr>
          <p:cNvPr id="212994" name="Rectangle 2"/>
          <p:cNvSpPr>
            <a:spLocks noGrp="1" noChangeArrowheads="1"/>
          </p:cNvSpPr>
          <p:nvPr>
            <p:ph type="title"/>
          </p:nvPr>
        </p:nvSpPr>
        <p:spPr>
          <a:xfrm>
            <a:off x="902958" y="260648"/>
            <a:ext cx="7086600" cy="487363"/>
          </a:xfrm>
        </p:spPr>
        <p:txBody>
          <a:bodyPr/>
          <a:lstStyle/>
          <a:p>
            <a:pPr>
              <a:defRPr/>
            </a:pPr>
            <a:r>
              <a:rPr lang="zh-CN" altLang="en-US" sz="2800" b="1" dirty="0" smtClean="0">
                <a:latin typeface="+mj-ea"/>
              </a:rPr>
              <a:t>目录</a:t>
            </a:r>
            <a:endParaRPr lang="en-US" altLang="zh-CN" sz="2800" b="1" dirty="0">
              <a:latin typeface="+mj-ea"/>
            </a:endParaRPr>
          </a:p>
        </p:txBody>
      </p:sp>
      <p:sp>
        <p:nvSpPr>
          <p:cNvPr id="212995" name="Rectangle 3"/>
          <p:cNvSpPr>
            <a:spLocks noGrp="1" noChangeArrowheads="1"/>
          </p:cNvSpPr>
          <p:nvPr>
            <p:ph type="body" idx="1"/>
          </p:nvPr>
        </p:nvSpPr>
        <p:spPr bwMode="gray">
          <a:xfrm>
            <a:off x="971600" y="1214422"/>
            <a:ext cx="6643734" cy="5072098"/>
          </a:xfrm>
          <a:noFill/>
        </p:spPr>
        <p:txBody>
          <a:bodyPr/>
          <a:lstStyle/>
          <a:p>
            <a:pPr>
              <a:lnSpc>
                <a:spcPct val="150000"/>
              </a:lnSpc>
            </a:pPr>
            <a:r>
              <a:rPr lang="zh-CN" altLang="en-US" b="1" dirty="0"/>
              <a:t>聚芳永官网项目</a:t>
            </a:r>
            <a:r>
              <a:rPr lang="zh-CN" altLang="en-US" b="1" dirty="0" smtClean="0"/>
              <a:t>背景理解</a:t>
            </a:r>
            <a:endParaRPr lang="en-US" altLang="zh-CN" b="1" dirty="0" smtClean="0"/>
          </a:p>
          <a:p>
            <a:pPr>
              <a:lnSpc>
                <a:spcPct val="150000"/>
              </a:lnSpc>
            </a:pPr>
            <a:r>
              <a:rPr lang="zh-CN" altLang="en-US" b="1" dirty="0"/>
              <a:t>聚芳永官网</a:t>
            </a:r>
            <a:r>
              <a:rPr lang="zh-CN" altLang="en-US" b="1" dirty="0" smtClean="0">
                <a:ea typeface="宋体" pitchFamily="2" charset="-122"/>
              </a:rPr>
              <a:t>项目</a:t>
            </a:r>
            <a:r>
              <a:rPr lang="zh-CN" altLang="en-US" b="1" dirty="0" smtClean="0">
                <a:ea typeface="宋体" pitchFamily="2" charset="-122"/>
              </a:rPr>
              <a:t>实施建议</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为什么选择乐其</a:t>
            </a:r>
            <a:endParaRPr lang="en-US" altLang="zh-CN" b="1" dirty="0" smtClean="0">
              <a:ea typeface="宋体" pitchFamily="2" charset="-122"/>
            </a:endParaRPr>
          </a:p>
          <a:p>
            <a:pPr lvl="1">
              <a:lnSpc>
                <a:spcPct val="150000"/>
              </a:lnSpc>
            </a:pPr>
            <a:r>
              <a:rPr lang="zh-CN" altLang="en-US" b="1" dirty="0" smtClean="0">
                <a:ea typeface="宋体" pitchFamily="2" charset="-122"/>
              </a:rPr>
              <a:t>乐其公司简介</a:t>
            </a:r>
            <a:endParaRPr lang="en-US" altLang="zh-CN" b="1" dirty="0" smtClean="0">
              <a:ea typeface="宋体" pitchFamily="2" charset="-122"/>
            </a:endParaRPr>
          </a:p>
          <a:p>
            <a:pPr lvl="1">
              <a:lnSpc>
                <a:spcPct val="150000"/>
              </a:lnSpc>
            </a:pPr>
            <a:r>
              <a:rPr lang="zh-CN" altLang="en-US" b="1" dirty="0" smtClean="0">
                <a:ea typeface="宋体" pitchFamily="2" charset="-122"/>
              </a:rPr>
              <a:t>乐其的</a:t>
            </a:r>
            <a:r>
              <a:rPr lang="zh-CN" altLang="en-US" b="1" dirty="0" smtClean="0">
                <a:ea typeface="宋体" pitchFamily="2" charset="-122"/>
              </a:rPr>
              <a:t>优势</a:t>
            </a:r>
            <a:endParaRPr lang="en-US" altLang="zh-CN" b="1" dirty="0">
              <a:ea typeface="宋体" pitchFamily="2" charset="-122"/>
            </a:endParaRPr>
          </a:p>
          <a:p>
            <a:pPr>
              <a:lnSpc>
                <a:spcPct val="150000"/>
              </a:lnSpc>
            </a:pPr>
            <a:r>
              <a:rPr lang="en-US" altLang="zh-CN" b="1" dirty="0">
                <a:ea typeface="宋体" pitchFamily="2" charset="-122"/>
              </a:rPr>
              <a:t> </a:t>
            </a:r>
            <a:r>
              <a:rPr lang="zh-CN" altLang="en-US" b="1" dirty="0" smtClean="0">
                <a:ea typeface="宋体" pitchFamily="2" charset="-122"/>
              </a:rPr>
              <a:t>项目报价</a:t>
            </a:r>
            <a:endParaRPr lang="en-US" altLang="zh-CN" dirty="0" smtClean="0">
              <a:ea typeface="宋体" pitchFamily="2" charset="-122"/>
            </a:endParaRPr>
          </a:p>
        </p:txBody>
      </p:sp>
      <p:sp>
        <p:nvSpPr>
          <p:cNvPr id="6" name="Slide Number Placeholder 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21</a:t>
            </a:fld>
            <a:endParaRPr lang="en-US" altLang="zh-CN" dirty="0">
              <a:solidFill>
                <a:srgbClr val="333333"/>
              </a:solidFill>
            </a:endParaRPr>
          </a:p>
        </p:txBody>
      </p:sp>
    </p:spTree>
    <p:extLst>
      <p:ext uri="{BB962C8B-B14F-4D97-AF65-F5344CB8AC3E}">
        <p14:creationId xmlns:p14="http://schemas.microsoft.com/office/powerpoint/2010/main" val="27265755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571612"/>
            <a:ext cx="7786712" cy="4533912"/>
          </a:xfrm>
        </p:spPr>
        <p:txBody>
          <a:bodyPr/>
          <a:lstStyle/>
          <a:p>
            <a:pPr marL="533400" indent="-533400">
              <a:spcBef>
                <a:spcPts val="1800"/>
              </a:spcBef>
            </a:pPr>
            <a:r>
              <a:rPr lang="zh-CN" altLang="en-US" sz="2400" dirty="0" smtClean="0"/>
              <a:t>乐其成立于</a:t>
            </a:r>
            <a:r>
              <a:rPr lang="en-US" altLang="zh-CN" sz="2400" dirty="0" smtClean="0"/>
              <a:t>2007</a:t>
            </a:r>
            <a:r>
              <a:rPr lang="zh-CN" altLang="en-US" sz="2400" dirty="0" smtClean="0"/>
              <a:t>年，其前身为欧酷网，专注于生活消费类电子商品领域，并在手机电子商务市场上取得前三的市场地位</a:t>
            </a:r>
            <a:endParaRPr lang="en-US" altLang="zh-CN" sz="2400" dirty="0" smtClean="0"/>
          </a:p>
          <a:p>
            <a:pPr marL="533400" indent="-533400">
              <a:spcBef>
                <a:spcPts val="1800"/>
              </a:spcBef>
            </a:pPr>
            <a:r>
              <a:rPr lang="en-US" altLang="zh-CN" sz="2400" dirty="0" smtClean="0"/>
              <a:t>2009</a:t>
            </a:r>
            <a:r>
              <a:rPr lang="zh-CN" altLang="en-US" sz="2400" dirty="0" smtClean="0"/>
              <a:t>年乐其由欧酷的基础运营（客服、物流、技术、运营）部分独立出来，主要的业务范围为各类传统品牌的电子商务运营服务，目前主要集中在母婴及食品领域，并在母婴电子商务运营服务市场上长期处于第一的领先位置</a:t>
            </a:r>
            <a:endParaRPr lang="en-US" altLang="zh-CN" sz="2400" dirty="0" smtClean="0"/>
          </a:p>
          <a:p>
            <a:pPr marL="533400" indent="-533400">
              <a:spcBef>
                <a:spcPts val="1800"/>
              </a:spcBef>
            </a:pPr>
            <a:r>
              <a:rPr lang="zh-CN" altLang="en-US" sz="2400" dirty="0" smtClean="0"/>
              <a:t>目前乐其拥有超过</a:t>
            </a:r>
            <a:r>
              <a:rPr lang="en-US" altLang="zh-CN" sz="2400" dirty="0" smtClean="0"/>
              <a:t>300</a:t>
            </a:r>
            <a:r>
              <a:rPr lang="zh-CN" altLang="en-US" sz="2400" dirty="0" smtClean="0"/>
              <a:t>人的运营团队，业务规模超过</a:t>
            </a:r>
            <a:r>
              <a:rPr lang="en-US" altLang="zh-CN" sz="2400" dirty="0"/>
              <a:t>2</a:t>
            </a:r>
            <a:r>
              <a:rPr lang="en-US" altLang="zh-CN" sz="2400" dirty="0" smtClean="0"/>
              <a:t>.5</a:t>
            </a:r>
            <a:r>
              <a:rPr lang="zh-CN" altLang="en-US" sz="2400" dirty="0" smtClean="0"/>
              <a:t>亿，并与</a:t>
            </a:r>
            <a:r>
              <a:rPr lang="en-US" altLang="zh-CN" sz="2400" dirty="0" smtClean="0"/>
              <a:t>28</a:t>
            </a:r>
            <a:r>
              <a:rPr lang="zh-CN" altLang="en-US" sz="2400" dirty="0" smtClean="0"/>
              <a:t>个知名品牌保持着电子商务运营服务的合作关系</a:t>
            </a:r>
            <a:endParaRPr lang="en-US" altLang="zh-CN" sz="2400" dirty="0" smtClean="0"/>
          </a:p>
        </p:txBody>
      </p:sp>
      <p:sp>
        <p:nvSpPr>
          <p:cNvPr id="4" name="Slide Number Placeholder 3"/>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22</a:t>
            </a:fld>
            <a:endParaRPr lang="en-US" altLang="zh-CN" dirty="0">
              <a:solidFill>
                <a:srgbClr val="333333"/>
              </a:solidFill>
            </a:endParaRPr>
          </a:p>
        </p:txBody>
      </p:sp>
      <p:sp>
        <p:nvSpPr>
          <p:cNvPr id="5" name="Title 4"/>
          <p:cNvSpPr>
            <a:spLocks noGrp="1"/>
          </p:cNvSpPr>
          <p:nvPr>
            <p:ph type="title"/>
          </p:nvPr>
        </p:nvSpPr>
        <p:spPr/>
        <p:txBody>
          <a:bodyPr/>
          <a:lstStyle/>
          <a:p>
            <a:r>
              <a:rPr lang="zh-CN" altLang="en-US" dirty="0" smtClean="0"/>
              <a:t>乐其公司背景简介</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0"/>
          <p:cNvGrpSpPr/>
          <p:nvPr/>
        </p:nvGrpSpPr>
        <p:grpSpPr>
          <a:xfrm>
            <a:off x="357158" y="1184162"/>
            <a:ext cx="8501122" cy="4530853"/>
            <a:chOff x="395536" y="2727107"/>
            <a:chExt cx="8262024" cy="4086269"/>
          </a:xfrm>
        </p:grpSpPr>
        <p:grpSp>
          <p:nvGrpSpPr>
            <p:cNvPr id="4" name="组合 32"/>
            <p:cNvGrpSpPr/>
            <p:nvPr/>
          </p:nvGrpSpPr>
          <p:grpSpPr>
            <a:xfrm>
              <a:off x="395536" y="2727107"/>
              <a:ext cx="8262024" cy="4086269"/>
              <a:chOff x="323528" y="2042921"/>
              <a:chExt cx="8424936" cy="4463016"/>
            </a:xfrm>
          </p:grpSpPr>
          <p:sp>
            <p:nvSpPr>
              <p:cNvPr id="34" name="Rectangle 52"/>
              <p:cNvSpPr>
                <a:spLocks noChangeArrowheads="1"/>
              </p:cNvSpPr>
              <p:nvPr/>
            </p:nvSpPr>
            <p:spPr bwMode="auto">
              <a:xfrm>
                <a:off x="2000250" y="5214938"/>
                <a:ext cx="1736725" cy="246062"/>
              </a:xfrm>
              <a:prstGeom prst="rect">
                <a:avLst/>
              </a:prstGeom>
              <a:solidFill>
                <a:schemeClr val="bg1"/>
              </a:solidFill>
              <a:ln w="9525">
                <a:noFill/>
                <a:miter lim="800000"/>
                <a:headEnd/>
                <a:tailEnd/>
              </a:ln>
            </p:spPr>
            <p:txBody>
              <a:bodyPr>
                <a:spAutoFit/>
              </a:bodyPr>
              <a:lstStyle/>
              <a:p>
                <a:pPr algn="ctr"/>
                <a:r>
                  <a:rPr lang="en-US" altLang="zh-CN" sz="1000" b="1">
                    <a:solidFill>
                      <a:schemeClr val="accent1"/>
                    </a:solidFill>
                  </a:rPr>
                  <a:t>Blue-Chip Customers</a:t>
                </a:r>
              </a:p>
            </p:txBody>
          </p:sp>
          <p:sp>
            <p:nvSpPr>
              <p:cNvPr id="35" name="Rectangle 52"/>
              <p:cNvSpPr>
                <a:spLocks noChangeArrowheads="1"/>
              </p:cNvSpPr>
              <p:nvPr/>
            </p:nvSpPr>
            <p:spPr bwMode="auto">
              <a:xfrm>
                <a:off x="3492500" y="4746625"/>
                <a:ext cx="1736725" cy="338138"/>
              </a:xfrm>
              <a:prstGeom prst="rect">
                <a:avLst/>
              </a:prstGeom>
              <a:solidFill>
                <a:schemeClr val="bg1"/>
              </a:solidFill>
              <a:ln w="9525">
                <a:noFill/>
                <a:miter lim="800000"/>
                <a:headEnd/>
                <a:tailEnd/>
              </a:ln>
            </p:spPr>
            <p:txBody>
              <a:bodyPr>
                <a:spAutoFit/>
              </a:bodyPr>
              <a:lstStyle/>
              <a:p>
                <a:pPr algn="ctr"/>
                <a:r>
                  <a:rPr lang="zh-CN" altLang="en-US" sz="1600" b="1" dirty="0">
                    <a:solidFill>
                      <a:schemeClr val="accent1"/>
                    </a:solidFill>
                  </a:rPr>
                  <a:t>主要客户</a:t>
                </a:r>
                <a:endParaRPr lang="en-US" altLang="zh-CN" sz="1600" b="1" dirty="0">
                  <a:solidFill>
                    <a:schemeClr val="accent1"/>
                  </a:solidFill>
                </a:endParaRPr>
              </a:p>
            </p:txBody>
          </p:sp>
          <p:pic>
            <p:nvPicPr>
              <p:cNvPr id="36" name="Picture 6"/>
              <p:cNvPicPr>
                <a:picLocks noChangeAspect="1" noChangeArrowheads="1"/>
              </p:cNvPicPr>
              <p:nvPr/>
            </p:nvPicPr>
            <p:blipFill>
              <a:blip r:embed="rId3" cstate="print"/>
              <a:srcRect/>
              <a:stretch>
                <a:fillRect/>
              </a:stretch>
            </p:blipFill>
            <p:spPr bwMode="auto">
              <a:xfrm>
                <a:off x="2090738" y="5084763"/>
                <a:ext cx="936625" cy="512762"/>
              </a:xfrm>
              <a:prstGeom prst="rect">
                <a:avLst/>
              </a:prstGeom>
              <a:noFill/>
              <a:ln w="9525">
                <a:noFill/>
                <a:miter lim="800000"/>
                <a:headEnd/>
                <a:tailEnd/>
              </a:ln>
            </p:spPr>
          </p:pic>
          <p:pic>
            <p:nvPicPr>
              <p:cNvPr id="37" name="图片 41" descr="Karicare logo 400x200.jpg"/>
              <p:cNvPicPr>
                <a:picLocks noChangeAspect="1"/>
              </p:cNvPicPr>
              <p:nvPr/>
            </p:nvPicPr>
            <p:blipFill>
              <a:blip r:embed="rId4" cstate="print"/>
              <a:srcRect/>
              <a:stretch>
                <a:fillRect/>
              </a:stretch>
            </p:blipFill>
            <p:spPr bwMode="auto">
              <a:xfrm>
                <a:off x="3227388" y="5049838"/>
                <a:ext cx="1081087" cy="539750"/>
              </a:xfrm>
              <a:prstGeom prst="rect">
                <a:avLst/>
              </a:prstGeom>
              <a:noFill/>
              <a:ln w="9525">
                <a:noFill/>
                <a:miter lim="800000"/>
                <a:headEnd/>
                <a:tailEnd/>
              </a:ln>
            </p:spPr>
          </p:pic>
          <p:pic>
            <p:nvPicPr>
              <p:cNvPr id="38" name="Picture 2"/>
              <p:cNvPicPr>
                <a:picLocks noChangeAspect="1" noChangeArrowheads="1"/>
              </p:cNvPicPr>
              <p:nvPr/>
            </p:nvPicPr>
            <p:blipFill>
              <a:blip r:embed="rId5" cstate="print"/>
              <a:srcRect/>
              <a:stretch>
                <a:fillRect/>
              </a:stretch>
            </p:blipFill>
            <p:spPr bwMode="auto">
              <a:xfrm>
                <a:off x="823913" y="5084763"/>
                <a:ext cx="939800" cy="457200"/>
              </a:xfrm>
              <a:prstGeom prst="rect">
                <a:avLst/>
              </a:prstGeom>
              <a:noFill/>
              <a:ln w="9525">
                <a:noFill/>
                <a:miter lim="800000"/>
                <a:headEnd/>
                <a:tailEnd/>
              </a:ln>
            </p:spPr>
          </p:pic>
          <p:pic>
            <p:nvPicPr>
              <p:cNvPr id="39" name="Picture 2"/>
              <p:cNvPicPr>
                <a:picLocks noChangeAspect="1" noChangeArrowheads="1"/>
              </p:cNvPicPr>
              <p:nvPr/>
            </p:nvPicPr>
            <p:blipFill>
              <a:blip r:embed="rId6" cstate="print"/>
              <a:srcRect/>
              <a:stretch>
                <a:fillRect/>
              </a:stretch>
            </p:blipFill>
            <p:spPr bwMode="auto">
              <a:xfrm>
                <a:off x="6216650" y="5080000"/>
                <a:ext cx="1150938" cy="466725"/>
              </a:xfrm>
              <a:prstGeom prst="rect">
                <a:avLst/>
              </a:prstGeom>
              <a:noFill/>
              <a:ln w="9525">
                <a:noFill/>
                <a:miter lim="800000"/>
                <a:headEnd/>
                <a:tailEnd/>
              </a:ln>
            </p:spPr>
          </p:pic>
          <p:pic>
            <p:nvPicPr>
              <p:cNvPr id="40" name="Picture 2"/>
              <p:cNvPicPr>
                <a:picLocks noChangeAspect="1" noChangeArrowheads="1"/>
              </p:cNvPicPr>
              <p:nvPr/>
            </p:nvPicPr>
            <p:blipFill>
              <a:blip r:embed="rId7" cstate="print"/>
              <a:srcRect/>
              <a:stretch>
                <a:fillRect/>
              </a:stretch>
            </p:blipFill>
            <p:spPr bwMode="auto">
              <a:xfrm>
                <a:off x="7500938" y="5085184"/>
                <a:ext cx="1000125" cy="436562"/>
              </a:xfrm>
              <a:prstGeom prst="rect">
                <a:avLst/>
              </a:prstGeom>
              <a:noFill/>
              <a:ln w="9525">
                <a:noFill/>
                <a:miter lim="800000"/>
                <a:headEnd/>
                <a:tailEnd/>
              </a:ln>
            </p:spPr>
          </p:pic>
          <p:pic>
            <p:nvPicPr>
              <p:cNvPr id="41" name="Picture 1" descr="D:\Program Files\Tencent\QQ\Users\282140074\Image\Image1\%MAL28FFAFI5J0`PK{}()GS.jpg"/>
              <p:cNvPicPr>
                <a:picLocks noChangeAspect="1" noChangeArrowheads="1"/>
              </p:cNvPicPr>
              <p:nvPr/>
            </p:nvPicPr>
            <p:blipFill>
              <a:blip r:embed="rId8" cstate="print"/>
              <a:srcRect/>
              <a:stretch>
                <a:fillRect/>
              </a:stretch>
            </p:blipFill>
            <p:spPr bwMode="auto">
              <a:xfrm>
                <a:off x="4502150" y="5141913"/>
                <a:ext cx="1512888" cy="449262"/>
              </a:xfrm>
              <a:prstGeom prst="rect">
                <a:avLst/>
              </a:prstGeom>
              <a:noFill/>
              <a:ln w="9525">
                <a:noFill/>
                <a:miter lim="800000"/>
                <a:headEnd/>
                <a:tailEnd/>
              </a:ln>
            </p:spPr>
          </p:pic>
          <p:grpSp>
            <p:nvGrpSpPr>
              <p:cNvPr id="5" name="组合 41"/>
              <p:cNvGrpSpPr/>
              <p:nvPr/>
            </p:nvGrpSpPr>
            <p:grpSpPr>
              <a:xfrm>
                <a:off x="323528" y="2042921"/>
                <a:ext cx="8424936" cy="4463016"/>
                <a:chOff x="467544" y="2956714"/>
                <a:chExt cx="8280920" cy="3959068"/>
              </a:xfrm>
            </p:grpSpPr>
            <p:sp>
              <p:nvSpPr>
                <p:cNvPr id="49" name="Rectangle 52"/>
                <p:cNvSpPr>
                  <a:spLocks noChangeArrowheads="1"/>
                </p:cNvSpPr>
                <p:nvPr/>
              </p:nvSpPr>
              <p:spPr bwMode="auto">
                <a:xfrm>
                  <a:off x="2000586" y="5214950"/>
                  <a:ext cx="1737074" cy="246221"/>
                </a:xfrm>
                <a:prstGeom prst="rect">
                  <a:avLst/>
                </a:prstGeom>
                <a:solidFill>
                  <a:schemeClr val="bg1"/>
                </a:solidFill>
                <a:ln w="9525">
                  <a:noFill/>
                  <a:miter lim="800000"/>
                  <a:headEnd/>
                  <a:tailEnd/>
                </a:ln>
              </p:spPr>
              <p:txBody>
                <a:bodyPr wrap="square">
                  <a:spAutoFit/>
                </a:bodyPr>
                <a:lstStyle/>
                <a:p>
                  <a:pPr algn="ctr"/>
                  <a:r>
                    <a:rPr lang="en-US" altLang="zh-CN" sz="1000" b="1" dirty="0">
                      <a:solidFill>
                        <a:schemeClr val="accent1"/>
                      </a:solidFill>
                    </a:rPr>
                    <a:t>Blue-Chip Customers</a:t>
                  </a:r>
                </a:p>
              </p:txBody>
            </p:sp>
            <p:sp>
              <p:nvSpPr>
                <p:cNvPr id="50" name="AutoShape 872"/>
                <p:cNvSpPr>
                  <a:spLocks noChangeArrowheads="1"/>
                </p:cNvSpPr>
                <p:nvPr/>
              </p:nvSpPr>
              <p:spPr bwMode="gray">
                <a:xfrm>
                  <a:off x="467544" y="3357691"/>
                  <a:ext cx="8280920" cy="3558091"/>
                </a:xfrm>
                <a:prstGeom prst="roundRect">
                  <a:avLst>
                    <a:gd name="adj" fmla="val 5083"/>
                  </a:avLst>
                </a:prstGeom>
                <a:ln>
                  <a:headEnd/>
                  <a:tailEnd/>
                </a:ln>
              </p:spPr>
              <p:style>
                <a:lnRef idx="2">
                  <a:schemeClr val="accent1"/>
                </a:lnRef>
                <a:fillRef idx="1">
                  <a:schemeClr val="lt1"/>
                </a:fillRef>
                <a:effectRef idx="0">
                  <a:schemeClr val="accent1"/>
                </a:effectRef>
                <a:fontRef idx="minor">
                  <a:schemeClr val="dk1"/>
                </a:fontRef>
              </p:style>
              <p:txBody>
                <a:bodyPr wrap="none" lIns="45720" rIns="45720" anchor="b"/>
                <a:lstStyle/>
                <a:p>
                  <a:pPr algn="r">
                    <a:defRPr/>
                  </a:pPr>
                  <a:endParaRPr lang="en-US" altLang="zh-CN" sz="900" b="1">
                    <a:solidFill>
                      <a:schemeClr val="accent1"/>
                    </a:solidFill>
                    <a:cs typeface="Arial" charset="0"/>
                  </a:endParaRPr>
                </a:p>
              </p:txBody>
            </p:sp>
            <p:sp>
              <p:nvSpPr>
                <p:cNvPr id="51" name="Rectangle 52"/>
                <p:cNvSpPr>
                  <a:spLocks noChangeArrowheads="1"/>
                </p:cNvSpPr>
                <p:nvPr/>
              </p:nvSpPr>
              <p:spPr bwMode="auto">
                <a:xfrm>
                  <a:off x="3668572" y="2956714"/>
                  <a:ext cx="1737074" cy="338554"/>
                </a:xfrm>
                <a:prstGeom prst="rect">
                  <a:avLst/>
                </a:prstGeom>
                <a:solidFill>
                  <a:schemeClr val="bg1"/>
                </a:solidFill>
                <a:ln w="9525">
                  <a:noFill/>
                  <a:miter lim="800000"/>
                  <a:headEnd/>
                  <a:tailEnd/>
                </a:ln>
              </p:spPr>
              <p:txBody>
                <a:bodyPr wrap="square">
                  <a:spAutoFit/>
                </a:bodyPr>
                <a:lstStyle/>
                <a:p>
                  <a:pPr algn="ctr"/>
                  <a:r>
                    <a:rPr lang="zh-CN" altLang="en-US" sz="1600" b="1" dirty="0" smtClean="0">
                      <a:solidFill>
                        <a:schemeClr val="accent1"/>
                      </a:solidFill>
                    </a:rPr>
                    <a:t>主要合作伙伴</a:t>
                  </a:r>
                  <a:endParaRPr lang="en-US" altLang="zh-CN" sz="1600" b="1" dirty="0">
                    <a:solidFill>
                      <a:schemeClr val="accent1"/>
                    </a:solidFill>
                  </a:endParaRPr>
                </a:p>
              </p:txBody>
            </p:sp>
            <p:pic>
              <p:nvPicPr>
                <p:cNvPr id="53" name="Picture 5"/>
                <p:cNvPicPr>
                  <a:picLocks noChangeAspect="1" noChangeArrowheads="1"/>
                </p:cNvPicPr>
                <p:nvPr/>
              </p:nvPicPr>
              <p:blipFill>
                <a:blip r:embed="rId9" cstate="print"/>
                <a:srcRect/>
                <a:stretch>
                  <a:fillRect/>
                </a:stretch>
              </p:blipFill>
              <p:spPr bwMode="auto">
                <a:xfrm>
                  <a:off x="2011779" y="5520452"/>
                  <a:ext cx="1053982" cy="328595"/>
                </a:xfrm>
                <a:prstGeom prst="rect">
                  <a:avLst/>
                </a:prstGeom>
                <a:noFill/>
                <a:ln w="9525">
                  <a:noFill/>
                  <a:miter lim="800000"/>
                  <a:headEnd/>
                  <a:tailEnd/>
                </a:ln>
                <a:effectLst/>
              </p:spPr>
            </p:pic>
            <p:pic>
              <p:nvPicPr>
                <p:cNvPr id="54" name="Picture 6"/>
                <p:cNvPicPr>
                  <a:picLocks noChangeAspect="1" noChangeArrowheads="1"/>
                </p:cNvPicPr>
                <p:nvPr/>
              </p:nvPicPr>
              <p:blipFill>
                <a:blip r:embed="rId3" cstate="print"/>
                <a:srcRect/>
                <a:stretch>
                  <a:fillRect/>
                </a:stretch>
              </p:blipFill>
              <p:spPr bwMode="auto">
                <a:xfrm>
                  <a:off x="2033453" y="3776290"/>
                  <a:ext cx="1061656" cy="580736"/>
                </a:xfrm>
                <a:prstGeom prst="rect">
                  <a:avLst/>
                </a:prstGeom>
                <a:noFill/>
                <a:ln w="9525">
                  <a:noFill/>
                  <a:miter lim="800000"/>
                  <a:headEnd/>
                  <a:tailEnd/>
                </a:ln>
                <a:effectLst/>
              </p:spPr>
            </p:pic>
            <p:pic>
              <p:nvPicPr>
                <p:cNvPr id="56" name="Picture 4"/>
                <p:cNvPicPr>
                  <a:picLocks noChangeAspect="1" noChangeArrowheads="1"/>
                </p:cNvPicPr>
                <p:nvPr/>
              </p:nvPicPr>
              <p:blipFill>
                <a:blip r:embed="rId10" cstate="print"/>
                <a:srcRect/>
                <a:stretch>
                  <a:fillRect/>
                </a:stretch>
              </p:blipFill>
              <p:spPr bwMode="auto">
                <a:xfrm>
                  <a:off x="4581387" y="5452872"/>
                  <a:ext cx="1440160" cy="346647"/>
                </a:xfrm>
                <a:prstGeom prst="rect">
                  <a:avLst/>
                </a:prstGeom>
                <a:noFill/>
                <a:ln w="9525">
                  <a:noFill/>
                  <a:miter lim="800000"/>
                  <a:headEnd/>
                  <a:tailEnd/>
                </a:ln>
                <a:effectLst/>
              </p:spPr>
            </p:pic>
            <p:pic>
              <p:nvPicPr>
                <p:cNvPr id="58" name="图片 57" descr="Karicare logo 400x200.jpg"/>
                <p:cNvPicPr>
                  <a:picLocks noChangeAspect="1"/>
                </p:cNvPicPr>
                <p:nvPr/>
              </p:nvPicPr>
              <p:blipFill>
                <a:blip r:embed="rId4" cstate="print"/>
                <a:stretch>
                  <a:fillRect/>
                </a:stretch>
              </p:blipFill>
              <p:spPr>
                <a:xfrm>
                  <a:off x="3212577" y="3794363"/>
                  <a:ext cx="1080120" cy="540060"/>
                </a:xfrm>
                <a:prstGeom prst="rect">
                  <a:avLst/>
                </a:prstGeom>
              </p:spPr>
            </p:pic>
            <p:pic>
              <p:nvPicPr>
                <p:cNvPr id="62" name="Picture 6"/>
                <p:cNvPicPr>
                  <a:picLocks noChangeAspect="1" noChangeArrowheads="1"/>
                </p:cNvPicPr>
                <p:nvPr/>
              </p:nvPicPr>
              <p:blipFill>
                <a:blip r:embed="rId11" cstate="print"/>
                <a:srcRect/>
                <a:stretch>
                  <a:fillRect/>
                </a:stretch>
              </p:blipFill>
              <p:spPr bwMode="auto">
                <a:xfrm>
                  <a:off x="1951367" y="6218117"/>
                  <a:ext cx="1395330" cy="279066"/>
                </a:xfrm>
                <a:prstGeom prst="rect">
                  <a:avLst/>
                </a:prstGeom>
                <a:noFill/>
                <a:ln w="9525">
                  <a:noFill/>
                  <a:miter lim="800000"/>
                  <a:headEnd/>
                  <a:tailEnd/>
                </a:ln>
              </p:spPr>
            </p:pic>
            <p:pic>
              <p:nvPicPr>
                <p:cNvPr id="63" name="Picture 3"/>
                <p:cNvPicPr>
                  <a:picLocks noChangeAspect="1" noChangeArrowheads="1"/>
                </p:cNvPicPr>
                <p:nvPr/>
              </p:nvPicPr>
              <p:blipFill>
                <a:blip r:embed="rId12" cstate="print"/>
                <a:srcRect/>
                <a:stretch>
                  <a:fillRect/>
                </a:stretch>
              </p:blipFill>
              <p:spPr bwMode="auto">
                <a:xfrm>
                  <a:off x="7830136" y="6078585"/>
                  <a:ext cx="720749" cy="629764"/>
                </a:xfrm>
                <a:prstGeom prst="rect">
                  <a:avLst/>
                </a:prstGeom>
                <a:noFill/>
                <a:ln w="9525">
                  <a:noFill/>
                  <a:miter lim="800000"/>
                  <a:headEnd/>
                  <a:tailEnd/>
                </a:ln>
              </p:spPr>
            </p:pic>
            <p:pic>
              <p:nvPicPr>
                <p:cNvPr id="64" name="Picture 4"/>
                <p:cNvPicPr>
                  <a:picLocks noChangeAspect="1" noChangeArrowheads="1"/>
                </p:cNvPicPr>
                <p:nvPr/>
              </p:nvPicPr>
              <p:blipFill>
                <a:blip r:embed="rId13" cstate="print"/>
                <a:srcRect/>
                <a:stretch>
                  <a:fillRect/>
                </a:stretch>
              </p:blipFill>
              <p:spPr bwMode="auto">
                <a:xfrm>
                  <a:off x="3332887" y="6078584"/>
                  <a:ext cx="1031982" cy="574893"/>
                </a:xfrm>
                <a:prstGeom prst="rect">
                  <a:avLst/>
                </a:prstGeom>
                <a:noFill/>
                <a:ln w="9525">
                  <a:noFill/>
                  <a:miter lim="800000"/>
                  <a:headEnd/>
                  <a:tailEnd/>
                </a:ln>
              </p:spPr>
            </p:pic>
            <p:pic>
              <p:nvPicPr>
                <p:cNvPr id="65" name="Picture 1" descr="D:\Program Files\Tencent\QQ\Users\282140074\Image\Image1\%MAL28FFAFI5J0`PK{}()GS.jpg"/>
                <p:cNvPicPr>
                  <a:picLocks noChangeAspect="1" noChangeArrowheads="1"/>
                </p:cNvPicPr>
                <p:nvPr/>
              </p:nvPicPr>
              <p:blipFill>
                <a:blip r:embed="rId14" cstate="print"/>
                <a:srcRect/>
                <a:stretch>
                  <a:fillRect/>
                </a:stretch>
              </p:blipFill>
              <p:spPr bwMode="auto">
                <a:xfrm>
                  <a:off x="4437042" y="3776291"/>
                  <a:ext cx="1646491" cy="488365"/>
                </a:xfrm>
                <a:prstGeom prst="rect">
                  <a:avLst/>
                </a:prstGeom>
                <a:noFill/>
              </p:spPr>
            </p:pic>
            <p:pic>
              <p:nvPicPr>
                <p:cNvPr id="60" name="Picture 4"/>
                <p:cNvPicPr>
                  <a:picLocks noChangeAspect="1" noChangeArrowheads="1"/>
                </p:cNvPicPr>
                <p:nvPr/>
              </p:nvPicPr>
              <p:blipFill>
                <a:blip r:embed="rId15" cstate="print"/>
                <a:srcRect/>
                <a:stretch>
                  <a:fillRect/>
                </a:stretch>
              </p:blipFill>
              <p:spPr bwMode="auto">
                <a:xfrm>
                  <a:off x="712290" y="5401116"/>
                  <a:ext cx="1198707" cy="537936"/>
                </a:xfrm>
                <a:prstGeom prst="rect">
                  <a:avLst/>
                </a:prstGeom>
                <a:noFill/>
                <a:ln w="9525">
                  <a:noFill/>
                  <a:miter lim="800000"/>
                  <a:headEnd/>
                  <a:tailEnd/>
                </a:ln>
              </p:spPr>
            </p:pic>
          </p:grpSp>
          <p:pic>
            <p:nvPicPr>
              <p:cNvPr id="44" name="Picture 2"/>
              <p:cNvPicPr>
                <a:picLocks noChangeAspect="1" noChangeArrowheads="1"/>
              </p:cNvPicPr>
              <p:nvPr/>
            </p:nvPicPr>
            <p:blipFill>
              <a:blip r:embed="rId6" cstate="print"/>
              <a:srcRect/>
              <a:stretch>
                <a:fillRect/>
              </a:stretch>
            </p:blipFill>
            <p:spPr bwMode="auto">
              <a:xfrm>
                <a:off x="6050902" y="4697055"/>
                <a:ext cx="1186204" cy="480268"/>
              </a:xfrm>
              <a:prstGeom prst="rect">
                <a:avLst/>
              </a:prstGeom>
              <a:noFill/>
              <a:ln w="9525">
                <a:noFill/>
                <a:miter lim="800000"/>
                <a:headEnd/>
                <a:tailEnd/>
              </a:ln>
            </p:spPr>
          </p:pic>
          <p:pic>
            <p:nvPicPr>
              <p:cNvPr id="46" name="Picture 10" descr="http://nickmartins.com.br/atualidades/wp-content/uploads/2010/08/trainee-unilever.jpg"/>
              <p:cNvPicPr>
                <a:picLocks noChangeAspect="1" noChangeArrowheads="1"/>
              </p:cNvPicPr>
              <p:nvPr/>
            </p:nvPicPr>
            <p:blipFill>
              <a:blip r:embed="rId16" cstate="print"/>
              <a:srcRect/>
              <a:stretch>
                <a:fillRect/>
              </a:stretch>
            </p:blipFill>
            <p:spPr bwMode="auto">
              <a:xfrm>
                <a:off x="7163678" y="5594917"/>
                <a:ext cx="576064" cy="637946"/>
              </a:xfrm>
              <a:prstGeom prst="rect">
                <a:avLst/>
              </a:prstGeom>
              <a:noFill/>
            </p:spPr>
          </p:pic>
        </p:grpSp>
        <p:grpSp>
          <p:nvGrpSpPr>
            <p:cNvPr id="9" name="组合 65"/>
            <p:cNvGrpSpPr/>
            <p:nvPr/>
          </p:nvGrpSpPr>
          <p:grpSpPr>
            <a:xfrm>
              <a:off x="539552" y="4509120"/>
              <a:ext cx="2376264" cy="457292"/>
              <a:chOff x="5508104" y="4555884"/>
              <a:chExt cx="2376264" cy="457292"/>
            </a:xfrm>
          </p:grpSpPr>
          <p:pic>
            <p:nvPicPr>
              <p:cNvPr id="1027" name="Picture 3" descr="D:\我的文档\桌面\好奇logo.png"/>
              <p:cNvPicPr>
                <a:picLocks noChangeAspect="1" noChangeArrowheads="1"/>
              </p:cNvPicPr>
              <p:nvPr/>
            </p:nvPicPr>
            <p:blipFill>
              <a:blip r:embed="rId17" cstate="print"/>
              <a:srcRect/>
              <a:stretch>
                <a:fillRect/>
              </a:stretch>
            </p:blipFill>
            <p:spPr bwMode="auto">
              <a:xfrm>
                <a:off x="6948264" y="4581128"/>
                <a:ext cx="936104" cy="364645"/>
              </a:xfrm>
              <a:prstGeom prst="rect">
                <a:avLst/>
              </a:prstGeom>
              <a:noFill/>
            </p:spPr>
          </p:pic>
          <p:pic>
            <p:nvPicPr>
              <p:cNvPr id="1028" name="Picture 4" descr="D:\我的文档\桌面\金佰利logo.png"/>
              <p:cNvPicPr>
                <a:picLocks noChangeAspect="1" noChangeArrowheads="1"/>
              </p:cNvPicPr>
              <p:nvPr/>
            </p:nvPicPr>
            <p:blipFill>
              <a:blip r:embed="rId18" cstate="print"/>
              <a:srcRect/>
              <a:stretch>
                <a:fillRect/>
              </a:stretch>
            </p:blipFill>
            <p:spPr bwMode="auto">
              <a:xfrm>
                <a:off x="5508104" y="4555884"/>
                <a:ext cx="1224136" cy="457292"/>
              </a:xfrm>
              <a:prstGeom prst="rect">
                <a:avLst/>
              </a:prstGeom>
              <a:noFill/>
            </p:spPr>
          </p:pic>
        </p:grpSp>
        <p:pic>
          <p:nvPicPr>
            <p:cNvPr id="2" name="Picture 3"/>
            <p:cNvPicPr>
              <a:picLocks noChangeAspect="1" noChangeArrowheads="1"/>
            </p:cNvPicPr>
            <p:nvPr/>
          </p:nvPicPr>
          <p:blipFill>
            <a:blip r:embed="rId19" cstate="print"/>
            <a:srcRect/>
            <a:stretch>
              <a:fillRect/>
            </a:stretch>
          </p:blipFill>
          <p:spPr bwMode="auto">
            <a:xfrm>
              <a:off x="3203848" y="5301208"/>
              <a:ext cx="1166884" cy="385766"/>
            </a:xfrm>
            <a:prstGeom prst="rect">
              <a:avLst/>
            </a:prstGeom>
            <a:noFill/>
            <a:ln w="9525">
              <a:noFill/>
              <a:miter lim="800000"/>
              <a:headEnd/>
              <a:tailEnd/>
            </a:ln>
            <a:effectLst/>
          </p:spPr>
        </p:pic>
        <p:pic>
          <p:nvPicPr>
            <p:cNvPr id="37890" name="Picture 2" descr="http://www.annualreport09.blackmores.com.au/img/blackmores_logo.jpg"/>
            <p:cNvPicPr>
              <a:picLocks noChangeAspect="1" noChangeArrowheads="1"/>
            </p:cNvPicPr>
            <p:nvPr/>
          </p:nvPicPr>
          <p:blipFill>
            <a:blip r:embed="rId20" cstate="print"/>
            <a:srcRect/>
            <a:stretch>
              <a:fillRect/>
            </a:stretch>
          </p:blipFill>
          <p:spPr bwMode="auto">
            <a:xfrm>
              <a:off x="7308304" y="5386960"/>
              <a:ext cx="1224136" cy="274288"/>
            </a:xfrm>
            <a:prstGeom prst="rect">
              <a:avLst/>
            </a:prstGeom>
            <a:noFill/>
          </p:spPr>
        </p:pic>
        <p:pic>
          <p:nvPicPr>
            <p:cNvPr id="1026" name="Picture 2" descr="C:\Users\dillean\Desktop\Imperial _PA.TIF"/>
            <p:cNvPicPr>
              <a:picLocks noChangeAspect="1" noChangeArrowheads="1"/>
            </p:cNvPicPr>
            <p:nvPr/>
          </p:nvPicPr>
          <p:blipFill>
            <a:blip r:embed="rId21" cstate="print"/>
            <a:srcRect/>
            <a:stretch>
              <a:fillRect/>
            </a:stretch>
          </p:blipFill>
          <p:spPr bwMode="auto">
            <a:xfrm>
              <a:off x="5987615" y="6021288"/>
              <a:ext cx="960649" cy="648072"/>
            </a:xfrm>
            <a:prstGeom prst="rect">
              <a:avLst/>
            </a:prstGeom>
            <a:noFill/>
          </p:spPr>
        </p:pic>
        <p:pic>
          <p:nvPicPr>
            <p:cNvPr id="6" name="Picture 2" descr="C:\Users\dillean\Desktop\恒天然.jpg"/>
            <p:cNvPicPr>
              <a:picLocks noChangeAspect="1" noChangeArrowheads="1"/>
            </p:cNvPicPr>
            <p:nvPr/>
          </p:nvPicPr>
          <p:blipFill>
            <a:blip r:embed="rId22" cstate="print"/>
            <a:srcRect/>
            <a:stretch>
              <a:fillRect/>
            </a:stretch>
          </p:blipFill>
          <p:spPr bwMode="auto">
            <a:xfrm>
              <a:off x="6156176" y="3593565"/>
              <a:ext cx="1210199" cy="669932"/>
            </a:xfrm>
            <a:prstGeom prst="rect">
              <a:avLst/>
            </a:prstGeom>
            <a:noFill/>
          </p:spPr>
        </p:pic>
        <p:pic>
          <p:nvPicPr>
            <p:cNvPr id="1031" name="Picture 7"/>
            <p:cNvPicPr>
              <a:picLocks noChangeAspect="1" noChangeArrowheads="1"/>
            </p:cNvPicPr>
            <p:nvPr/>
          </p:nvPicPr>
          <p:blipFill>
            <a:blip r:embed="rId23" cstate="print"/>
            <a:srcRect/>
            <a:stretch>
              <a:fillRect/>
            </a:stretch>
          </p:blipFill>
          <p:spPr bwMode="auto">
            <a:xfrm>
              <a:off x="539552" y="3639242"/>
              <a:ext cx="1296144" cy="581846"/>
            </a:xfrm>
            <a:prstGeom prst="rect">
              <a:avLst/>
            </a:prstGeom>
            <a:noFill/>
            <a:ln w="9525">
              <a:noFill/>
              <a:miter lim="800000"/>
              <a:headEnd/>
              <a:tailEnd/>
            </a:ln>
          </p:spPr>
        </p:pic>
        <p:pic>
          <p:nvPicPr>
            <p:cNvPr id="1032" name="Picture 8" descr="C:\Users\dillean\Desktop\金宝贝.jpg"/>
            <p:cNvPicPr>
              <a:picLocks noChangeAspect="1" noChangeArrowheads="1"/>
            </p:cNvPicPr>
            <p:nvPr/>
          </p:nvPicPr>
          <p:blipFill>
            <a:blip r:embed="rId24" cstate="print"/>
            <a:srcRect/>
            <a:stretch>
              <a:fillRect/>
            </a:stretch>
          </p:blipFill>
          <p:spPr bwMode="auto">
            <a:xfrm>
              <a:off x="3163631" y="4549929"/>
              <a:ext cx="1689993" cy="463247"/>
            </a:xfrm>
            <a:prstGeom prst="rect">
              <a:avLst/>
            </a:prstGeom>
            <a:noFill/>
          </p:spPr>
        </p:pic>
        <p:pic>
          <p:nvPicPr>
            <p:cNvPr id="1033" name="Picture 9"/>
            <p:cNvPicPr>
              <a:picLocks noChangeAspect="1" noChangeArrowheads="1"/>
            </p:cNvPicPr>
            <p:nvPr/>
          </p:nvPicPr>
          <p:blipFill>
            <a:blip r:embed="rId25" cstate="print"/>
            <a:srcRect/>
            <a:stretch>
              <a:fillRect/>
            </a:stretch>
          </p:blipFill>
          <p:spPr bwMode="auto">
            <a:xfrm>
              <a:off x="467544" y="6165304"/>
              <a:ext cx="1368151" cy="317698"/>
            </a:xfrm>
            <a:prstGeom prst="rect">
              <a:avLst/>
            </a:prstGeom>
            <a:noFill/>
            <a:ln w="9525">
              <a:noFill/>
              <a:miter lim="800000"/>
              <a:headEnd/>
              <a:tailEnd/>
            </a:ln>
          </p:spPr>
        </p:pic>
        <p:pic>
          <p:nvPicPr>
            <p:cNvPr id="1034" name="Picture 10"/>
            <p:cNvPicPr>
              <a:picLocks noChangeAspect="1" noChangeArrowheads="1"/>
            </p:cNvPicPr>
            <p:nvPr/>
          </p:nvPicPr>
          <p:blipFill>
            <a:blip r:embed="rId26" cstate="print"/>
            <a:srcRect/>
            <a:stretch>
              <a:fillRect/>
            </a:stretch>
          </p:blipFill>
          <p:spPr bwMode="auto">
            <a:xfrm>
              <a:off x="7380312" y="3620615"/>
              <a:ext cx="1152128" cy="600473"/>
            </a:xfrm>
            <a:prstGeom prst="rect">
              <a:avLst/>
            </a:prstGeom>
            <a:noFill/>
            <a:ln w="9525">
              <a:noFill/>
              <a:miter lim="800000"/>
              <a:headEnd/>
              <a:tailEnd/>
            </a:ln>
          </p:spPr>
        </p:pic>
        <p:pic>
          <p:nvPicPr>
            <p:cNvPr id="1035" name="Picture 11"/>
            <p:cNvPicPr>
              <a:picLocks noChangeAspect="1" noChangeArrowheads="1"/>
            </p:cNvPicPr>
            <p:nvPr/>
          </p:nvPicPr>
          <p:blipFill>
            <a:blip r:embed="rId27" cstate="print"/>
            <a:srcRect/>
            <a:stretch>
              <a:fillRect/>
            </a:stretch>
          </p:blipFill>
          <p:spPr bwMode="auto">
            <a:xfrm>
              <a:off x="4427984" y="6044333"/>
              <a:ext cx="1368152" cy="553019"/>
            </a:xfrm>
            <a:prstGeom prst="rect">
              <a:avLst/>
            </a:prstGeom>
            <a:noFill/>
            <a:ln w="9525">
              <a:noFill/>
              <a:miter lim="800000"/>
              <a:headEnd/>
              <a:tailEnd/>
            </a:ln>
          </p:spPr>
        </p:pic>
      </p:grpSp>
      <p:sp>
        <p:nvSpPr>
          <p:cNvPr id="43" name="Slide Number Placeholder 42"/>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23</a:t>
            </a:fld>
            <a:endParaRPr lang="en-US" altLang="zh-CN" dirty="0">
              <a:solidFill>
                <a:srgbClr val="333333"/>
              </a:solidFill>
            </a:endParaRPr>
          </a:p>
        </p:txBody>
      </p:sp>
      <p:sp>
        <p:nvSpPr>
          <p:cNvPr id="45" name="Title 44"/>
          <p:cNvSpPr>
            <a:spLocks noGrp="1"/>
          </p:cNvSpPr>
          <p:nvPr>
            <p:ph type="title"/>
          </p:nvPr>
        </p:nvSpPr>
        <p:spPr/>
        <p:txBody>
          <a:bodyPr/>
          <a:lstStyle/>
          <a:p>
            <a:r>
              <a:rPr lang="zh-CN" altLang="en-US" dirty="0" smtClean="0"/>
              <a:t>乐其与超过</a:t>
            </a:r>
            <a:r>
              <a:rPr lang="en-US" altLang="zh-CN" dirty="0" smtClean="0"/>
              <a:t>20</a:t>
            </a:r>
            <a:r>
              <a:rPr lang="zh-CN" altLang="en-US" dirty="0" smtClean="0"/>
              <a:t>个知名品牌建立全方位的合作关系</a:t>
            </a:r>
            <a:endParaRPr lang="en-US" dirty="0"/>
          </a:p>
        </p:txBody>
      </p:sp>
      <p:pic>
        <p:nvPicPr>
          <p:cNvPr id="10" name="Picture 2"/>
          <p:cNvPicPr>
            <a:picLocks noChangeAspect="1" noChangeArrowheads="1"/>
          </p:cNvPicPr>
          <p:nvPr/>
        </p:nvPicPr>
        <p:blipFill>
          <a:blip r:embed="rId28"/>
          <a:srcRect/>
          <a:stretch>
            <a:fillRect/>
          </a:stretch>
        </p:blipFill>
        <p:spPr bwMode="auto">
          <a:xfrm>
            <a:off x="5000628" y="3214686"/>
            <a:ext cx="1252539" cy="428626"/>
          </a:xfrm>
          <a:prstGeom prst="rect">
            <a:avLst/>
          </a:prstGeom>
          <a:noFill/>
          <a:ln w="9525">
            <a:noFill/>
            <a:miter lim="800000"/>
            <a:headEnd/>
            <a:tailEnd/>
          </a:ln>
          <a:effectLst/>
        </p:spPr>
      </p:pic>
      <p:pic>
        <p:nvPicPr>
          <p:cNvPr id="11" name="Picture 3"/>
          <p:cNvPicPr>
            <a:picLocks noChangeAspect="1" noChangeArrowheads="1"/>
          </p:cNvPicPr>
          <p:nvPr/>
        </p:nvPicPr>
        <p:blipFill>
          <a:blip r:embed="rId29" cstate="print"/>
          <a:srcRect/>
          <a:stretch>
            <a:fillRect/>
          </a:stretch>
        </p:blipFill>
        <p:spPr bwMode="auto">
          <a:xfrm>
            <a:off x="6215074" y="3071810"/>
            <a:ext cx="1285883" cy="714380"/>
          </a:xfrm>
          <a:prstGeom prst="rect">
            <a:avLst/>
          </a:prstGeom>
          <a:noFill/>
          <a:ln w="9525">
            <a:noFill/>
            <a:miter lim="800000"/>
            <a:headEnd/>
            <a:tailEnd/>
          </a:ln>
          <a:effectLst/>
        </p:spPr>
      </p:pic>
      <p:pic>
        <p:nvPicPr>
          <p:cNvPr id="12" name="Picture 4"/>
          <p:cNvPicPr>
            <a:picLocks noChangeAspect="1" noChangeArrowheads="1"/>
          </p:cNvPicPr>
          <p:nvPr/>
        </p:nvPicPr>
        <p:blipFill>
          <a:blip r:embed="rId30" cstate="print"/>
          <a:srcRect/>
          <a:stretch>
            <a:fillRect/>
          </a:stretch>
        </p:blipFill>
        <p:spPr bwMode="auto">
          <a:xfrm>
            <a:off x="7596243" y="3071811"/>
            <a:ext cx="1119161" cy="71438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noChangeArrowheads="1"/>
          </p:cNvSpPr>
          <p:nvPr/>
        </p:nvSpPr>
        <p:spPr bwMode="auto">
          <a:xfrm>
            <a:off x="785786" y="4122742"/>
            <a:ext cx="6072230" cy="592142"/>
          </a:xfrm>
          <a:prstGeom prst="roundRect">
            <a:avLst>
              <a:gd name="adj" fmla="val 16667"/>
            </a:avLst>
          </a:prstGeom>
          <a:solidFill>
            <a:schemeClr val="accent1">
              <a:lumMod val="20000"/>
              <a:lumOff val="80000"/>
            </a:schemeClr>
          </a:solidFill>
          <a:ln w="9525" algn="ctr">
            <a:solidFill>
              <a:schemeClr val="accent1"/>
            </a:solidFill>
            <a:round/>
            <a:headEnd/>
            <a:tailEnd/>
          </a:ln>
          <a:effectLst>
            <a:outerShdw blurRad="50800" dist="38100" dir="2700000" algn="tl" rotWithShape="0">
              <a:prstClr val="black">
                <a:alpha val="40000"/>
              </a:prstClr>
            </a:outerShdw>
          </a:effectLst>
        </p:spPr>
        <p:txBody>
          <a:bodyPr wrap="none"/>
          <a:lstStyle/>
          <a:p>
            <a:pPr algn="ctr">
              <a:spcBef>
                <a:spcPct val="50000"/>
              </a:spcBef>
            </a:pPr>
            <a:endParaRPr lang="en-US" altLang="zh-CN">
              <a:solidFill>
                <a:srgbClr val="3C3C3C"/>
              </a:solidFill>
            </a:endParaRPr>
          </a:p>
        </p:txBody>
      </p:sp>
      <p:sp>
        <p:nvSpPr>
          <p:cNvPr id="212994" name="Rectangle 2"/>
          <p:cNvSpPr>
            <a:spLocks noGrp="1" noChangeArrowheads="1"/>
          </p:cNvSpPr>
          <p:nvPr>
            <p:ph type="title"/>
          </p:nvPr>
        </p:nvSpPr>
        <p:spPr>
          <a:xfrm>
            <a:off x="902958" y="260648"/>
            <a:ext cx="7086600" cy="487363"/>
          </a:xfrm>
        </p:spPr>
        <p:txBody>
          <a:bodyPr/>
          <a:lstStyle/>
          <a:p>
            <a:pPr>
              <a:defRPr/>
            </a:pPr>
            <a:r>
              <a:rPr lang="zh-CN" altLang="en-US" sz="2800" b="1" dirty="0" smtClean="0">
                <a:latin typeface="+mj-ea"/>
              </a:rPr>
              <a:t>目录</a:t>
            </a:r>
            <a:endParaRPr lang="en-US" altLang="zh-CN" sz="2800" b="1" dirty="0">
              <a:latin typeface="+mj-ea"/>
            </a:endParaRPr>
          </a:p>
        </p:txBody>
      </p:sp>
      <p:sp>
        <p:nvSpPr>
          <p:cNvPr id="212995" name="Rectangle 3"/>
          <p:cNvSpPr>
            <a:spLocks noGrp="1" noChangeArrowheads="1"/>
          </p:cNvSpPr>
          <p:nvPr>
            <p:ph type="body" idx="1"/>
          </p:nvPr>
        </p:nvSpPr>
        <p:spPr bwMode="gray">
          <a:xfrm>
            <a:off x="971600" y="1214422"/>
            <a:ext cx="6643734" cy="5072098"/>
          </a:xfrm>
          <a:noFill/>
        </p:spPr>
        <p:txBody>
          <a:bodyPr/>
          <a:lstStyle/>
          <a:p>
            <a:pPr>
              <a:lnSpc>
                <a:spcPct val="150000"/>
              </a:lnSpc>
            </a:pPr>
            <a:r>
              <a:rPr lang="en-US" altLang="zh-CN" b="1" dirty="0" smtClean="0"/>
              <a:t> </a:t>
            </a:r>
            <a:r>
              <a:rPr lang="zh-CN" altLang="en-US" b="1" dirty="0"/>
              <a:t>聚芳</a:t>
            </a:r>
            <a:r>
              <a:rPr lang="zh-CN" altLang="en-US" b="1" dirty="0" smtClean="0"/>
              <a:t>永官网</a:t>
            </a:r>
            <a:r>
              <a:rPr lang="zh-CN" altLang="en-US" b="1" dirty="0" smtClean="0"/>
              <a:t>项目</a:t>
            </a:r>
            <a:r>
              <a:rPr lang="zh-CN" altLang="en-US" b="1" dirty="0" smtClean="0"/>
              <a:t>背景理解</a:t>
            </a:r>
            <a:endParaRPr lang="en-US" altLang="zh-CN" b="1" dirty="0" smtClean="0"/>
          </a:p>
          <a:p>
            <a:pPr>
              <a:lnSpc>
                <a:spcPct val="150000"/>
              </a:lnSpc>
            </a:pPr>
            <a:r>
              <a:rPr lang="zh-CN" altLang="en-US" b="1" dirty="0" smtClean="0"/>
              <a:t> 聚</a:t>
            </a:r>
            <a:r>
              <a:rPr lang="zh-CN" altLang="en-US" b="1" dirty="0"/>
              <a:t>芳永官网</a:t>
            </a:r>
            <a:r>
              <a:rPr lang="zh-CN" altLang="en-US" b="1" dirty="0" smtClean="0">
                <a:ea typeface="宋体" pitchFamily="2" charset="-122"/>
              </a:rPr>
              <a:t>项目</a:t>
            </a:r>
            <a:r>
              <a:rPr lang="zh-CN" altLang="en-US" b="1" dirty="0" smtClean="0">
                <a:ea typeface="宋体" pitchFamily="2" charset="-122"/>
              </a:rPr>
              <a:t>实施建议</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为什么选择乐其</a:t>
            </a:r>
            <a:endParaRPr lang="en-US" altLang="zh-CN" b="1" dirty="0" smtClean="0">
              <a:ea typeface="宋体" pitchFamily="2" charset="-122"/>
            </a:endParaRPr>
          </a:p>
          <a:p>
            <a:pPr lvl="1">
              <a:lnSpc>
                <a:spcPct val="150000"/>
              </a:lnSpc>
            </a:pPr>
            <a:r>
              <a:rPr lang="zh-CN" altLang="en-US" b="1" dirty="0" smtClean="0">
                <a:ea typeface="宋体" pitchFamily="2" charset="-122"/>
              </a:rPr>
              <a:t>乐其公司简介</a:t>
            </a:r>
            <a:endParaRPr lang="en-US" altLang="zh-CN" b="1" dirty="0" smtClean="0">
              <a:ea typeface="宋体" pitchFamily="2" charset="-122"/>
            </a:endParaRPr>
          </a:p>
          <a:p>
            <a:pPr lvl="1">
              <a:lnSpc>
                <a:spcPct val="150000"/>
              </a:lnSpc>
            </a:pPr>
            <a:r>
              <a:rPr lang="zh-CN" altLang="en-US" b="1" dirty="0" smtClean="0">
                <a:ea typeface="宋体" pitchFamily="2" charset="-122"/>
              </a:rPr>
              <a:t>乐其的优势</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项目</a:t>
            </a:r>
            <a:r>
              <a:rPr lang="zh-CN" altLang="en-US" b="1" dirty="0">
                <a:ea typeface="宋体" pitchFamily="2" charset="-122"/>
              </a:rPr>
              <a:t>报价</a:t>
            </a:r>
            <a:r>
              <a:rPr lang="en-US" altLang="zh-CN" dirty="0" smtClean="0">
                <a:ea typeface="宋体" pitchFamily="2" charset="-122"/>
              </a:rPr>
              <a:t/>
            </a:r>
            <a:br>
              <a:rPr lang="en-US" altLang="zh-CN" dirty="0" smtClean="0">
                <a:ea typeface="宋体" pitchFamily="2" charset="-122"/>
              </a:rPr>
            </a:br>
            <a:endParaRPr lang="en-US" altLang="zh-CN" dirty="0" smtClean="0">
              <a:ea typeface="宋体" pitchFamily="2" charset="-122"/>
            </a:endParaRPr>
          </a:p>
        </p:txBody>
      </p:sp>
      <p:sp>
        <p:nvSpPr>
          <p:cNvPr id="6" name="Slide Number Placeholder 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24</a:t>
            </a:fld>
            <a:endParaRPr lang="en-US" altLang="zh-CN" dirty="0">
              <a:solidFill>
                <a:srgbClr val="333333"/>
              </a:solidFill>
            </a:endParaRPr>
          </a:p>
        </p:txBody>
      </p:sp>
    </p:spTree>
    <p:extLst>
      <p:ext uri="{BB962C8B-B14F-4D97-AF65-F5344CB8AC3E}">
        <p14:creationId xmlns:p14="http://schemas.microsoft.com/office/powerpoint/2010/main" val="27265755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611560" y="1928802"/>
            <a:ext cx="1800000" cy="3708000"/>
            <a:chOff x="6975741" y="1928802"/>
            <a:chExt cx="1800000" cy="3708000"/>
          </a:xfrm>
        </p:grpSpPr>
        <p:sp>
          <p:nvSpPr>
            <p:cNvPr id="44" name="AutoShape 7"/>
            <p:cNvSpPr>
              <a:spLocks noChangeArrowheads="1"/>
            </p:cNvSpPr>
            <p:nvPr/>
          </p:nvSpPr>
          <p:spPr bwMode="gray">
            <a:xfrm rot="5400000">
              <a:off x="6021741" y="2882802"/>
              <a:ext cx="3708000" cy="1800000"/>
            </a:xfrm>
            <a:prstGeom prst="roundRect">
              <a:avLst>
                <a:gd name="adj" fmla="val 19894"/>
              </a:avLst>
            </a:prstGeom>
            <a:gradFill rotWithShape="1">
              <a:gsLst>
                <a:gs pos="0">
                  <a:srgbClr val="F8F8F8">
                    <a:gamma/>
                    <a:shade val="77647"/>
                    <a:invGamma/>
                    <a:alpha val="98000"/>
                  </a:srgbClr>
                </a:gs>
                <a:gs pos="50000">
                  <a:srgbClr val="F8F8F8"/>
                </a:gs>
                <a:gs pos="100000">
                  <a:srgbClr val="F8F8F8">
                    <a:gamma/>
                    <a:shade val="77647"/>
                    <a:invGamma/>
                    <a:alpha val="98000"/>
                  </a:srgbClr>
                </a:gs>
              </a:gsLst>
              <a:lin ang="5400000" scaled="1"/>
            </a:gradFill>
            <a:ln w="38100" algn="ctr">
              <a:solidFill>
                <a:srgbClr val="808080"/>
              </a:solidFill>
              <a:round/>
              <a:headEnd/>
              <a:tailEnd/>
            </a:ln>
            <a:effectLst>
              <a:prstShdw prst="shdw12" dist="88900" dir="10800000">
                <a:srgbClr val="1C1C1C">
                  <a:alpha val="50000"/>
                </a:srgbClr>
              </a:prstShdw>
            </a:effectLst>
          </p:spPr>
          <p:txBody>
            <a:bodyPr wrap="none" anchor="ctr"/>
            <a:lstStyle/>
            <a:p>
              <a:endParaRPr lang="en-US"/>
            </a:p>
          </p:txBody>
        </p:sp>
        <p:sp>
          <p:nvSpPr>
            <p:cNvPr id="45" name="Text Box 8"/>
            <p:cNvSpPr txBox="1">
              <a:spLocks noChangeArrowheads="1"/>
            </p:cNvSpPr>
            <p:nvPr/>
          </p:nvSpPr>
          <p:spPr bwMode="gray">
            <a:xfrm>
              <a:off x="7018485" y="4051289"/>
              <a:ext cx="1714512" cy="954107"/>
            </a:xfrm>
            <a:prstGeom prst="rect">
              <a:avLst/>
            </a:prstGeom>
            <a:noFill/>
            <a:ln w="9525" algn="ctr">
              <a:noFill/>
              <a:miter lim="800000"/>
              <a:headEnd/>
              <a:tailEnd/>
            </a:ln>
            <a:effectLst/>
          </p:spPr>
          <p:txBody>
            <a:bodyPr wrap="square">
              <a:spAutoFit/>
            </a:bodyPr>
            <a:lstStyle/>
            <a:p>
              <a:pPr algn="ctr" eaLnBrk="0" hangingPunct="0"/>
              <a:r>
                <a:rPr lang="zh-CN" altLang="en-US" sz="1400" b="1" dirty="0" smtClean="0">
                  <a:solidFill>
                    <a:srgbClr val="1C1C1C"/>
                  </a:solidFill>
                </a:rPr>
                <a:t>独立的</a:t>
              </a:r>
              <a:r>
                <a:rPr lang="en-US" altLang="zh-CN" sz="1400" b="1" dirty="0" smtClean="0">
                  <a:solidFill>
                    <a:srgbClr val="1C1C1C"/>
                  </a:solidFill>
                </a:rPr>
                <a:t>UI</a:t>
              </a:r>
              <a:r>
                <a:rPr lang="zh-CN" altLang="en-US" sz="1400" b="1" dirty="0" smtClean="0">
                  <a:solidFill>
                    <a:srgbClr val="1C1C1C"/>
                  </a:solidFill>
                </a:rPr>
                <a:t>团队可以为</a:t>
              </a:r>
              <a:r>
                <a:rPr lang="zh-CN" altLang="en-US" sz="1400" b="1" dirty="0">
                  <a:solidFill>
                    <a:srgbClr val="1C1C1C"/>
                  </a:solidFill>
                </a:rPr>
                <a:t>聚芳永</a:t>
              </a:r>
              <a:r>
                <a:rPr lang="zh-CN" altLang="en-US" sz="1400" b="1" dirty="0" smtClean="0">
                  <a:solidFill>
                    <a:srgbClr val="1C1C1C"/>
                  </a:solidFill>
                </a:rPr>
                <a:t>提供个性化凸显品牌内涵的文案及多媒体素材</a:t>
              </a:r>
              <a:endParaRPr lang="en-US" sz="1400" b="1" dirty="0">
                <a:solidFill>
                  <a:srgbClr val="1C1C1C"/>
                </a:solidFill>
              </a:endParaRPr>
            </a:p>
          </p:txBody>
        </p:sp>
        <p:pic>
          <p:nvPicPr>
            <p:cNvPr id="46" name="Picture 17" descr="O_chevron001"/>
            <p:cNvPicPr>
              <a:picLocks noChangeAspect="1" noChangeArrowheads="1"/>
            </p:cNvPicPr>
            <p:nvPr/>
          </p:nvPicPr>
          <p:blipFill>
            <a:blip r:embed="rId2"/>
            <a:srcRect/>
            <a:stretch>
              <a:fillRect/>
            </a:stretch>
          </p:blipFill>
          <p:spPr bwMode="auto">
            <a:xfrm>
              <a:off x="7669366" y="3522652"/>
              <a:ext cx="412750" cy="363537"/>
            </a:xfrm>
            <a:prstGeom prst="rect">
              <a:avLst/>
            </a:prstGeom>
            <a:noFill/>
          </p:spPr>
        </p:pic>
        <p:sp>
          <p:nvSpPr>
            <p:cNvPr id="47" name="Oval 46"/>
            <p:cNvSpPr/>
            <p:nvPr/>
          </p:nvSpPr>
          <p:spPr>
            <a:xfrm>
              <a:off x="7335741" y="2134686"/>
              <a:ext cx="1080000" cy="1080000"/>
            </a:xfrm>
            <a:prstGeom prst="ellipse">
              <a:avLst/>
            </a:prstGeom>
            <a:effectLst>
              <a:glow rad="228600">
                <a:schemeClr val="accent1">
                  <a:satMod val="175000"/>
                  <a:alpha val="40000"/>
                </a:schemeClr>
              </a:glow>
              <a:outerShdw blurRad="50800" dist="38100" dir="2700000" algn="tl" rotWithShape="0">
                <a:prstClr val="black">
                  <a:alpha val="40000"/>
                </a:prstClr>
              </a:outerShdw>
              <a:softEdge rad="63500"/>
            </a:effectLst>
            <a:scene3d>
              <a:camera prst="orthographicFront"/>
              <a:lightRig rig="twoPt" dir="tl">
                <a:rot lat="0" lon="0" rev="6600000"/>
              </a:lightRig>
            </a:scene3d>
            <a:sp3d extrusionH="76200" contourW="63500" prstMaterial="dkEdge">
              <a:bevelT w="101600" h="101600" prst="slope"/>
              <a:extrusionClr>
                <a:schemeClr val="bg1"/>
              </a:extrusionClr>
              <a:contourClr>
                <a:schemeClr val="accent1"/>
              </a:contourClr>
            </a:sp3d>
          </p:spPr>
          <p:style>
            <a:lnRef idx="1">
              <a:schemeClr val="accent1"/>
            </a:lnRef>
            <a:fillRef idx="2">
              <a:schemeClr val="accent1"/>
            </a:fillRef>
            <a:effectRef idx="1">
              <a:schemeClr val="accent1"/>
            </a:effectRef>
            <a:fontRef idx="minor">
              <a:schemeClr val="dk1"/>
            </a:fontRef>
          </p:style>
          <p:txBody>
            <a:bodyPr rtlCol="0" anchor="ctr">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8" name="Text Box 13"/>
            <p:cNvSpPr txBox="1">
              <a:spLocks noChangeArrowheads="1"/>
            </p:cNvSpPr>
            <p:nvPr/>
          </p:nvSpPr>
          <p:spPr bwMode="auto">
            <a:xfrm>
              <a:off x="7472534" y="2412178"/>
              <a:ext cx="806414" cy="525016"/>
            </a:xfrm>
            <a:prstGeom prst="rect">
              <a:avLst/>
            </a:prstGeom>
            <a:noFill/>
            <a:ln w="9525" algn="ctr">
              <a:noFill/>
              <a:miter lim="800000"/>
              <a:headEnd/>
              <a:tailEnd/>
            </a:ln>
            <a:effectLst/>
          </p:spPr>
          <p:txBody>
            <a:bodyPr wrap="square" anchor="ctr" anchorCtr="0">
              <a:noAutofit/>
            </a:bodyPr>
            <a:lstStyle/>
            <a:p>
              <a:pPr algn="ctr" eaLnBrk="0" hangingPunct="0">
                <a:spcBef>
                  <a:spcPts val="600"/>
                </a:spcBef>
              </a:pPr>
              <a:r>
                <a:rPr lang="en-US" altLang="zh-CN" sz="2000" b="1" dirty="0" smtClean="0"/>
                <a:t>UI</a:t>
              </a:r>
            </a:p>
            <a:p>
              <a:pPr algn="ctr" eaLnBrk="0" hangingPunct="0">
                <a:spcBef>
                  <a:spcPts val="600"/>
                </a:spcBef>
              </a:pPr>
              <a:r>
                <a:rPr lang="zh-CN" altLang="en-US" sz="2000" b="1" dirty="0" smtClean="0"/>
                <a:t>团队</a:t>
              </a:r>
              <a:endParaRPr lang="en-US" sz="2000" b="1" dirty="0"/>
            </a:p>
          </p:txBody>
        </p:sp>
      </p:grpSp>
      <p:grpSp>
        <p:nvGrpSpPr>
          <p:cNvPr id="37" name="Group 36"/>
          <p:cNvGrpSpPr/>
          <p:nvPr/>
        </p:nvGrpSpPr>
        <p:grpSpPr>
          <a:xfrm>
            <a:off x="3491880" y="1928802"/>
            <a:ext cx="1800000" cy="3722925"/>
            <a:chOff x="6975741" y="1928802"/>
            <a:chExt cx="1800000" cy="3722925"/>
          </a:xfrm>
        </p:grpSpPr>
        <p:sp>
          <p:nvSpPr>
            <p:cNvPr id="38" name="AutoShape 7"/>
            <p:cNvSpPr>
              <a:spLocks noChangeArrowheads="1"/>
            </p:cNvSpPr>
            <p:nvPr/>
          </p:nvSpPr>
          <p:spPr bwMode="gray">
            <a:xfrm rot="5400000">
              <a:off x="6021741" y="2882802"/>
              <a:ext cx="3708000" cy="1800000"/>
            </a:xfrm>
            <a:prstGeom prst="roundRect">
              <a:avLst>
                <a:gd name="adj" fmla="val 19894"/>
              </a:avLst>
            </a:prstGeom>
            <a:gradFill rotWithShape="1">
              <a:gsLst>
                <a:gs pos="0">
                  <a:srgbClr val="F8F8F8">
                    <a:gamma/>
                    <a:shade val="77647"/>
                    <a:invGamma/>
                    <a:alpha val="98000"/>
                  </a:srgbClr>
                </a:gs>
                <a:gs pos="50000">
                  <a:srgbClr val="F8F8F8"/>
                </a:gs>
                <a:gs pos="100000">
                  <a:srgbClr val="F8F8F8">
                    <a:gamma/>
                    <a:shade val="77647"/>
                    <a:invGamma/>
                    <a:alpha val="98000"/>
                  </a:srgbClr>
                </a:gs>
              </a:gsLst>
              <a:lin ang="5400000" scaled="1"/>
            </a:gradFill>
            <a:ln w="38100" algn="ctr">
              <a:solidFill>
                <a:srgbClr val="808080"/>
              </a:solidFill>
              <a:round/>
              <a:headEnd/>
              <a:tailEnd/>
            </a:ln>
            <a:effectLst>
              <a:prstShdw prst="shdw12" dist="88900" dir="10800000">
                <a:srgbClr val="1C1C1C">
                  <a:alpha val="50000"/>
                </a:srgbClr>
              </a:prstShdw>
            </a:effectLst>
          </p:spPr>
          <p:txBody>
            <a:bodyPr wrap="none" anchor="ctr"/>
            <a:lstStyle/>
            <a:p>
              <a:endParaRPr lang="en-US"/>
            </a:p>
          </p:txBody>
        </p:sp>
        <p:sp>
          <p:nvSpPr>
            <p:cNvPr id="39" name="Text Box 8"/>
            <p:cNvSpPr txBox="1">
              <a:spLocks noChangeArrowheads="1"/>
            </p:cNvSpPr>
            <p:nvPr/>
          </p:nvSpPr>
          <p:spPr bwMode="gray">
            <a:xfrm>
              <a:off x="7018485" y="4051289"/>
              <a:ext cx="1714512" cy="1600438"/>
            </a:xfrm>
            <a:prstGeom prst="rect">
              <a:avLst/>
            </a:prstGeom>
            <a:noFill/>
            <a:ln w="9525" algn="ctr">
              <a:noFill/>
              <a:miter lim="800000"/>
              <a:headEnd/>
              <a:tailEnd/>
            </a:ln>
            <a:effectLst/>
          </p:spPr>
          <p:txBody>
            <a:bodyPr wrap="square">
              <a:spAutoFit/>
            </a:bodyPr>
            <a:lstStyle/>
            <a:p>
              <a:pPr algn="ctr" eaLnBrk="0" hangingPunct="0"/>
              <a:r>
                <a:rPr lang="zh-CN" altLang="en-US" sz="1400" b="1" dirty="0">
                  <a:solidFill>
                    <a:srgbClr val="1C1C1C"/>
                  </a:solidFill>
                </a:rPr>
                <a:t>独立的技术团队可以为聚芳永提供个性的客户化功能订制开发</a:t>
              </a:r>
              <a:r>
                <a:rPr lang="zh-CN" altLang="en-US" sz="1400" b="1" dirty="0" smtClean="0">
                  <a:solidFill>
                    <a:srgbClr val="1C1C1C"/>
                  </a:solidFill>
                </a:rPr>
                <a:t>和维护</a:t>
              </a:r>
              <a:r>
                <a:rPr lang="zh-CN" altLang="en-US" sz="1400" b="1" dirty="0">
                  <a:solidFill>
                    <a:srgbClr val="1C1C1C"/>
                  </a:solidFill>
                </a:rPr>
                <a:t>，并</a:t>
              </a:r>
              <a:r>
                <a:rPr lang="zh-CN" altLang="en-US" sz="1400" b="1" dirty="0" smtClean="0">
                  <a:solidFill>
                    <a:srgbClr val="1C1C1C"/>
                  </a:solidFill>
                </a:rPr>
                <a:t>可使得官网、移动</a:t>
              </a:r>
              <a:r>
                <a:rPr lang="en-US" altLang="zh-CN" sz="1400" b="1" dirty="0" smtClean="0">
                  <a:solidFill>
                    <a:srgbClr val="1C1C1C"/>
                  </a:solidFill>
                </a:rPr>
                <a:t>APP</a:t>
              </a:r>
              <a:r>
                <a:rPr lang="zh-CN" altLang="en-US" sz="1400" b="1" dirty="0" smtClean="0">
                  <a:solidFill>
                    <a:srgbClr val="1C1C1C"/>
                  </a:solidFill>
                </a:rPr>
                <a:t>等与</a:t>
              </a:r>
              <a:r>
                <a:rPr lang="zh-CN" altLang="en-US" sz="1400" b="1" dirty="0">
                  <a:solidFill>
                    <a:srgbClr val="1C1C1C"/>
                  </a:solidFill>
                </a:rPr>
                <a:t>旗舰店及</a:t>
              </a:r>
              <a:r>
                <a:rPr lang="en-US" altLang="zh-CN" sz="1400" b="1" dirty="0">
                  <a:solidFill>
                    <a:srgbClr val="1C1C1C"/>
                  </a:solidFill>
                </a:rPr>
                <a:t>ERP</a:t>
              </a:r>
              <a:r>
                <a:rPr lang="zh-CN" altLang="en-US" sz="1400" b="1" dirty="0">
                  <a:solidFill>
                    <a:srgbClr val="1C1C1C"/>
                  </a:solidFill>
                </a:rPr>
                <a:t>系统无缝对接</a:t>
              </a:r>
              <a:endParaRPr lang="en-US" altLang="zh-CN" sz="1400" b="1" dirty="0">
                <a:solidFill>
                  <a:srgbClr val="1C1C1C"/>
                </a:solidFill>
              </a:endParaRPr>
            </a:p>
          </p:txBody>
        </p:sp>
        <p:pic>
          <p:nvPicPr>
            <p:cNvPr id="40" name="Picture 17" descr="O_chevron001"/>
            <p:cNvPicPr>
              <a:picLocks noChangeAspect="1" noChangeArrowheads="1"/>
            </p:cNvPicPr>
            <p:nvPr/>
          </p:nvPicPr>
          <p:blipFill>
            <a:blip r:embed="rId2"/>
            <a:srcRect/>
            <a:stretch>
              <a:fillRect/>
            </a:stretch>
          </p:blipFill>
          <p:spPr bwMode="auto">
            <a:xfrm>
              <a:off x="7669366" y="3522652"/>
              <a:ext cx="412750" cy="363537"/>
            </a:xfrm>
            <a:prstGeom prst="rect">
              <a:avLst/>
            </a:prstGeom>
            <a:noFill/>
          </p:spPr>
        </p:pic>
        <p:sp>
          <p:nvSpPr>
            <p:cNvPr id="41" name="Oval 40"/>
            <p:cNvSpPr/>
            <p:nvPr/>
          </p:nvSpPr>
          <p:spPr>
            <a:xfrm>
              <a:off x="7335741" y="2134686"/>
              <a:ext cx="1080000" cy="1080000"/>
            </a:xfrm>
            <a:prstGeom prst="ellipse">
              <a:avLst/>
            </a:prstGeom>
            <a:effectLst>
              <a:glow rad="228600">
                <a:schemeClr val="accent1">
                  <a:satMod val="175000"/>
                  <a:alpha val="40000"/>
                </a:schemeClr>
              </a:glow>
              <a:outerShdw blurRad="50800" dist="38100" dir="2700000" algn="tl" rotWithShape="0">
                <a:prstClr val="black">
                  <a:alpha val="40000"/>
                </a:prstClr>
              </a:outerShdw>
              <a:softEdge rad="63500"/>
            </a:effectLst>
            <a:scene3d>
              <a:camera prst="orthographicFront"/>
              <a:lightRig rig="twoPt" dir="tl">
                <a:rot lat="0" lon="0" rev="6600000"/>
              </a:lightRig>
            </a:scene3d>
            <a:sp3d extrusionH="76200" contourW="63500" prstMaterial="dkEdge">
              <a:bevelT w="101600" h="101600" prst="slope"/>
              <a:extrusionClr>
                <a:schemeClr val="bg1"/>
              </a:extrusionClr>
              <a:contourClr>
                <a:schemeClr val="accent1"/>
              </a:contourClr>
            </a:sp3d>
          </p:spPr>
          <p:style>
            <a:lnRef idx="1">
              <a:schemeClr val="accent1"/>
            </a:lnRef>
            <a:fillRef idx="2">
              <a:schemeClr val="accent1"/>
            </a:fillRef>
            <a:effectRef idx="1">
              <a:schemeClr val="accent1"/>
            </a:effectRef>
            <a:fontRef idx="minor">
              <a:schemeClr val="dk1"/>
            </a:fontRef>
          </p:style>
          <p:txBody>
            <a:bodyPr rtlCol="0" anchor="ctr">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2" name="Text Box 13"/>
            <p:cNvSpPr txBox="1">
              <a:spLocks noChangeArrowheads="1"/>
            </p:cNvSpPr>
            <p:nvPr/>
          </p:nvSpPr>
          <p:spPr bwMode="auto">
            <a:xfrm>
              <a:off x="7472534" y="2412178"/>
              <a:ext cx="806414" cy="525016"/>
            </a:xfrm>
            <a:prstGeom prst="rect">
              <a:avLst/>
            </a:prstGeom>
            <a:noFill/>
            <a:ln w="9525" algn="ctr">
              <a:noFill/>
              <a:miter lim="800000"/>
              <a:headEnd/>
              <a:tailEnd/>
            </a:ln>
            <a:effectLst/>
          </p:spPr>
          <p:txBody>
            <a:bodyPr wrap="square" anchor="ctr" anchorCtr="0">
              <a:noAutofit/>
            </a:bodyPr>
            <a:lstStyle/>
            <a:p>
              <a:pPr algn="ctr" eaLnBrk="0" hangingPunct="0">
                <a:spcBef>
                  <a:spcPts val="600"/>
                </a:spcBef>
              </a:pPr>
              <a:r>
                <a:rPr lang="zh-CN" altLang="en-US" sz="2000" b="1" dirty="0"/>
                <a:t>技术团队</a:t>
              </a:r>
              <a:endParaRPr lang="en-US" altLang="zh-CN" sz="2000" b="1" dirty="0"/>
            </a:p>
          </p:txBody>
        </p:sp>
      </p:grpSp>
      <p:grpSp>
        <p:nvGrpSpPr>
          <p:cNvPr id="31" name="Group 30"/>
          <p:cNvGrpSpPr/>
          <p:nvPr/>
        </p:nvGrpSpPr>
        <p:grpSpPr>
          <a:xfrm>
            <a:off x="6387221" y="1928802"/>
            <a:ext cx="1857187" cy="3708000"/>
            <a:chOff x="7018485" y="1928802"/>
            <a:chExt cx="1857187" cy="3708000"/>
          </a:xfrm>
        </p:grpSpPr>
        <p:sp>
          <p:nvSpPr>
            <p:cNvPr id="32" name="AutoShape 7"/>
            <p:cNvSpPr>
              <a:spLocks noChangeArrowheads="1"/>
            </p:cNvSpPr>
            <p:nvPr/>
          </p:nvSpPr>
          <p:spPr bwMode="gray">
            <a:xfrm rot="5400000">
              <a:off x="6121672" y="2882802"/>
              <a:ext cx="3708000" cy="1800000"/>
            </a:xfrm>
            <a:prstGeom prst="roundRect">
              <a:avLst>
                <a:gd name="adj" fmla="val 19894"/>
              </a:avLst>
            </a:prstGeom>
            <a:gradFill rotWithShape="1">
              <a:gsLst>
                <a:gs pos="0">
                  <a:srgbClr val="F8F8F8">
                    <a:gamma/>
                    <a:shade val="77647"/>
                    <a:invGamma/>
                    <a:alpha val="98000"/>
                  </a:srgbClr>
                </a:gs>
                <a:gs pos="50000">
                  <a:srgbClr val="F8F8F8"/>
                </a:gs>
                <a:gs pos="100000">
                  <a:srgbClr val="F8F8F8">
                    <a:gamma/>
                    <a:shade val="77647"/>
                    <a:invGamma/>
                    <a:alpha val="98000"/>
                  </a:srgbClr>
                </a:gs>
              </a:gsLst>
              <a:lin ang="5400000" scaled="1"/>
            </a:gradFill>
            <a:ln w="38100" algn="ctr">
              <a:solidFill>
                <a:srgbClr val="808080"/>
              </a:solidFill>
              <a:round/>
              <a:headEnd/>
              <a:tailEnd/>
            </a:ln>
            <a:effectLst>
              <a:prstShdw prst="shdw12" dist="88900" dir="10800000">
                <a:srgbClr val="1C1C1C">
                  <a:alpha val="50000"/>
                </a:srgbClr>
              </a:prstShdw>
            </a:effectLst>
          </p:spPr>
          <p:txBody>
            <a:bodyPr wrap="none" anchor="ctr"/>
            <a:lstStyle/>
            <a:p>
              <a:endParaRPr lang="en-US"/>
            </a:p>
          </p:txBody>
        </p:sp>
        <p:sp>
          <p:nvSpPr>
            <p:cNvPr id="33" name="Text Box 8"/>
            <p:cNvSpPr txBox="1">
              <a:spLocks noChangeArrowheads="1"/>
            </p:cNvSpPr>
            <p:nvPr/>
          </p:nvSpPr>
          <p:spPr bwMode="gray">
            <a:xfrm>
              <a:off x="7018485" y="4051289"/>
              <a:ext cx="1714512" cy="1384995"/>
            </a:xfrm>
            <a:prstGeom prst="rect">
              <a:avLst/>
            </a:prstGeom>
            <a:noFill/>
            <a:ln w="9525" algn="ctr">
              <a:noFill/>
              <a:miter lim="800000"/>
              <a:headEnd/>
              <a:tailEnd/>
            </a:ln>
            <a:effectLst/>
          </p:spPr>
          <p:txBody>
            <a:bodyPr wrap="square">
              <a:spAutoFit/>
            </a:bodyPr>
            <a:lstStyle/>
            <a:p>
              <a:pPr algn="ctr" eaLnBrk="0" hangingPunct="0"/>
              <a:r>
                <a:rPr lang="zh-CN" altLang="en-US" sz="1400" b="1" dirty="0" smtClean="0">
                  <a:solidFill>
                    <a:srgbClr val="1C1C1C"/>
                  </a:solidFill>
                </a:rPr>
                <a:t>经验丰富的</a:t>
              </a:r>
              <a:r>
                <a:rPr lang="en-US" altLang="zh-CN" sz="1400" b="1" dirty="0" smtClean="0">
                  <a:solidFill>
                    <a:srgbClr val="1C1C1C"/>
                  </a:solidFill>
                </a:rPr>
                <a:t>CRM</a:t>
              </a:r>
              <a:r>
                <a:rPr lang="zh-CN" altLang="en-US" sz="1400" b="1" dirty="0" smtClean="0">
                  <a:solidFill>
                    <a:srgbClr val="1C1C1C"/>
                  </a:solidFill>
                </a:rPr>
                <a:t>专家及电子商务专家，可以制定丰富多样的活动采集数据、分析数据并最终实现转化</a:t>
              </a:r>
              <a:endParaRPr lang="en-US" sz="1400" b="1" dirty="0">
                <a:solidFill>
                  <a:srgbClr val="1C1C1C"/>
                </a:solidFill>
              </a:endParaRPr>
            </a:p>
          </p:txBody>
        </p:sp>
        <p:pic>
          <p:nvPicPr>
            <p:cNvPr id="34" name="Picture 17" descr="O_chevron001"/>
            <p:cNvPicPr>
              <a:picLocks noChangeAspect="1" noChangeArrowheads="1"/>
            </p:cNvPicPr>
            <p:nvPr/>
          </p:nvPicPr>
          <p:blipFill>
            <a:blip r:embed="rId2"/>
            <a:srcRect/>
            <a:stretch>
              <a:fillRect/>
            </a:stretch>
          </p:blipFill>
          <p:spPr bwMode="auto">
            <a:xfrm>
              <a:off x="7669366" y="3522652"/>
              <a:ext cx="412750" cy="363537"/>
            </a:xfrm>
            <a:prstGeom prst="rect">
              <a:avLst/>
            </a:prstGeom>
            <a:noFill/>
          </p:spPr>
        </p:pic>
        <p:sp>
          <p:nvSpPr>
            <p:cNvPr id="35" name="Oval 34"/>
            <p:cNvSpPr/>
            <p:nvPr/>
          </p:nvSpPr>
          <p:spPr>
            <a:xfrm>
              <a:off x="7335741" y="2134686"/>
              <a:ext cx="1080000" cy="1080000"/>
            </a:xfrm>
            <a:prstGeom prst="ellipse">
              <a:avLst/>
            </a:prstGeom>
            <a:effectLst>
              <a:glow rad="228600">
                <a:schemeClr val="accent1">
                  <a:satMod val="175000"/>
                  <a:alpha val="40000"/>
                </a:schemeClr>
              </a:glow>
              <a:outerShdw blurRad="50800" dist="38100" dir="2700000" algn="tl" rotWithShape="0">
                <a:prstClr val="black">
                  <a:alpha val="40000"/>
                </a:prstClr>
              </a:outerShdw>
              <a:softEdge rad="63500"/>
            </a:effectLst>
            <a:scene3d>
              <a:camera prst="orthographicFront"/>
              <a:lightRig rig="twoPt" dir="tl">
                <a:rot lat="0" lon="0" rev="6600000"/>
              </a:lightRig>
            </a:scene3d>
            <a:sp3d extrusionH="76200" contourW="63500" prstMaterial="dkEdge">
              <a:bevelT w="101600" h="101600" prst="slope"/>
              <a:extrusionClr>
                <a:schemeClr val="bg1"/>
              </a:extrusionClr>
              <a:contourClr>
                <a:schemeClr val="accent1"/>
              </a:contourClr>
            </a:sp3d>
          </p:spPr>
          <p:style>
            <a:lnRef idx="1">
              <a:schemeClr val="accent1"/>
            </a:lnRef>
            <a:fillRef idx="2">
              <a:schemeClr val="accent1"/>
            </a:fillRef>
            <a:effectRef idx="1">
              <a:schemeClr val="accent1"/>
            </a:effectRef>
            <a:fontRef idx="minor">
              <a:schemeClr val="dk1"/>
            </a:fontRef>
          </p:style>
          <p:txBody>
            <a:bodyPr rtlCol="0" anchor="ctr">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6" name="Text Box 13"/>
            <p:cNvSpPr txBox="1">
              <a:spLocks noChangeArrowheads="1"/>
            </p:cNvSpPr>
            <p:nvPr/>
          </p:nvSpPr>
          <p:spPr bwMode="auto">
            <a:xfrm>
              <a:off x="7472534" y="2412178"/>
              <a:ext cx="806414" cy="525016"/>
            </a:xfrm>
            <a:prstGeom prst="rect">
              <a:avLst/>
            </a:prstGeom>
            <a:noFill/>
            <a:ln w="9525" algn="ctr">
              <a:noFill/>
              <a:miter lim="800000"/>
              <a:headEnd/>
              <a:tailEnd/>
            </a:ln>
            <a:effectLst/>
          </p:spPr>
          <p:txBody>
            <a:bodyPr wrap="square" anchor="ctr" anchorCtr="0">
              <a:noAutofit/>
            </a:bodyPr>
            <a:lstStyle/>
            <a:p>
              <a:pPr algn="ctr" eaLnBrk="0" hangingPunct="0">
                <a:spcBef>
                  <a:spcPts val="600"/>
                </a:spcBef>
              </a:pPr>
              <a:r>
                <a:rPr lang="zh-CN" altLang="en-US" sz="2000" b="1" dirty="0" smtClean="0"/>
                <a:t>数据分析团队</a:t>
              </a:r>
              <a:endParaRPr lang="en-US" sz="2000" b="1" dirty="0"/>
            </a:p>
          </p:txBody>
        </p:sp>
      </p:grpSp>
      <p:sp>
        <p:nvSpPr>
          <p:cNvPr id="3" name="Title 2"/>
          <p:cNvSpPr>
            <a:spLocks noGrp="1"/>
          </p:cNvSpPr>
          <p:nvPr>
            <p:ph type="title"/>
          </p:nvPr>
        </p:nvSpPr>
        <p:spPr/>
        <p:txBody>
          <a:bodyPr/>
          <a:lstStyle/>
          <a:p>
            <a:r>
              <a:rPr lang="zh-CN" altLang="en-US" dirty="0"/>
              <a:t>我们</a:t>
            </a:r>
            <a:r>
              <a:rPr lang="zh-CN" altLang="en-US" b="1" dirty="0" smtClean="0"/>
              <a:t>有完整而专业的运作团队</a:t>
            </a:r>
            <a:endParaRPr lang="en-US" b="1" dirty="0"/>
          </a:p>
        </p:txBody>
      </p:sp>
      <p:sp>
        <p:nvSpPr>
          <p:cNvPr id="4" name="Slide Number Placeholder 3"/>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25</a:t>
            </a:fld>
            <a:endParaRPr lang="en-US" altLang="zh-CN" dirty="0">
              <a:solidFill>
                <a:srgbClr val="333333"/>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4643438" y="3745410"/>
            <a:ext cx="4320000" cy="2520000"/>
          </a:xfrm>
          <a:prstGeom prst="rect">
            <a:avLst/>
          </a:prstGeom>
          <a:solidFill>
            <a:schemeClr val="accent2">
              <a:lumMod val="20000"/>
              <a:lumOff val="80000"/>
            </a:schemeClr>
          </a:solidFill>
          <a:ln w="127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4643438" y="1071546"/>
            <a:ext cx="4320000" cy="2520000"/>
          </a:xfrm>
          <a:prstGeom prst="rect">
            <a:avLst/>
          </a:prstGeom>
          <a:solidFill>
            <a:schemeClr val="accent2">
              <a:lumMod val="20000"/>
              <a:lumOff val="80000"/>
            </a:schemeClr>
          </a:solidFill>
          <a:ln w="127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142844" y="3745410"/>
            <a:ext cx="4320000" cy="2520000"/>
          </a:xfrm>
          <a:prstGeom prst="rect">
            <a:avLst/>
          </a:prstGeom>
          <a:solidFill>
            <a:schemeClr val="accent2">
              <a:lumMod val="20000"/>
              <a:lumOff val="80000"/>
            </a:schemeClr>
          </a:solidFill>
          <a:ln w="127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142844" y="1071546"/>
            <a:ext cx="4320000" cy="2520000"/>
          </a:xfrm>
          <a:prstGeom prst="rect">
            <a:avLst/>
          </a:prstGeom>
          <a:solidFill>
            <a:schemeClr val="accent2">
              <a:lumMod val="20000"/>
              <a:lumOff val="80000"/>
            </a:schemeClr>
          </a:solidFill>
          <a:ln w="12700"/>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642910" y="228600"/>
            <a:ext cx="6929486" cy="487363"/>
          </a:xfrm>
        </p:spPr>
        <p:txBody>
          <a:bodyPr/>
          <a:lstStyle/>
          <a:p>
            <a:r>
              <a:rPr lang="zh-CN" altLang="en-US" dirty="0" smtClean="0"/>
              <a:t>我们有高效、灵活、安全的系统可供借鉴</a:t>
            </a:r>
            <a:endParaRPr lang="zh-CN" altLang="en-US" dirty="0"/>
          </a:p>
        </p:txBody>
      </p:sp>
      <p:sp>
        <p:nvSpPr>
          <p:cNvPr id="4" name="灯片编号占位符 3"/>
          <p:cNvSpPr>
            <a:spLocks noGrp="1"/>
          </p:cNvSpPr>
          <p:nvPr>
            <p:ph type="sldNum" sz="quarter" idx="12"/>
          </p:nvPr>
        </p:nvSpPr>
        <p:spPr>
          <a:xfrm>
            <a:off x="142844" y="6500834"/>
            <a:ext cx="381000" cy="244475"/>
          </a:xfrm>
        </p:spPr>
        <p:txBody>
          <a:bodyPr/>
          <a:lstStyle/>
          <a:p>
            <a:pPr>
              <a:defRPr/>
            </a:pPr>
            <a:fld id="{842B3DA0-0C8F-47FB-A0DE-CF8DCBCB337C}" type="slidenum">
              <a:rPr lang="en-US" altLang="zh-CN" smtClean="0">
                <a:solidFill>
                  <a:srgbClr val="333333"/>
                </a:solidFill>
              </a:rPr>
              <a:pPr>
                <a:defRPr/>
              </a:pPr>
              <a:t>26</a:t>
            </a:fld>
            <a:endParaRPr lang="en-US" altLang="zh-CN" dirty="0">
              <a:solidFill>
                <a:srgbClr val="333333"/>
              </a:solidFill>
            </a:endParaRPr>
          </a:p>
        </p:txBody>
      </p:sp>
      <p:sp>
        <p:nvSpPr>
          <p:cNvPr id="9" name="TextBox 8"/>
          <p:cNvSpPr txBox="1"/>
          <p:nvPr/>
        </p:nvSpPr>
        <p:spPr>
          <a:xfrm>
            <a:off x="142844" y="1071546"/>
            <a:ext cx="4320000" cy="360000"/>
          </a:xfrm>
          <a:prstGeom prst="rect">
            <a:avLst/>
          </a:prstGeom>
          <a:solidFill>
            <a:schemeClr val="accent1"/>
          </a:solidFill>
          <a:effectLst>
            <a:outerShdw blurRad="50800" dist="38100" dir="2700000" algn="tl" rotWithShape="0">
              <a:prstClr val="black">
                <a:alpha val="40000"/>
              </a:prstClr>
            </a:outerShdw>
          </a:effectLst>
        </p:spPr>
        <p:txBody>
          <a:bodyPr wrap="square" rtlCol="0">
            <a:noAutofit/>
          </a:bodyPr>
          <a:lstStyle/>
          <a:p>
            <a:pPr lvl="0" algn="ctr"/>
            <a:r>
              <a:rPr lang="zh-CN" altLang="en-US" b="1" dirty="0" smtClean="0">
                <a:solidFill>
                  <a:schemeClr val="bg1"/>
                </a:solidFill>
              </a:rPr>
              <a:t>跨平台的高效对接集成</a:t>
            </a:r>
          </a:p>
        </p:txBody>
      </p:sp>
      <p:sp>
        <p:nvSpPr>
          <p:cNvPr id="10" name="矩形 9"/>
          <p:cNvSpPr/>
          <p:nvPr/>
        </p:nvSpPr>
        <p:spPr>
          <a:xfrm>
            <a:off x="847674" y="2368535"/>
            <a:ext cx="657234" cy="365130"/>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CRM</a:t>
            </a:r>
            <a:endParaRPr lang="zh-CN" altLang="en-US" sz="1600" dirty="0" smtClean="0"/>
          </a:p>
        </p:txBody>
      </p:sp>
      <p:sp>
        <p:nvSpPr>
          <p:cNvPr id="11" name="矩形 10"/>
          <p:cNvSpPr/>
          <p:nvPr/>
        </p:nvSpPr>
        <p:spPr>
          <a:xfrm>
            <a:off x="2125629" y="2368535"/>
            <a:ext cx="620721" cy="365130"/>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ERP</a:t>
            </a:r>
            <a:endParaRPr lang="zh-CN" altLang="en-US" sz="1600" dirty="0" smtClean="0"/>
          </a:p>
        </p:txBody>
      </p:sp>
      <p:sp>
        <p:nvSpPr>
          <p:cNvPr id="12" name="圆角矩形 11"/>
          <p:cNvSpPr/>
          <p:nvPr/>
        </p:nvSpPr>
        <p:spPr>
          <a:xfrm>
            <a:off x="555570" y="1747814"/>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淘宝</a:t>
            </a:r>
            <a:endParaRPr lang="zh-CN" altLang="en-US" sz="1600" dirty="0"/>
          </a:p>
        </p:txBody>
      </p:sp>
      <p:sp>
        <p:nvSpPr>
          <p:cNvPr id="13" name="圆角矩形 12"/>
          <p:cNvSpPr/>
          <p:nvPr/>
        </p:nvSpPr>
        <p:spPr>
          <a:xfrm>
            <a:off x="1431882" y="1747814"/>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官网</a:t>
            </a:r>
          </a:p>
        </p:txBody>
      </p:sp>
      <p:sp>
        <p:nvSpPr>
          <p:cNvPr id="14" name="圆角矩形 13"/>
          <p:cNvSpPr/>
          <p:nvPr/>
        </p:nvSpPr>
        <p:spPr>
          <a:xfrm>
            <a:off x="2271681" y="1747814"/>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社区</a:t>
            </a:r>
          </a:p>
        </p:txBody>
      </p:sp>
      <p:sp>
        <p:nvSpPr>
          <p:cNvPr id="15" name="圆角矩形 14"/>
          <p:cNvSpPr/>
          <p:nvPr/>
        </p:nvSpPr>
        <p:spPr>
          <a:xfrm>
            <a:off x="3147993" y="1747814"/>
            <a:ext cx="876312"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实体</a:t>
            </a:r>
            <a:r>
              <a:rPr lang="zh-CN" altLang="en-US" sz="1600" dirty="0" smtClean="0"/>
              <a:t>店</a:t>
            </a:r>
          </a:p>
        </p:txBody>
      </p:sp>
      <p:sp>
        <p:nvSpPr>
          <p:cNvPr id="16" name="圆角矩形 15"/>
          <p:cNvSpPr/>
          <p:nvPr/>
        </p:nvSpPr>
        <p:spPr>
          <a:xfrm>
            <a:off x="519057" y="2989256"/>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电话</a:t>
            </a:r>
          </a:p>
        </p:txBody>
      </p:sp>
      <p:sp>
        <p:nvSpPr>
          <p:cNvPr id="17" name="圆角矩形 16"/>
          <p:cNvSpPr/>
          <p:nvPr/>
        </p:nvSpPr>
        <p:spPr>
          <a:xfrm>
            <a:off x="1358856" y="2989256"/>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短信</a:t>
            </a:r>
          </a:p>
        </p:txBody>
      </p:sp>
      <p:sp>
        <p:nvSpPr>
          <p:cNvPr id="18" name="圆角矩形 17"/>
          <p:cNvSpPr/>
          <p:nvPr/>
        </p:nvSpPr>
        <p:spPr>
          <a:xfrm>
            <a:off x="2271681" y="2989256"/>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邮箱</a:t>
            </a:r>
          </a:p>
        </p:txBody>
      </p:sp>
      <p:cxnSp>
        <p:nvCxnSpPr>
          <p:cNvPr id="20" name="直接箭头连接符 19"/>
          <p:cNvCxnSpPr>
            <a:stCxn id="12" idx="2"/>
            <a:endCxn id="10" idx="0"/>
          </p:cNvCxnSpPr>
          <p:nvPr/>
        </p:nvCxnSpPr>
        <p:spPr>
          <a:xfrm rot="16200000" flipH="1">
            <a:off x="902443" y="2094687"/>
            <a:ext cx="292104" cy="2555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3" idx="2"/>
            <a:endCxn id="10" idx="0"/>
          </p:cNvCxnSpPr>
          <p:nvPr/>
        </p:nvCxnSpPr>
        <p:spPr>
          <a:xfrm rot="5400000">
            <a:off x="1340600" y="1912123"/>
            <a:ext cx="292104" cy="6207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1" idx="1"/>
            <a:endCxn id="10" idx="3"/>
          </p:cNvCxnSpPr>
          <p:nvPr/>
        </p:nvCxnSpPr>
        <p:spPr>
          <a:xfrm rot="10800000">
            <a:off x="1504909" y="2551100"/>
            <a:ext cx="62072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4" idx="2"/>
            <a:endCxn id="10" idx="0"/>
          </p:cNvCxnSpPr>
          <p:nvPr/>
        </p:nvCxnSpPr>
        <p:spPr>
          <a:xfrm rot="5400000">
            <a:off x="1760499" y="1492223"/>
            <a:ext cx="292104" cy="1460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5" idx="2"/>
            <a:endCxn id="10" idx="0"/>
          </p:cNvCxnSpPr>
          <p:nvPr/>
        </p:nvCxnSpPr>
        <p:spPr>
          <a:xfrm rot="5400000">
            <a:off x="2235168" y="1017554"/>
            <a:ext cx="292104" cy="24098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0" idx="2"/>
            <a:endCxn id="16" idx="0"/>
          </p:cNvCxnSpPr>
          <p:nvPr/>
        </p:nvCxnSpPr>
        <p:spPr>
          <a:xfrm rot="5400000">
            <a:off x="902444" y="2715408"/>
            <a:ext cx="255591" cy="292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0" idx="2"/>
            <a:endCxn id="17" idx="0"/>
          </p:cNvCxnSpPr>
          <p:nvPr/>
        </p:nvCxnSpPr>
        <p:spPr>
          <a:xfrm rot="16200000" flipH="1">
            <a:off x="1322343" y="2587612"/>
            <a:ext cx="255591" cy="5476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0" idx="2"/>
            <a:endCxn id="18" idx="0"/>
          </p:cNvCxnSpPr>
          <p:nvPr/>
        </p:nvCxnSpPr>
        <p:spPr>
          <a:xfrm rot="16200000" flipH="1">
            <a:off x="1778756" y="2131200"/>
            <a:ext cx="255591" cy="1460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643438" y="1071546"/>
            <a:ext cx="4320000" cy="360000"/>
          </a:xfrm>
          <a:prstGeom prst="rect">
            <a:avLst/>
          </a:prstGeom>
          <a:solidFill>
            <a:schemeClr val="accent1"/>
          </a:solidFill>
          <a:effectLst>
            <a:outerShdw blurRad="50800" dist="38100" dir="2700000" algn="tl" rotWithShape="0">
              <a:prstClr val="black">
                <a:alpha val="40000"/>
              </a:prstClr>
            </a:outerShdw>
          </a:effectLst>
        </p:spPr>
        <p:txBody>
          <a:bodyPr wrap="square" rtlCol="0">
            <a:noAutofit/>
          </a:bodyPr>
          <a:lstStyle/>
          <a:p>
            <a:pPr algn="ctr"/>
            <a:r>
              <a:rPr lang="en-US" altLang="zh-CN" b="1" dirty="0" smtClean="0">
                <a:solidFill>
                  <a:schemeClr val="bg1"/>
                </a:solidFill>
              </a:rPr>
              <a:t>CRM</a:t>
            </a:r>
            <a:r>
              <a:rPr lang="zh-CN" altLang="en-US" b="1" dirty="0" smtClean="0">
                <a:solidFill>
                  <a:schemeClr val="bg1"/>
                </a:solidFill>
              </a:rPr>
              <a:t>与</a:t>
            </a:r>
            <a:r>
              <a:rPr lang="en-US" altLang="zh-CN" b="1" dirty="0" smtClean="0">
                <a:solidFill>
                  <a:schemeClr val="bg1"/>
                </a:solidFill>
              </a:rPr>
              <a:t>ERP</a:t>
            </a:r>
            <a:r>
              <a:rPr lang="zh-CN" altLang="en-US" b="1" dirty="0" smtClean="0">
                <a:solidFill>
                  <a:schemeClr val="bg1"/>
                </a:solidFill>
              </a:rPr>
              <a:t>流程相互融合</a:t>
            </a:r>
            <a:endParaRPr lang="zh-CN" altLang="en-US" b="1" dirty="0">
              <a:solidFill>
                <a:schemeClr val="bg1"/>
              </a:solidFill>
            </a:endParaRPr>
          </a:p>
        </p:txBody>
      </p:sp>
      <p:sp>
        <p:nvSpPr>
          <p:cNvPr id="36" name="圆角矩形 35"/>
          <p:cNvSpPr/>
          <p:nvPr/>
        </p:nvSpPr>
        <p:spPr>
          <a:xfrm>
            <a:off x="4791078" y="1711301"/>
            <a:ext cx="3943404"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smtClean="0"/>
              <a:t>CRM     </a:t>
            </a:r>
            <a:r>
              <a:rPr lang="zh-CN" altLang="en-US" sz="1600" dirty="0" smtClean="0"/>
              <a:t>礼券管理   积分管理    会员管理</a:t>
            </a:r>
          </a:p>
        </p:txBody>
      </p:sp>
      <p:sp>
        <p:nvSpPr>
          <p:cNvPr id="37" name="圆角矩形 36"/>
          <p:cNvSpPr/>
          <p:nvPr/>
        </p:nvSpPr>
        <p:spPr>
          <a:xfrm>
            <a:off x="5849954" y="2952743"/>
            <a:ext cx="2921042"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smtClean="0"/>
              <a:t>订单管理 仓库管理 客服  </a:t>
            </a:r>
            <a:r>
              <a:rPr lang="en-US" altLang="zh-CN" sz="1600" dirty="0" smtClean="0"/>
              <a:t>ERP</a:t>
            </a:r>
            <a:endParaRPr lang="zh-CN" altLang="en-US" sz="1600" dirty="0" smtClean="0"/>
          </a:p>
        </p:txBody>
      </p:sp>
      <p:cxnSp>
        <p:nvCxnSpPr>
          <p:cNvPr id="39" name="直接箭头连接符 38"/>
          <p:cNvCxnSpPr/>
          <p:nvPr/>
        </p:nvCxnSpPr>
        <p:spPr>
          <a:xfrm rot="5400000">
            <a:off x="5905519" y="2496328"/>
            <a:ext cx="912034" cy="7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069033" y="2076431"/>
            <a:ext cx="328617" cy="830997"/>
          </a:xfrm>
          <a:prstGeom prst="rect">
            <a:avLst/>
          </a:prstGeom>
          <a:noFill/>
        </p:spPr>
        <p:txBody>
          <a:bodyPr wrap="square" rtlCol="0">
            <a:spAutoFit/>
          </a:bodyPr>
          <a:lstStyle/>
          <a:p>
            <a:r>
              <a:rPr lang="zh-CN" altLang="en-US" sz="1200" dirty="0" smtClean="0"/>
              <a:t>送抵用券</a:t>
            </a:r>
            <a:endParaRPr lang="zh-CN" altLang="en-US" sz="1200" dirty="0"/>
          </a:p>
        </p:txBody>
      </p:sp>
      <p:sp>
        <p:nvSpPr>
          <p:cNvPr id="47" name="TextBox 46"/>
          <p:cNvSpPr txBox="1"/>
          <p:nvPr/>
        </p:nvSpPr>
        <p:spPr>
          <a:xfrm>
            <a:off x="6580215" y="2076431"/>
            <a:ext cx="328617" cy="830997"/>
          </a:xfrm>
          <a:prstGeom prst="rect">
            <a:avLst/>
          </a:prstGeom>
          <a:noFill/>
        </p:spPr>
        <p:txBody>
          <a:bodyPr wrap="square" rtlCol="0">
            <a:spAutoFit/>
          </a:bodyPr>
          <a:lstStyle/>
          <a:p>
            <a:r>
              <a:rPr lang="zh-CN" altLang="en-US" sz="1200" dirty="0" smtClean="0"/>
              <a:t>核算积分</a:t>
            </a:r>
            <a:endParaRPr lang="zh-CN" altLang="en-US" sz="1200" dirty="0"/>
          </a:p>
        </p:txBody>
      </p:sp>
      <p:cxnSp>
        <p:nvCxnSpPr>
          <p:cNvPr id="49" name="直接箭头连接符 48"/>
          <p:cNvCxnSpPr/>
          <p:nvPr/>
        </p:nvCxnSpPr>
        <p:spPr>
          <a:xfrm rot="5400000" flipH="1" flipV="1">
            <a:off x="6415907" y="2496331"/>
            <a:ext cx="912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091397" y="2076431"/>
            <a:ext cx="328617" cy="830997"/>
          </a:xfrm>
          <a:prstGeom prst="rect">
            <a:avLst/>
          </a:prstGeom>
          <a:noFill/>
        </p:spPr>
        <p:txBody>
          <a:bodyPr wrap="square" rtlCol="0">
            <a:spAutoFit/>
          </a:bodyPr>
          <a:lstStyle/>
          <a:p>
            <a:r>
              <a:rPr lang="zh-CN" altLang="en-US" sz="1200" dirty="0" smtClean="0"/>
              <a:t>赠送礼品</a:t>
            </a:r>
            <a:endParaRPr lang="zh-CN" altLang="en-US" sz="1200" dirty="0"/>
          </a:p>
        </p:txBody>
      </p:sp>
      <p:cxnSp>
        <p:nvCxnSpPr>
          <p:cNvPr id="51" name="直接箭头连接符 50"/>
          <p:cNvCxnSpPr/>
          <p:nvPr/>
        </p:nvCxnSpPr>
        <p:spPr>
          <a:xfrm rot="5400000">
            <a:off x="6927085" y="2495537"/>
            <a:ext cx="912034" cy="7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639092" y="2076431"/>
            <a:ext cx="328617" cy="830997"/>
          </a:xfrm>
          <a:prstGeom prst="rect">
            <a:avLst/>
          </a:prstGeom>
          <a:noFill/>
        </p:spPr>
        <p:txBody>
          <a:bodyPr wrap="square" rtlCol="0">
            <a:spAutoFit/>
          </a:bodyPr>
          <a:lstStyle/>
          <a:p>
            <a:r>
              <a:rPr lang="zh-CN" altLang="en-US" sz="1200" dirty="0" smtClean="0"/>
              <a:t>评估销量</a:t>
            </a:r>
            <a:endParaRPr lang="zh-CN" altLang="en-US" sz="1200" dirty="0"/>
          </a:p>
        </p:txBody>
      </p:sp>
      <p:cxnSp>
        <p:nvCxnSpPr>
          <p:cNvPr id="53" name="直接箭头连接符 52"/>
          <p:cNvCxnSpPr/>
          <p:nvPr/>
        </p:nvCxnSpPr>
        <p:spPr>
          <a:xfrm rot="5400000" flipH="1" flipV="1">
            <a:off x="7473989" y="2495536"/>
            <a:ext cx="912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42844" y="5926520"/>
            <a:ext cx="4320000" cy="360000"/>
          </a:xfrm>
          <a:prstGeom prst="rect">
            <a:avLst/>
          </a:prstGeom>
          <a:solidFill>
            <a:schemeClr val="accent1"/>
          </a:solidFill>
          <a:effectLst>
            <a:outerShdw blurRad="50800" dist="38100" dir="2700000" algn="tl" rotWithShape="0">
              <a:prstClr val="black">
                <a:alpha val="40000"/>
              </a:prstClr>
            </a:outerShdw>
          </a:effectLst>
        </p:spPr>
        <p:txBody>
          <a:bodyPr wrap="square" rtlCol="0">
            <a:noAutofit/>
          </a:bodyPr>
          <a:lstStyle/>
          <a:p>
            <a:pPr algn="ctr"/>
            <a:r>
              <a:rPr lang="zh-CN" altLang="en-US" b="1" dirty="0" smtClean="0">
                <a:solidFill>
                  <a:schemeClr val="bg1"/>
                </a:solidFill>
              </a:rPr>
              <a:t>架构灵活支持多方平台</a:t>
            </a:r>
            <a:endParaRPr lang="zh-CN" altLang="en-US" b="1" dirty="0">
              <a:solidFill>
                <a:schemeClr val="bg1"/>
              </a:solidFill>
            </a:endParaRPr>
          </a:p>
        </p:txBody>
      </p:sp>
      <p:sp>
        <p:nvSpPr>
          <p:cNvPr id="55" name="TextBox 54"/>
          <p:cNvSpPr txBox="1"/>
          <p:nvPr/>
        </p:nvSpPr>
        <p:spPr>
          <a:xfrm>
            <a:off x="4643438" y="5921535"/>
            <a:ext cx="4320000" cy="360000"/>
          </a:xfrm>
          <a:prstGeom prst="rect">
            <a:avLst/>
          </a:prstGeom>
          <a:solidFill>
            <a:schemeClr val="accent1"/>
          </a:solidFill>
          <a:effectLst>
            <a:outerShdw blurRad="50800" dist="38100" dir="2700000" algn="tl" rotWithShape="0">
              <a:prstClr val="black">
                <a:alpha val="40000"/>
              </a:prstClr>
            </a:outerShdw>
          </a:effectLst>
        </p:spPr>
        <p:txBody>
          <a:bodyPr wrap="square" rtlCol="0">
            <a:noAutofit/>
          </a:bodyPr>
          <a:lstStyle/>
          <a:p>
            <a:pPr algn="ctr"/>
            <a:r>
              <a:rPr lang="zh-CN" altLang="en-US" b="1" dirty="0" smtClean="0">
                <a:solidFill>
                  <a:schemeClr val="bg1"/>
                </a:solidFill>
              </a:rPr>
              <a:t>业务系统安全稳定可靠</a:t>
            </a:r>
            <a:endParaRPr lang="zh-CN" altLang="en-US" b="1" dirty="0">
              <a:solidFill>
                <a:schemeClr val="bg1"/>
              </a:solidFill>
            </a:endParaRPr>
          </a:p>
        </p:txBody>
      </p:sp>
      <p:sp>
        <p:nvSpPr>
          <p:cNvPr id="58" name="圆角矩形 57"/>
          <p:cNvSpPr/>
          <p:nvPr/>
        </p:nvSpPr>
        <p:spPr>
          <a:xfrm>
            <a:off x="701622" y="3910041"/>
            <a:ext cx="2300319" cy="255591"/>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用户界面</a:t>
            </a:r>
          </a:p>
        </p:txBody>
      </p:sp>
      <p:sp>
        <p:nvSpPr>
          <p:cNvPr id="59" name="圆角矩形 58"/>
          <p:cNvSpPr/>
          <p:nvPr/>
        </p:nvSpPr>
        <p:spPr>
          <a:xfrm>
            <a:off x="701622" y="4311684"/>
            <a:ext cx="2300319" cy="255591"/>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Web</a:t>
            </a:r>
            <a:r>
              <a:rPr lang="zh-CN" altLang="en-US" sz="1200" dirty="0" smtClean="0"/>
              <a:t>控制</a:t>
            </a:r>
          </a:p>
        </p:txBody>
      </p:sp>
      <p:sp>
        <p:nvSpPr>
          <p:cNvPr id="60" name="圆角矩形 59"/>
          <p:cNvSpPr/>
          <p:nvPr/>
        </p:nvSpPr>
        <p:spPr>
          <a:xfrm>
            <a:off x="701622" y="4713327"/>
            <a:ext cx="2300319" cy="584208"/>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u="sng" dirty="0" smtClean="0"/>
              <a:t>服务接口</a:t>
            </a:r>
            <a:endParaRPr lang="en-US" altLang="zh-CN" sz="1200" u="sng" dirty="0" smtClean="0"/>
          </a:p>
          <a:p>
            <a:pPr algn="ctr"/>
            <a:r>
              <a:rPr lang="zh-CN" altLang="en-US" sz="1200" u="sng" dirty="0" smtClean="0"/>
              <a:t>业务控制</a:t>
            </a:r>
            <a:endParaRPr lang="en-US" altLang="zh-CN" sz="1200" u="sng" dirty="0" smtClean="0"/>
          </a:p>
          <a:p>
            <a:pPr algn="ctr"/>
            <a:r>
              <a:rPr lang="zh-CN" altLang="en-US" sz="1200" u="sng" dirty="0" smtClean="0"/>
              <a:t>业务逻辑</a:t>
            </a:r>
          </a:p>
        </p:txBody>
      </p:sp>
      <p:sp>
        <p:nvSpPr>
          <p:cNvPr id="62" name="圆角矩形 61"/>
          <p:cNvSpPr/>
          <p:nvPr/>
        </p:nvSpPr>
        <p:spPr>
          <a:xfrm>
            <a:off x="701622" y="5443587"/>
            <a:ext cx="2300319" cy="255591"/>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数据存取层</a:t>
            </a:r>
          </a:p>
        </p:txBody>
      </p:sp>
      <p:sp>
        <p:nvSpPr>
          <p:cNvPr id="63" name="圆角矩形 62"/>
          <p:cNvSpPr/>
          <p:nvPr/>
        </p:nvSpPr>
        <p:spPr>
          <a:xfrm>
            <a:off x="3367071" y="5261023"/>
            <a:ext cx="730260" cy="438156"/>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DB</a:t>
            </a:r>
            <a:endParaRPr lang="zh-CN" altLang="en-US" sz="1200" dirty="0" smtClean="0"/>
          </a:p>
        </p:txBody>
      </p:sp>
      <p:cxnSp>
        <p:nvCxnSpPr>
          <p:cNvPr id="65" name="直接箭头连接符 64"/>
          <p:cNvCxnSpPr>
            <a:endCxn id="62" idx="3"/>
          </p:cNvCxnSpPr>
          <p:nvPr/>
        </p:nvCxnSpPr>
        <p:spPr>
          <a:xfrm rot="10800000">
            <a:off x="3001942" y="5571383"/>
            <a:ext cx="401643" cy="18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2" idx="0"/>
            <a:endCxn id="60" idx="2"/>
          </p:cNvCxnSpPr>
          <p:nvPr/>
        </p:nvCxnSpPr>
        <p:spPr>
          <a:xfrm rot="5400000" flipH="1" flipV="1">
            <a:off x="1778756" y="5370561"/>
            <a:ext cx="1460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0" idx="0"/>
            <a:endCxn id="59" idx="2"/>
          </p:cNvCxnSpPr>
          <p:nvPr/>
        </p:nvCxnSpPr>
        <p:spPr>
          <a:xfrm rot="5400000" flipH="1" flipV="1">
            <a:off x="1778756" y="4640301"/>
            <a:ext cx="1460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59" idx="0"/>
            <a:endCxn id="58" idx="2"/>
          </p:cNvCxnSpPr>
          <p:nvPr/>
        </p:nvCxnSpPr>
        <p:spPr>
          <a:xfrm rot="5400000" flipH="1" flipV="1">
            <a:off x="1778756" y="4238658"/>
            <a:ext cx="1460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4843437" y="5230216"/>
            <a:ext cx="912825" cy="547695"/>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服务器负荷高</a:t>
            </a:r>
          </a:p>
        </p:txBody>
      </p:sp>
      <p:sp>
        <p:nvSpPr>
          <p:cNvPr id="78" name="矩形 77"/>
          <p:cNvSpPr/>
          <p:nvPr/>
        </p:nvSpPr>
        <p:spPr>
          <a:xfrm>
            <a:off x="5975340" y="5230216"/>
            <a:ext cx="876312" cy="547695"/>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订单同步异常</a:t>
            </a:r>
          </a:p>
        </p:txBody>
      </p:sp>
      <p:sp>
        <p:nvSpPr>
          <p:cNvPr id="79" name="矩形 78"/>
          <p:cNvSpPr/>
          <p:nvPr/>
        </p:nvSpPr>
        <p:spPr>
          <a:xfrm>
            <a:off x="7070730" y="5230216"/>
            <a:ext cx="693748" cy="547695"/>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库存不足</a:t>
            </a:r>
          </a:p>
        </p:txBody>
      </p:sp>
      <p:sp>
        <p:nvSpPr>
          <p:cNvPr id="80" name="矩形 79"/>
          <p:cNvSpPr/>
          <p:nvPr/>
        </p:nvSpPr>
        <p:spPr>
          <a:xfrm>
            <a:off x="7983555" y="5230216"/>
            <a:ext cx="803287" cy="547695"/>
          </a:xfrm>
          <a:prstGeom prst="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财务等式检测</a:t>
            </a:r>
          </a:p>
        </p:txBody>
      </p:sp>
      <p:sp>
        <p:nvSpPr>
          <p:cNvPr id="81" name="圆角矩形 80"/>
          <p:cNvSpPr/>
          <p:nvPr/>
        </p:nvSpPr>
        <p:spPr>
          <a:xfrm>
            <a:off x="5938827" y="4536469"/>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邮箱</a:t>
            </a:r>
          </a:p>
        </p:txBody>
      </p:sp>
      <p:sp>
        <p:nvSpPr>
          <p:cNvPr id="82" name="圆角矩形 81"/>
          <p:cNvSpPr/>
          <p:nvPr/>
        </p:nvSpPr>
        <p:spPr>
          <a:xfrm>
            <a:off x="7289808" y="4536469"/>
            <a:ext cx="730260" cy="328617"/>
          </a:xfrm>
          <a:prstGeom prst="roundRect">
            <a:avLst/>
          </a:prstGeom>
          <a:solidFill>
            <a:srgbClr val="66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t>短信</a:t>
            </a:r>
          </a:p>
        </p:txBody>
      </p:sp>
      <p:pic>
        <p:nvPicPr>
          <p:cNvPr id="83" name="Picture 2"/>
          <p:cNvPicPr>
            <a:picLocks noChangeAspect="1" noChangeArrowheads="1"/>
          </p:cNvPicPr>
          <p:nvPr/>
        </p:nvPicPr>
        <p:blipFill>
          <a:blip r:embed="rId2"/>
          <a:srcRect/>
          <a:stretch>
            <a:fillRect/>
          </a:stretch>
        </p:blipFill>
        <p:spPr bwMode="auto">
          <a:xfrm>
            <a:off x="6778626" y="3842723"/>
            <a:ext cx="365130" cy="474668"/>
          </a:xfrm>
          <a:prstGeom prst="rect">
            <a:avLst/>
          </a:prstGeom>
          <a:noFill/>
          <a:ln w="9525">
            <a:noFill/>
            <a:miter lim="800000"/>
            <a:headEnd/>
            <a:tailEnd/>
          </a:ln>
          <a:effectLst/>
        </p:spPr>
      </p:pic>
      <p:cxnSp>
        <p:nvCxnSpPr>
          <p:cNvPr id="85" name="直接箭头连接符 84"/>
          <p:cNvCxnSpPr>
            <a:stCxn id="77" idx="0"/>
            <a:endCxn id="81" idx="2"/>
          </p:cNvCxnSpPr>
          <p:nvPr/>
        </p:nvCxnSpPr>
        <p:spPr>
          <a:xfrm rot="5400000" flipH="1" flipV="1">
            <a:off x="5619338" y="4545598"/>
            <a:ext cx="365130" cy="10041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78" idx="0"/>
            <a:endCxn id="81" idx="2"/>
          </p:cNvCxnSpPr>
          <p:nvPr/>
        </p:nvCxnSpPr>
        <p:spPr>
          <a:xfrm rot="16200000" flipV="1">
            <a:off x="6176162" y="4992881"/>
            <a:ext cx="365130" cy="1095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79" idx="0"/>
            <a:endCxn id="81" idx="2"/>
          </p:cNvCxnSpPr>
          <p:nvPr/>
        </p:nvCxnSpPr>
        <p:spPr>
          <a:xfrm rot="16200000" flipV="1">
            <a:off x="6678216" y="4490827"/>
            <a:ext cx="365130" cy="11136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80" idx="0"/>
            <a:endCxn id="82" idx="2"/>
          </p:cNvCxnSpPr>
          <p:nvPr/>
        </p:nvCxnSpPr>
        <p:spPr>
          <a:xfrm rot="16200000" flipV="1">
            <a:off x="7837504" y="4682520"/>
            <a:ext cx="365130" cy="7302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82" idx="0"/>
            <a:endCxn id="83" idx="2"/>
          </p:cNvCxnSpPr>
          <p:nvPr/>
        </p:nvCxnSpPr>
        <p:spPr>
          <a:xfrm rot="16200000" flipV="1">
            <a:off x="7198526" y="4080056"/>
            <a:ext cx="219078" cy="6937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81" idx="0"/>
            <a:endCxn id="83" idx="2"/>
          </p:cNvCxnSpPr>
          <p:nvPr/>
        </p:nvCxnSpPr>
        <p:spPr>
          <a:xfrm rot="5400000" flipH="1" flipV="1">
            <a:off x="6523035" y="4098313"/>
            <a:ext cx="219078" cy="657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79" idx="0"/>
            <a:endCxn id="82" idx="2"/>
          </p:cNvCxnSpPr>
          <p:nvPr/>
        </p:nvCxnSpPr>
        <p:spPr>
          <a:xfrm rot="5400000" flipH="1" flipV="1">
            <a:off x="7353706" y="4928984"/>
            <a:ext cx="365130" cy="237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78" idx="0"/>
            <a:endCxn id="82" idx="2"/>
          </p:cNvCxnSpPr>
          <p:nvPr/>
        </p:nvCxnSpPr>
        <p:spPr>
          <a:xfrm rot="5400000" flipH="1" flipV="1">
            <a:off x="6851652" y="4426930"/>
            <a:ext cx="365130" cy="12414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80" idx="0"/>
            <a:endCxn id="81" idx="2"/>
          </p:cNvCxnSpPr>
          <p:nvPr/>
        </p:nvCxnSpPr>
        <p:spPr>
          <a:xfrm rot="16200000" flipV="1">
            <a:off x="7162013" y="4007030"/>
            <a:ext cx="365130" cy="20812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77" idx="0"/>
            <a:endCxn id="82" idx="2"/>
          </p:cNvCxnSpPr>
          <p:nvPr/>
        </p:nvCxnSpPr>
        <p:spPr>
          <a:xfrm rot="5400000" flipH="1" flipV="1">
            <a:off x="6294829" y="3870107"/>
            <a:ext cx="365130" cy="2355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3821995" y="3202811"/>
            <a:ext cx="1500198" cy="92869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乐其</a:t>
            </a:r>
            <a:endParaRPr lang="en-US" altLang="zh-CN" b="1" dirty="0" smtClean="0"/>
          </a:p>
          <a:p>
            <a:pPr algn="ctr"/>
            <a:r>
              <a:rPr lang="zh-CN" altLang="en-US" b="1" dirty="0" smtClean="0"/>
              <a:t>系统优势</a:t>
            </a:r>
            <a:endParaRPr lang="en-US"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a:spLocks noChangeArrowheads="1"/>
          </p:cNvSpPr>
          <p:nvPr/>
        </p:nvSpPr>
        <p:spPr bwMode="auto">
          <a:xfrm>
            <a:off x="785786" y="4194180"/>
            <a:ext cx="6072230" cy="592142"/>
          </a:xfrm>
          <a:prstGeom prst="roundRect">
            <a:avLst>
              <a:gd name="adj" fmla="val 16667"/>
            </a:avLst>
          </a:prstGeom>
          <a:solidFill>
            <a:schemeClr val="accent1">
              <a:lumMod val="20000"/>
              <a:lumOff val="80000"/>
            </a:schemeClr>
          </a:solidFill>
          <a:ln w="9525" algn="ctr">
            <a:solidFill>
              <a:schemeClr val="accent1"/>
            </a:solidFill>
            <a:round/>
            <a:headEnd/>
            <a:tailEnd/>
          </a:ln>
          <a:effectLst>
            <a:outerShdw blurRad="50800" dist="38100" dir="2700000" algn="tl" rotWithShape="0">
              <a:prstClr val="black">
                <a:alpha val="40000"/>
              </a:prstClr>
            </a:outerShdw>
          </a:effectLst>
        </p:spPr>
        <p:txBody>
          <a:bodyPr wrap="none"/>
          <a:lstStyle/>
          <a:p>
            <a:pPr algn="ctr">
              <a:spcBef>
                <a:spcPct val="50000"/>
              </a:spcBef>
            </a:pPr>
            <a:endParaRPr lang="en-US" altLang="zh-CN">
              <a:solidFill>
                <a:srgbClr val="3C3C3C"/>
              </a:solidFill>
            </a:endParaRPr>
          </a:p>
        </p:txBody>
      </p:sp>
      <p:sp>
        <p:nvSpPr>
          <p:cNvPr id="212994" name="Rectangle 2"/>
          <p:cNvSpPr>
            <a:spLocks noGrp="1" noChangeArrowheads="1"/>
          </p:cNvSpPr>
          <p:nvPr>
            <p:ph type="title"/>
          </p:nvPr>
        </p:nvSpPr>
        <p:spPr>
          <a:xfrm>
            <a:off x="902958" y="260648"/>
            <a:ext cx="7086600" cy="487363"/>
          </a:xfrm>
        </p:spPr>
        <p:txBody>
          <a:bodyPr/>
          <a:lstStyle/>
          <a:p>
            <a:pPr>
              <a:defRPr/>
            </a:pPr>
            <a:r>
              <a:rPr lang="zh-CN" altLang="en-US" sz="2800" b="1" dirty="0" smtClean="0">
                <a:latin typeface="+mj-ea"/>
              </a:rPr>
              <a:t>目录</a:t>
            </a:r>
            <a:endParaRPr lang="en-US" altLang="zh-CN" sz="2800" b="1" dirty="0">
              <a:latin typeface="+mj-ea"/>
            </a:endParaRPr>
          </a:p>
        </p:txBody>
      </p:sp>
      <p:sp>
        <p:nvSpPr>
          <p:cNvPr id="212995" name="Rectangle 3"/>
          <p:cNvSpPr>
            <a:spLocks noGrp="1" noChangeArrowheads="1"/>
          </p:cNvSpPr>
          <p:nvPr>
            <p:ph type="body" idx="1"/>
          </p:nvPr>
        </p:nvSpPr>
        <p:spPr bwMode="gray">
          <a:xfrm>
            <a:off x="971600" y="1916832"/>
            <a:ext cx="6643734" cy="2232248"/>
          </a:xfrm>
          <a:noFill/>
        </p:spPr>
        <p:txBody>
          <a:bodyPr/>
          <a:lstStyle/>
          <a:p>
            <a:pPr>
              <a:lnSpc>
                <a:spcPct val="150000"/>
              </a:lnSpc>
            </a:pPr>
            <a:r>
              <a:rPr lang="zh-CN" altLang="en-US" b="1" dirty="0"/>
              <a:t>聚芳永官网项目</a:t>
            </a:r>
            <a:r>
              <a:rPr lang="zh-CN" altLang="en-US" b="1" dirty="0" smtClean="0"/>
              <a:t>背景理解</a:t>
            </a:r>
            <a:endParaRPr lang="en-US" altLang="zh-CN" b="1" dirty="0" smtClean="0"/>
          </a:p>
          <a:p>
            <a:pPr>
              <a:lnSpc>
                <a:spcPct val="150000"/>
              </a:lnSpc>
            </a:pPr>
            <a:r>
              <a:rPr lang="zh-CN" altLang="en-US" b="1" dirty="0"/>
              <a:t>聚芳永官网</a:t>
            </a:r>
            <a:r>
              <a:rPr lang="zh-CN" altLang="en-US" b="1" dirty="0" smtClean="0">
                <a:ea typeface="宋体" pitchFamily="2" charset="-122"/>
              </a:rPr>
              <a:t>项目</a:t>
            </a:r>
            <a:r>
              <a:rPr lang="zh-CN" altLang="en-US" b="1" dirty="0" smtClean="0">
                <a:ea typeface="宋体" pitchFamily="2" charset="-122"/>
              </a:rPr>
              <a:t>发展建议</a:t>
            </a:r>
            <a:endParaRPr lang="en-US" altLang="zh-CN" b="1" dirty="0" smtClean="0">
              <a:ea typeface="宋体" pitchFamily="2" charset="-122"/>
            </a:endParaRPr>
          </a:p>
          <a:p>
            <a:pPr>
              <a:lnSpc>
                <a:spcPct val="150000"/>
              </a:lnSpc>
            </a:pPr>
            <a:r>
              <a:rPr lang="en-US" altLang="zh-CN" b="1" dirty="0" smtClean="0">
                <a:ea typeface="宋体" pitchFamily="2" charset="-122"/>
              </a:rPr>
              <a:t> </a:t>
            </a:r>
            <a:r>
              <a:rPr lang="zh-CN" altLang="en-US" b="1" dirty="0" smtClean="0">
                <a:ea typeface="宋体" pitchFamily="2" charset="-122"/>
              </a:rPr>
              <a:t>为什么选择乐其</a:t>
            </a:r>
            <a:endParaRPr lang="en-US" altLang="zh-CN" b="1" dirty="0" smtClean="0">
              <a:ea typeface="宋体" pitchFamily="2" charset="-122"/>
            </a:endParaRPr>
          </a:p>
          <a:p>
            <a:pPr>
              <a:lnSpc>
                <a:spcPct val="150000"/>
              </a:lnSpc>
            </a:pPr>
            <a:r>
              <a:rPr lang="zh-CN" altLang="en-US" b="1" dirty="0" smtClean="0">
                <a:ea typeface="宋体" pitchFamily="2" charset="-122"/>
              </a:rPr>
              <a:t> 项目报价</a:t>
            </a:r>
            <a:r>
              <a:rPr lang="en-US" altLang="zh-CN" dirty="0" smtClean="0">
                <a:ea typeface="宋体" pitchFamily="2" charset="-122"/>
              </a:rPr>
              <a:t/>
            </a:r>
            <a:br>
              <a:rPr lang="en-US" altLang="zh-CN" dirty="0" smtClean="0">
                <a:ea typeface="宋体" pitchFamily="2" charset="-122"/>
              </a:rPr>
            </a:br>
            <a:endParaRPr lang="en-US" altLang="zh-CN" dirty="0" smtClean="0">
              <a:ea typeface="宋体" pitchFamily="2" charset="-122"/>
            </a:endParaRPr>
          </a:p>
        </p:txBody>
      </p:sp>
      <p:sp>
        <p:nvSpPr>
          <p:cNvPr id="6" name="Slide Number Placeholder 5"/>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27</a:t>
            </a:fld>
            <a:endParaRPr lang="en-US" altLang="zh-CN" dirty="0">
              <a:solidFill>
                <a:srgbClr val="333333"/>
              </a:solidFill>
            </a:endParaRPr>
          </a:p>
        </p:txBody>
      </p:sp>
    </p:spTree>
    <p:extLst>
      <p:ext uri="{BB962C8B-B14F-4D97-AF65-F5344CB8AC3E}">
        <p14:creationId xmlns:p14="http://schemas.microsoft.com/office/powerpoint/2010/main" val="27265755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项目报价</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1596047719"/>
              </p:ext>
            </p:extLst>
          </p:nvPr>
        </p:nvGraphicFramePr>
        <p:xfrm>
          <a:off x="1783235" y="1214438"/>
          <a:ext cx="5568006" cy="5105401"/>
        </p:xfrm>
        <a:graphic>
          <a:graphicData uri="http://schemas.openxmlformats.org/drawingml/2006/table">
            <a:tbl>
              <a:tblPr firstRow="1" firstCol="1" bandRow="1">
                <a:tableStyleId>{5C22544A-7EE6-4342-B048-85BDC9FD1C3A}</a:tableStyleId>
              </a:tblPr>
              <a:tblGrid>
                <a:gridCol w="1081862"/>
                <a:gridCol w="1086863"/>
                <a:gridCol w="1086863"/>
                <a:gridCol w="1156209"/>
                <a:gridCol w="1156209"/>
              </a:tblGrid>
              <a:tr h="188391">
                <a:tc gridSpan="5">
                  <a:txBody>
                    <a:bodyPr/>
                    <a:lstStyle/>
                    <a:p>
                      <a:pPr algn="ctr">
                        <a:spcAft>
                          <a:spcPts val="0"/>
                        </a:spcAft>
                      </a:pPr>
                      <a:r>
                        <a:rPr lang="zh-CN" sz="1200" kern="0" dirty="0">
                          <a:effectLst/>
                        </a:rPr>
                        <a:t>聚芳永开发运维报价</a:t>
                      </a:r>
                      <a:endParaRPr lang="zh-CN" sz="700" kern="100" dirty="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19314">
                <a:tc>
                  <a:txBody>
                    <a:bodyPr/>
                    <a:lstStyle/>
                    <a:p>
                      <a:endParaRPr lang="zh-CN" sz="700">
                        <a:effectLst/>
                        <a:latin typeface="Times New Roman"/>
                      </a:endParaRPr>
                    </a:p>
                  </a:txBody>
                  <a:tcPr marL="45214" marR="45214" marT="0" marB="0" anchor="ctr"/>
                </a:tc>
                <a:tc>
                  <a:txBody>
                    <a:bodyPr/>
                    <a:lstStyle/>
                    <a:p>
                      <a:endParaRPr lang="zh-CN" sz="700">
                        <a:effectLst/>
                        <a:latin typeface="Times New Roman"/>
                      </a:endParaRPr>
                    </a:p>
                  </a:txBody>
                  <a:tcPr marL="45214" marR="45214" marT="0" marB="0" anchor="ctr"/>
                </a:tc>
                <a:tc>
                  <a:txBody>
                    <a:bodyPr/>
                    <a:lstStyle/>
                    <a:p>
                      <a:endParaRPr lang="zh-CN" sz="700">
                        <a:effectLst/>
                        <a:latin typeface="Times New Roman"/>
                      </a:endParaRPr>
                    </a:p>
                  </a:txBody>
                  <a:tcPr marL="45214" marR="45214" marT="0" marB="0" anchor="ctr"/>
                </a:tc>
                <a:tc>
                  <a:txBody>
                    <a:bodyPr/>
                    <a:lstStyle/>
                    <a:p>
                      <a:endParaRPr lang="zh-CN" sz="700" dirty="0">
                        <a:effectLst/>
                        <a:latin typeface="Times New Roman"/>
                      </a:endParaRPr>
                    </a:p>
                  </a:txBody>
                  <a:tcPr marL="45214" marR="45214" marT="0" marB="0" anchor="ctr"/>
                </a:tc>
                <a:tc>
                  <a:txBody>
                    <a:bodyPr/>
                    <a:lstStyle/>
                    <a:p>
                      <a:endParaRPr lang="zh-CN" sz="700">
                        <a:effectLst/>
                        <a:latin typeface="Times New Roman"/>
                      </a:endParaRPr>
                    </a:p>
                  </a:txBody>
                  <a:tcPr marL="45214" marR="45214" marT="0" marB="0" anchor="ctr"/>
                </a:tc>
              </a:tr>
              <a:tr h="301426">
                <a:tc gridSpan="5">
                  <a:txBody>
                    <a:bodyPr/>
                    <a:lstStyle/>
                    <a:p>
                      <a:pPr algn="l">
                        <a:spcAft>
                          <a:spcPts val="0"/>
                        </a:spcAft>
                      </a:pPr>
                      <a:r>
                        <a:rPr lang="zh-CN" sz="900" kern="0">
                          <a:effectLst/>
                        </a:rPr>
                        <a:t>一次性费用</a:t>
                      </a:r>
                      <a:endParaRPr lang="zh-CN" sz="700" kern="10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76307">
                <a:tc gridSpan="3">
                  <a:txBody>
                    <a:bodyPr/>
                    <a:lstStyle/>
                    <a:p>
                      <a:pPr algn="ctr">
                        <a:spcAft>
                          <a:spcPts val="0"/>
                        </a:spcAft>
                      </a:pPr>
                      <a:r>
                        <a:rPr lang="zh-CN" sz="800" kern="0">
                          <a:effectLst/>
                        </a:rPr>
                        <a:t>项目</a:t>
                      </a:r>
                      <a:endParaRPr lang="zh-CN" sz="700" kern="10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800" kern="0">
                          <a:effectLst/>
                        </a:rPr>
                        <a:t> </a:t>
                      </a:r>
                      <a:r>
                        <a:rPr lang="zh-CN" sz="800" kern="0">
                          <a:effectLst/>
                        </a:rPr>
                        <a:t>金额 </a:t>
                      </a:r>
                      <a:endParaRPr lang="zh-CN" sz="700" kern="100">
                        <a:effectLst/>
                        <a:latin typeface="Times New Roman"/>
                        <a:ea typeface="宋体"/>
                      </a:endParaRPr>
                    </a:p>
                  </a:txBody>
                  <a:tcPr marL="45214" marR="45214" marT="0" marB="0" anchor="ctr"/>
                </a:tc>
                <a:tc>
                  <a:txBody>
                    <a:bodyPr/>
                    <a:lstStyle/>
                    <a:p>
                      <a:pPr algn="ctr">
                        <a:spcAft>
                          <a:spcPts val="0"/>
                        </a:spcAft>
                      </a:pPr>
                      <a:r>
                        <a:rPr lang="zh-CN" sz="800" kern="0">
                          <a:effectLst/>
                        </a:rPr>
                        <a:t>备注</a:t>
                      </a:r>
                      <a:endParaRPr lang="zh-CN" sz="700" kern="100">
                        <a:effectLst/>
                        <a:latin typeface="Times New Roman"/>
                        <a:ea typeface="宋体"/>
                      </a:endParaRPr>
                    </a:p>
                  </a:txBody>
                  <a:tcPr marL="45214" marR="45214" marT="0" marB="0" anchor="ctr"/>
                </a:tc>
              </a:tr>
              <a:tr h="602852">
                <a:tc rowSpan="4">
                  <a:txBody>
                    <a:bodyPr/>
                    <a:lstStyle/>
                    <a:p>
                      <a:pPr algn="ctr">
                        <a:spcAft>
                          <a:spcPts val="0"/>
                        </a:spcAft>
                      </a:pPr>
                      <a:r>
                        <a:rPr lang="zh-CN" sz="700" kern="0">
                          <a:effectLst/>
                        </a:rPr>
                        <a:t>基本项</a:t>
                      </a:r>
                      <a:endParaRPr lang="zh-CN" sz="700" kern="100">
                        <a:effectLst/>
                        <a:latin typeface="Times New Roman"/>
                        <a:ea typeface="宋体"/>
                      </a:endParaRPr>
                    </a:p>
                  </a:txBody>
                  <a:tcPr marL="45214" marR="45214" marT="0" marB="0" anchor="ctr"/>
                </a:tc>
                <a:tc gridSpan="2">
                  <a:txBody>
                    <a:bodyPr/>
                    <a:lstStyle/>
                    <a:p>
                      <a:pPr algn="ctr">
                        <a:spcAft>
                          <a:spcPts val="0"/>
                        </a:spcAft>
                      </a:pPr>
                      <a:r>
                        <a:rPr lang="zh-CN" sz="700" kern="0">
                          <a:effectLst/>
                        </a:rPr>
                        <a:t>网站设计</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ctr">
                        <a:spcAft>
                          <a:spcPts val="0"/>
                        </a:spcAft>
                      </a:pPr>
                      <a:r>
                        <a:rPr lang="en-US" sz="700" kern="0">
                          <a:effectLst/>
                        </a:rPr>
                        <a:t> ¥          10,000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包含以下页面的视觉设计和交互设计：</a:t>
                      </a:r>
                      <a:r>
                        <a:rPr lang="en-US" sz="700" kern="0">
                          <a:effectLst/>
                        </a:rPr>
                        <a:t/>
                      </a:r>
                      <a:br>
                        <a:rPr lang="en-US" sz="700" kern="0">
                          <a:effectLst/>
                        </a:rPr>
                      </a:br>
                      <a:r>
                        <a:rPr lang="en-US" sz="700" kern="0">
                          <a:effectLst/>
                        </a:rPr>
                        <a:t>1)</a:t>
                      </a:r>
                      <a:r>
                        <a:rPr lang="zh-CN" sz="700" kern="0">
                          <a:effectLst/>
                        </a:rPr>
                        <a:t>首页；</a:t>
                      </a:r>
                      <a:r>
                        <a:rPr lang="en-US" sz="700" kern="0">
                          <a:effectLst/>
                        </a:rPr>
                        <a:t> 2</a:t>
                      </a:r>
                      <a:r>
                        <a:rPr lang="zh-CN" sz="700" kern="0">
                          <a:effectLst/>
                        </a:rPr>
                        <a:t>）类目相关页面；</a:t>
                      </a:r>
                      <a:r>
                        <a:rPr lang="en-US" sz="700" kern="0">
                          <a:effectLst/>
                        </a:rPr>
                        <a:t>3)</a:t>
                      </a:r>
                      <a:r>
                        <a:rPr lang="zh-CN" sz="700" kern="0">
                          <a:effectLst/>
                        </a:rPr>
                        <a:t>商品相关页面；</a:t>
                      </a:r>
                      <a:endParaRPr lang="zh-CN" sz="700" kern="100">
                        <a:effectLst/>
                        <a:latin typeface="Times New Roman"/>
                        <a:ea typeface="宋体"/>
                      </a:endParaRPr>
                    </a:p>
                  </a:txBody>
                  <a:tcPr marL="45214" marR="45214" marT="0" marB="0" anchor="ctr"/>
                </a:tc>
              </a:tr>
              <a:tr h="508656">
                <a:tc vMerge="1">
                  <a:txBody>
                    <a:bodyPr/>
                    <a:lstStyle/>
                    <a:p>
                      <a:endParaRPr lang="zh-CN" altLang="en-US"/>
                    </a:p>
                  </a:txBody>
                  <a:tcPr/>
                </a:tc>
                <a:tc gridSpan="2">
                  <a:txBody>
                    <a:bodyPr/>
                    <a:lstStyle/>
                    <a:p>
                      <a:pPr algn="ctr">
                        <a:spcAft>
                          <a:spcPts val="0"/>
                        </a:spcAft>
                      </a:pPr>
                      <a:r>
                        <a:rPr lang="zh-CN" sz="700" kern="0">
                          <a:effectLst/>
                        </a:rPr>
                        <a:t>网站前端页面开发</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ctr">
                        <a:spcAft>
                          <a:spcPts val="0"/>
                        </a:spcAft>
                      </a:pPr>
                      <a:r>
                        <a:rPr lang="en-US" sz="700" kern="0">
                          <a:effectLst/>
                        </a:rPr>
                        <a:t> ¥        </a:t>
                      </a:r>
                      <a:r>
                        <a:rPr lang="en-US" sz="700" kern="0" baseline="0" smtClean="0">
                          <a:effectLst/>
                        </a:rPr>
                        <a:t> </a:t>
                      </a:r>
                      <a:r>
                        <a:rPr lang="en-US" sz="700" kern="0" smtClean="0">
                          <a:effectLst/>
                        </a:rPr>
                        <a:t> </a:t>
                      </a:r>
                      <a:r>
                        <a:rPr lang="en-US" sz="700" kern="0">
                          <a:effectLst/>
                        </a:rPr>
                        <a:t>10,000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包含以下页面的开发：</a:t>
                      </a:r>
                      <a:r>
                        <a:rPr lang="en-US" sz="700" kern="0">
                          <a:effectLst/>
                        </a:rPr>
                        <a:t/>
                      </a:r>
                      <a:br>
                        <a:rPr lang="en-US" sz="700" kern="0">
                          <a:effectLst/>
                        </a:rPr>
                      </a:br>
                      <a:r>
                        <a:rPr lang="en-US" sz="700" kern="0">
                          <a:effectLst/>
                        </a:rPr>
                        <a:t>1)</a:t>
                      </a:r>
                      <a:r>
                        <a:rPr lang="zh-CN" sz="700" kern="0">
                          <a:effectLst/>
                        </a:rPr>
                        <a:t>商品相关页面；</a:t>
                      </a:r>
                      <a:r>
                        <a:rPr lang="en-US" sz="700" kern="0">
                          <a:effectLst/>
                        </a:rPr>
                        <a:t>2)</a:t>
                      </a:r>
                      <a:r>
                        <a:rPr lang="zh-CN" sz="700" kern="0">
                          <a:effectLst/>
                        </a:rPr>
                        <a:t>类目相关页面；</a:t>
                      </a:r>
                      <a:r>
                        <a:rPr lang="en-US" sz="700" kern="0">
                          <a:effectLst/>
                        </a:rPr>
                        <a:t>3</a:t>
                      </a:r>
                      <a:r>
                        <a:rPr lang="zh-CN" sz="700" kern="0">
                          <a:effectLst/>
                        </a:rPr>
                        <a:t>）会员相关页面；</a:t>
                      </a:r>
                      <a:r>
                        <a:rPr lang="en-US" sz="700" kern="0">
                          <a:effectLst/>
                        </a:rPr>
                        <a:t>4</a:t>
                      </a:r>
                      <a:r>
                        <a:rPr lang="zh-CN" sz="700" kern="0">
                          <a:effectLst/>
                        </a:rPr>
                        <a:t>）帮助相关页面；</a:t>
                      </a:r>
                      <a:endParaRPr lang="zh-CN" sz="700" kern="100">
                        <a:effectLst/>
                        <a:latin typeface="Times New Roman"/>
                        <a:ea typeface="宋体"/>
                      </a:endParaRPr>
                    </a:p>
                  </a:txBody>
                  <a:tcPr marL="45214" marR="45214" marT="0" marB="0" anchor="ctr"/>
                </a:tc>
              </a:tr>
              <a:tr h="175832">
                <a:tc vMerge="1">
                  <a:txBody>
                    <a:bodyPr/>
                    <a:lstStyle/>
                    <a:p>
                      <a:endParaRPr lang="zh-CN" altLang="en-US"/>
                    </a:p>
                  </a:txBody>
                  <a:tcPr/>
                </a:tc>
                <a:tc>
                  <a:txBody>
                    <a:bodyPr/>
                    <a:lstStyle/>
                    <a:p>
                      <a:pPr algn="ctr">
                        <a:spcAft>
                          <a:spcPts val="0"/>
                        </a:spcAft>
                      </a:pPr>
                      <a:r>
                        <a:rPr lang="zh-CN" sz="700" kern="0">
                          <a:effectLst/>
                        </a:rPr>
                        <a:t>网站后端管理系统</a:t>
                      </a:r>
                      <a:endParaRPr lang="zh-CN" sz="700" kern="100">
                        <a:effectLst/>
                        <a:latin typeface="Times New Roman"/>
                        <a:ea typeface="宋体"/>
                      </a:endParaRPr>
                    </a:p>
                  </a:txBody>
                  <a:tcPr marL="45214" marR="45214" marT="0" marB="0" anchor="ctr"/>
                </a:tc>
                <a:tc>
                  <a:txBody>
                    <a:bodyPr/>
                    <a:lstStyle/>
                    <a:p>
                      <a:pPr algn="l">
                        <a:spcAft>
                          <a:spcPts val="0"/>
                        </a:spcAft>
                      </a:pPr>
                      <a:r>
                        <a:rPr lang="zh-CN" sz="700" kern="0">
                          <a:effectLst/>
                        </a:rPr>
                        <a:t>商品编辑模块</a:t>
                      </a:r>
                      <a:endParaRPr lang="zh-CN" sz="700" kern="100">
                        <a:effectLst/>
                        <a:latin typeface="Times New Roman"/>
                        <a:ea typeface="宋体"/>
                      </a:endParaRPr>
                    </a:p>
                  </a:txBody>
                  <a:tcPr marL="45214" marR="45214" marT="0" marB="0" anchor="ctr"/>
                </a:tc>
                <a:tc>
                  <a:txBody>
                    <a:bodyPr/>
                    <a:lstStyle/>
                    <a:p>
                      <a:pPr algn="l">
                        <a:spcAft>
                          <a:spcPts val="0"/>
                        </a:spcAft>
                      </a:pPr>
                      <a:r>
                        <a:rPr lang="en-US" sz="700" kern="0" dirty="0">
                          <a:effectLst/>
                        </a:rPr>
                        <a:t> ¥     </a:t>
                      </a:r>
                      <a:r>
                        <a:rPr lang="en-US" sz="700" kern="0" dirty="0" smtClean="0">
                          <a:effectLst/>
                        </a:rPr>
                        <a:t>30,000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　</a:t>
                      </a:r>
                      <a:endParaRPr lang="zh-CN" sz="700" kern="100">
                        <a:effectLst/>
                        <a:latin typeface="Times New Roman"/>
                        <a:ea typeface="宋体"/>
                      </a:endParaRPr>
                    </a:p>
                  </a:txBody>
                  <a:tcPr marL="45214" marR="45214" marT="0" marB="0" anchor="ctr"/>
                </a:tc>
              </a:tr>
              <a:tr h="175832">
                <a:tc vMerge="1">
                  <a:txBody>
                    <a:bodyPr/>
                    <a:lstStyle/>
                    <a:p>
                      <a:endParaRPr lang="zh-CN" altLang="en-US"/>
                    </a:p>
                  </a:txBody>
                  <a:tcPr/>
                </a:tc>
                <a:tc gridSpan="2">
                  <a:txBody>
                    <a:bodyPr/>
                    <a:lstStyle/>
                    <a:p>
                      <a:pPr algn="ctr">
                        <a:spcAft>
                          <a:spcPts val="0"/>
                        </a:spcAft>
                      </a:pPr>
                      <a:r>
                        <a:rPr lang="zh-CN" sz="700" kern="0">
                          <a:effectLst/>
                        </a:rPr>
                        <a:t>小计</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l">
                        <a:spcAft>
                          <a:spcPts val="0"/>
                        </a:spcAft>
                      </a:pPr>
                      <a:r>
                        <a:rPr lang="en-US" sz="700" kern="0" dirty="0">
                          <a:effectLst/>
                        </a:rPr>
                        <a:t> ¥     </a:t>
                      </a:r>
                      <a:r>
                        <a:rPr lang="en-US" sz="700" kern="0" dirty="0" smtClean="0">
                          <a:effectLst/>
                        </a:rPr>
                        <a:t>50,000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　</a:t>
                      </a:r>
                      <a:endParaRPr lang="zh-CN" sz="700" kern="100">
                        <a:effectLst/>
                        <a:latin typeface="Times New Roman"/>
                        <a:ea typeface="宋体"/>
                      </a:endParaRPr>
                    </a:p>
                  </a:txBody>
                  <a:tcPr marL="45214" marR="45214" marT="0" marB="0" anchor="ctr"/>
                </a:tc>
              </a:tr>
              <a:tr h="960795">
                <a:tc rowSpan="3">
                  <a:txBody>
                    <a:bodyPr/>
                    <a:lstStyle/>
                    <a:p>
                      <a:pPr algn="ctr">
                        <a:spcAft>
                          <a:spcPts val="0"/>
                        </a:spcAft>
                      </a:pPr>
                      <a:r>
                        <a:rPr lang="zh-CN" sz="700" kern="0">
                          <a:effectLst/>
                        </a:rPr>
                        <a:t>增值项</a:t>
                      </a:r>
                      <a:endParaRPr lang="zh-CN" sz="700" kern="100">
                        <a:effectLst/>
                        <a:latin typeface="Times New Roman"/>
                        <a:ea typeface="宋体"/>
                      </a:endParaRPr>
                    </a:p>
                  </a:txBody>
                  <a:tcPr marL="45214" marR="45214" marT="0" marB="0" anchor="ctr"/>
                </a:tc>
                <a:tc gridSpan="2">
                  <a:txBody>
                    <a:bodyPr/>
                    <a:lstStyle/>
                    <a:p>
                      <a:pPr algn="ctr">
                        <a:spcAft>
                          <a:spcPts val="0"/>
                        </a:spcAft>
                      </a:pPr>
                      <a:r>
                        <a:rPr lang="en-US" sz="700" kern="0">
                          <a:effectLst/>
                        </a:rPr>
                        <a:t>CRM</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l">
                        <a:spcAft>
                          <a:spcPts val="0"/>
                        </a:spcAft>
                      </a:pPr>
                      <a:r>
                        <a:rPr lang="en-US" sz="700" kern="0" dirty="0">
                          <a:effectLst/>
                        </a:rPr>
                        <a:t> ¥     </a:t>
                      </a:r>
                      <a:r>
                        <a:rPr lang="en-US" sz="700" kern="0" dirty="0" smtClean="0">
                          <a:effectLst/>
                        </a:rPr>
                        <a:t>600,000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包含常规的</a:t>
                      </a:r>
                      <a:r>
                        <a:rPr lang="en-US" sz="700" kern="0">
                          <a:effectLst/>
                        </a:rPr>
                        <a:t>CRM</a:t>
                      </a:r>
                      <a:r>
                        <a:rPr lang="zh-CN" sz="700" kern="0">
                          <a:effectLst/>
                        </a:rPr>
                        <a:t>模块，主要是会员管理和市场营销活动，具体模块待定</a:t>
                      </a:r>
                      <a:endParaRPr lang="zh-CN" sz="700" kern="100">
                        <a:effectLst/>
                        <a:latin typeface="Times New Roman"/>
                        <a:ea typeface="宋体"/>
                      </a:endParaRPr>
                    </a:p>
                  </a:txBody>
                  <a:tcPr marL="45214" marR="45214" marT="0" marB="0" anchor="ctr"/>
                </a:tc>
              </a:tr>
              <a:tr h="200951">
                <a:tc vMerge="1">
                  <a:txBody>
                    <a:bodyPr/>
                    <a:lstStyle/>
                    <a:p>
                      <a:endParaRPr lang="zh-CN" altLang="en-US"/>
                    </a:p>
                  </a:txBody>
                  <a:tcPr/>
                </a:tc>
                <a:tc gridSpan="2">
                  <a:txBody>
                    <a:bodyPr/>
                    <a:lstStyle/>
                    <a:p>
                      <a:pPr algn="ctr">
                        <a:spcAft>
                          <a:spcPts val="0"/>
                        </a:spcAft>
                      </a:pPr>
                      <a:r>
                        <a:rPr lang="zh-CN" sz="700" kern="0">
                          <a:effectLst/>
                        </a:rPr>
                        <a:t>移动版设计开发</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l">
                        <a:spcAft>
                          <a:spcPts val="0"/>
                        </a:spcAft>
                      </a:pPr>
                      <a:r>
                        <a:rPr lang="en-US" sz="700" kern="0" dirty="0">
                          <a:effectLst/>
                        </a:rPr>
                        <a:t> ¥     </a:t>
                      </a:r>
                      <a:r>
                        <a:rPr lang="en-US" sz="700" kern="0" dirty="0" smtClean="0">
                          <a:effectLst/>
                        </a:rPr>
                        <a:t>600,000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　</a:t>
                      </a:r>
                      <a:endParaRPr lang="zh-CN" sz="700" kern="100">
                        <a:effectLst/>
                        <a:latin typeface="Times New Roman"/>
                        <a:ea typeface="宋体"/>
                      </a:endParaRPr>
                    </a:p>
                  </a:txBody>
                  <a:tcPr marL="45214" marR="45214" marT="0" marB="0" anchor="ctr"/>
                </a:tc>
              </a:tr>
              <a:tr h="200951">
                <a:tc vMerge="1">
                  <a:txBody>
                    <a:bodyPr/>
                    <a:lstStyle/>
                    <a:p>
                      <a:endParaRPr lang="zh-CN" altLang="en-US"/>
                    </a:p>
                  </a:txBody>
                  <a:tcPr/>
                </a:tc>
                <a:tc gridSpan="2">
                  <a:txBody>
                    <a:bodyPr/>
                    <a:lstStyle/>
                    <a:p>
                      <a:pPr algn="ctr">
                        <a:spcAft>
                          <a:spcPts val="0"/>
                        </a:spcAft>
                      </a:pPr>
                      <a:r>
                        <a:rPr lang="zh-CN" sz="700" kern="0">
                          <a:effectLst/>
                        </a:rPr>
                        <a:t>小计</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l">
                        <a:spcAft>
                          <a:spcPts val="0"/>
                        </a:spcAft>
                      </a:pPr>
                      <a:r>
                        <a:rPr lang="en-US" sz="700" kern="0">
                          <a:effectLst/>
                        </a:rPr>
                        <a:t> ¥     1,200,000 </a:t>
                      </a:r>
                      <a:endParaRPr lang="zh-CN" sz="700" kern="100">
                        <a:effectLst/>
                        <a:latin typeface="Times New Roman"/>
                        <a:ea typeface="宋体"/>
                      </a:endParaRPr>
                    </a:p>
                  </a:txBody>
                  <a:tcPr marL="45214" marR="45214" marT="0" marB="0" anchor="ctr"/>
                </a:tc>
                <a:tc>
                  <a:txBody>
                    <a:bodyPr/>
                    <a:lstStyle/>
                    <a:p>
                      <a:pPr algn="l">
                        <a:spcAft>
                          <a:spcPts val="0"/>
                        </a:spcAft>
                      </a:pPr>
                      <a:r>
                        <a:rPr lang="zh-CN" sz="700" kern="0">
                          <a:effectLst/>
                        </a:rPr>
                        <a:t>　</a:t>
                      </a:r>
                      <a:endParaRPr lang="zh-CN" sz="700" kern="100">
                        <a:effectLst/>
                        <a:latin typeface="Times New Roman"/>
                        <a:ea typeface="宋体"/>
                      </a:endParaRPr>
                    </a:p>
                  </a:txBody>
                  <a:tcPr marL="45214" marR="45214" marT="0" marB="0" anchor="ctr"/>
                </a:tc>
              </a:tr>
              <a:tr h="200951">
                <a:tc gridSpan="3">
                  <a:txBody>
                    <a:bodyPr/>
                    <a:lstStyle/>
                    <a:p>
                      <a:pPr algn="ctr">
                        <a:spcAft>
                          <a:spcPts val="0"/>
                        </a:spcAft>
                      </a:pPr>
                      <a:r>
                        <a:rPr lang="zh-CN" sz="700" kern="0">
                          <a:effectLst/>
                        </a:rPr>
                        <a:t>总计</a:t>
                      </a:r>
                      <a:endParaRPr lang="zh-CN" sz="700" kern="10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a:txBody>
                    <a:bodyPr/>
                    <a:lstStyle/>
                    <a:p>
                      <a:pPr algn="l">
                        <a:spcAft>
                          <a:spcPts val="0"/>
                        </a:spcAft>
                      </a:pPr>
                      <a:r>
                        <a:rPr lang="en-US" sz="700" kern="0">
                          <a:effectLst/>
                        </a:rPr>
                        <a:t> ¥     1,250,000 </a:t>
                      </a:r>
                      <a:endParaRPr lang="zh-CN" sz="700" kern="100">
                        <a:effectLst/>
                        <a:latin typeface="Times New Roman"/>
                        <a:ea typeface="宋体"/>
                      </a:endParaRPr>
                    </a:p>
                  </a:txBody>
                  <a:tcPr marL="45214" marR="45214" marT="0" marB="0" anchor="ctr"/>
                </a:tc>
                <a:tc>
                  <a:txBody>
                    <a:bodyPr/>
                    <a:lstStyle/>
                    <a:p>
                      <a:pPr algn="l">
                        <a:spcAft>
                          <a:spcPts val="0"/>
                        </a:spcAft>
                      </a:pPr>
                      <a:r>
                        <a:rPr lang="zh-CN" sz="700" kern="0">
                          <a:effectLst/>
                        </a:rPr>
                        <a:t>　</a:t>
                      </a:r>
                      <a:endParaRPr lang="zh-CN" sz="700" kern="100">
                        <a:effectLst/>
                        <a:latin typeface="Times New Roman"/>
                        <a:ea typeface="宋体"/>
                      </a:endParaRPr>
                    </a:p>
                  </a:txBody>
                  <a:tcPr marL="45214" marR="45214" marT="0" marB="0" anchor="ctr"/>
                </a:tc>
              </a:tr>
              <a:tr h="288866">
                <a:tc gridSpan="5">
                  <a:txBody>
                    <a:bodyPr/>
                    <a:lstStyle/>
                    <a:p>
                      <a:pPr algn="l">
                        <a:spcAft>
                          <a:spcPts val="0"/>
                        </a:spcAft>
                      </a:pPr>
                      <a:r>
                        <a:rPr lang="zh-CN" sz="900" kern="0">
                          <a:effectLst/>
                        </a:rPr>
                        <a:t>运营性费用</a:t>
                      </a:r>
                      <a:endParaRPr lang="zh-CN" sz="700" kern="10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07230">
                <a:tc gridSpan="2">
                  <a:txBody>
                    <a:bodyPr/>
                    <a:lstStyle/>
                    <a:p>
                      <a:pPr algn="ctr">
                        <a:spcAft>
                          <a:spcPts val="0"/>
                        </a:spcAft>
                      </a:pPr>
                      <a:r>
                        <a:rPr lang="zh-CN" sz="800" kern="0">
                          <a:effectLst/>
                        </a:rPr>
                        <a:t>项目</a:t>
                      </a:r>
                      <a:endParaRPr lang="zh-CN" sz="700" kern="100">
                        <a:effectLst/>
                        <a:latin typeface="Times New Roman"/>
                        <a:ea typeface="宋体"/>
                      </a:endParaRPr>
                    </a:p>
                  </a:txBody>
                  <a:tcPr marL="45214" marR="45214" marT="0" marB="0" anchor="ctr"/>
                </a:tc>
                <a:tc hMerge="1">
                  <a:txBody>
                    <a:bodyPr/>
                    <a:lstStyle/>
                    <a:p>
                      <a:endParaRPr lang="zh-CN" altLang="en-US"/>
                    </a:p>
                  </a:txBody>
                  <a:tcPr/>
                </a:tc>
                <a:tc>
                  <a:txBody>
                    <a:bodyPr/>
                    <a:lstStyle/>
                    <a:p>
                      <a:pPr algn="ctr">
                        <a:spcAft>
                          <a:spcPts val="0"/>
                        </a:spcAft>
                      </a:pPr>
                      <a:r>
                        <a:rPr lang="zh-CN" sz="800" kern="0">
                          <a:effectLst/>
                        </a:rPr>
                        <a:t>计费单位</a:t>
                      </a:r>
                      <a:endParaRPr lang="zh-CN" sz="700" kern="100">
                        <a:effectLst/>
                        <a:latin typeface="Times New Roman"/>
                        <a:ea typeface="宋体"/>
                      </a:endParaRPr>
                    </a:p>
                  </a:txBody>
                  <a:tcPr marL="45214" marR="45214" marT="0" marB="0" anchor="ctr"/>
                </a:tc>
                <a:tc>
                  <a:txBody>
                    <a:bodyPr/>
                    <a:lstStyle/>
                    <a:p>
                      <a:pPr algn="ctr">
                        <a:spcAft>
                          <a:spcPts val="0"/>
                        </a:spcAft>
                      </a:pPr>
                      <a:r>
                        <a:rPr lang="zh-CN" sz="800" kern="0">
                          <a:effectLst/>
                        </a:rPr>
                        <a:t>金额</a:t>
                      </a:r>
                      <a:endParaRPr lang="zh-CN" sz="700" kern="100">
                        <a:effectLst/>
                        <a:latin typeface="Times New Roman"/>
                        <a:ea typeface="宋体"/>
                      </a:endParaRPr>
                    </a:p>
                  </a:txBody>
                  <a:tcPr marL="45214" marR="45214" marT="0" marB="0" anchor="ctr"/>
                </a:tc>
                <a:tc>
                  <a:txBody>
                    <a:bodyPr/>
                    <a:lstStyle/>
                    <a:p>
                      <a:pPr algn="ctr">
                        <a:spcAft>
                          <a:spcPts val="0"/>
                        </a:spcAft>
                      </a:pPr>
                      <a:r>
                        <a:rPr lang="zh-CN" sz="800" kern="0">
                          <a:effectLst/>
                        </a:rPr>
                        <a:t>备注</a:t>
                      </a:r>
                      <a:endParaRPr lang="zh-CN" sz="700" kern="100">
                        <a:effectLst/>
                        <a:latin typeface="Times New Roman"/>
                        <a:ea typeface="宋体"/>
                      </a:endParaRPr>
                    </a:p>
                  </a:txBody>
                  <a:tcPr marL="45214" marR="45214" marT="0" marB="0" anchor="ctr"/>
                </a:tc>
              </a:tr>
              <a:tr h="470978">
                <a:tc>
                  <a:txBody>
                    <a:bodyPr/>
                    <a:lstStyle/>
                    <a:p>
                      <a:pPr algn="ctr">
                        <a:spcAft>
                          <a:spcPts val="0"/>
                        </a:spcAft>
                      </a:pPr>
                      <a:r>
                        <a:rPr lang="zh-CN" sz="700" kern="0">
                          <a:effectLst/>
                        </a:rPr>
                        <a:t>基本项</a:t>
                      </a:r>
                      <a:endParaRPr lang="zh-CN" sz="700" kern="100">
                        <a:effectLst/>
                        <a:latin typeface="Times New Roman"/>
                        <a:ea typeface="宋体"/>
                      </a:endParaRPr>
                    </a:p>
                  </a:txBody>
                  <a:tcPr marL="45214" marR="45214" marT="0" marB="0" anchor="ctr"/>
                </a:tc>
                <a:tc>
                  <a:txBody>
                    <a:bodyPr/>
                    <a:lstStyle/>
                    <a:p>
                      <a:pPr algn="ctr">
                        <a:spcAft>
                          <a:spcPts val="0"/>
                        </a:spcAft>
                      </a:pPr>
                      <a:r>
                        <a:rPr lang="zh-CN" sz="700" kern="0">
                          <a:effectLst/>
                        </a:rPr>
                        <a:t>网站系统运维</a:t>
                      </a:r>
                      <a:endParaRPr lang="zh-CN" sz="700" kern="100">
                        <a:effectLst/>
                        <a:latin typeface="Times New Roman"/>
                        <a:ea typeface="宋体"/>
                      </a:endParaRPr>
                    </a:p>
                  </a:txBody>
                  <a:tcPr marL="45214" marR="45214" marT="0" marB="0" anchor="ctr"/>
                </a:tc>
                <a:tc>
                  <a:txBody>
                    <a:bodyPr/>
                    <a:lstStyle/>
                    <a:p>
                      <a:pPr algn="ctr">
                        <a:spcAft>
                          <a:spcPts val="0"/>
                        </a:spcAft>
                      </a:pPr>
                      <a:r>
                        <a:rPr lang="zh-CN" sz="700" kern="0">
                          <a:effectLst/>
                        </a:rPr>
                        <a:t>每月</a:t>
                      </a:r>
                      <a:endParaRPr lang="zh-CN" sz="700" kern="100">
                        <a:effectLst/>
                        <a:latin typeface="Times New Roman"/>
                        <a:ea typeface="宋体"/>
                      </a:endParaRPr>
                    </a:p>
                  </a:txBody>
                  <a:tcPr marL="45214" marR="45214" marT="0" marB="0" anchor="ctr"/>
                </a:tc>
                <a:tc>
                  <a:txBody>
                    <a:bodyPr/>
                    <a:lstStyle/>
                    <a:p>
                      <a:pPr algn="l">
                        <a:spcAft>
                          <a:spcPts val="0"/>
                        </a:spcAft>
                      </a:pPr>
                      <a:r>
                        <a:rPr lang="en-US" sz="700" kern="0" dirty="0">
                          <a:effectLst/>
                        </a:rPr>
                        <a:t> ¥         </a:t>
                      </a:r>
                      <a:r>
                        <a:rPr lang="en-US" sz="700" kern="0" dirty="0" smtClean="0">
                          <a:effectLst/>
                        </a:rPr>
                        <a:t>5,000 </a:t>
                      </a:r>
                      <a:endParaRPr lang="zh-CN" sz="700" kern="100" dirty="0">
                        <a:effectLst/>
                        <a:latin typeface="Times New Roman"/>
                        <a:ea typeface="宋体"/>
                      </a:endParaRPr>
                    </a:p>
                  </a:txBody>
                  <a:tcPr marL="45214" marR="45214" marT="0" marB="0" anchor="ctr"/>
                </a:tc>
                <a:tc>
                  <a:txBody>
                    <a:bodyPr/>
                    <a:lstStyle/>
                    <a:p>
                      <a:pPr algn="l">
                        <a:spcAft>
                          <a:spcPts val="0"/>
                        </a:spcAft>
                      </a:pPr>
                      <a:r>
                        <a:rPr lang="zh-CN" sz="700" kern="0">
                          <a:effectLst/>
                        </a:rPr>
                        <a:t>包含：</a:t>
                      </a:r>
                      <a:r>
                        <a:rPr lang="en-US" sz="700" kern="0">
                          <a:effectLst/>
                        </a:rPr>
                        <a:t/>
                      </a:r>
                      <a:br>
                        <a:rPr lang="en-US" sz="700" kern="0">
                          <a:effectLst/>
                        </a:rPr>
                      </a:br>
                      <a:r>
                        <a:rPr lang="en-US" sz="700" kern="0">
                          <a:effectLst/>
                        </a:rPr>
                        <a:t>1</a:t>
                      </a:r>
                      <a:r>
                        <a:rPr lang="zh-CN" sz="700" kern="0">
                          <a:effectLst/>
                        </a:rPr>
                        <a:t>）网站连通性和稳定性维护、数据库安全；</a:t>
                      </a:r>
                      <a:r>
                        <a:rPr lang="en-US" sz="700" kern="0">
                          <a:effectLst/>
                        </a:rPr>
                        <a:t>2</a:t>
                      </a:r>
                      <a:r>
                        <a:rPr lang="zh-CN" sz="700" kern="0">
                          <a:effectLst/>
                        </a:rPr>
                        <a:t>）网站页面内容维护；</a:t>
                      </a:r>
                      <a:endParaRPr lang="zh-CN" sz="700" kern="100">
                        <a:effectLst/>
                        <a:latin typeface="Times New Roman"/>
                        <a:ea typeface="宋体"/>
                      </a:endParaRPr>
                    </a:p>
                  </a:txBody>
                  <a:tcPr marL="45214" marR="45214" marT="0" marB="0" anchor="ctr"/>
                </a:tc>
              </a:tr>
              <a:tr h="226069">
                <a:tc gridSpan="3">
                  <a:txBody>
                    <a:bodyPr/>
                    <a:lstStyle/>
                    <a:p>
                      <a:pPr algn="ctr">
                        <a:spcAft>
                          <a:spcPts val="0"/>
                        </a:spcAft>
                      </a:pPr>
                      <a:r>
                        <a:rPr lang="zh-CN" sz="700" kern="0">
                          <a:effectLst/>
                        </a:rPr>
                        <a:t>总计</a:t>
                      </a:r>
                      <a:endParaRPr lang="zh-CN" sz="700" kern="100">
                        <a:effectLst/>
                        <a:latin typeface="Times New Roman"/>
                        <a:ea typeface="宋体"/>
                      </a:endParaRPr>
                    </a:p>
                  </a:txBody>
                  <a:tcPr marL="45214" marR="45214" marT="0" marB="0" anchor="ctr"/>
                </a:tc>
                <a:tc hMerge="1">
                  <a:txBody>
                    <a:bodyPr/>
                    <a:lstStyle/>
                    <a:p>
                      <a:endParaRPr lang="zh-CN" altLang="en-US"/>
                    </a:p>
                  </a:txBody>
                  <a:tcPr/>
                </a:tc>
                <a:tc hMerge="1">
                  <a:txBody>
                    <a:bodyPr/>
                    <a:lstStyle/>
                    <a:p>
                      <a:endParaRPr lang="zh-CN" altLang="en-US"/>
                    </a:p>
                  </a:txBody>
                  <a:tcPr/>
                </a:tc>
                <a:tc>
                  <a:txBody>
                    <a:bodyPr/>
                    <a:lstStyle/>
                    <a:p>
                      <a:pPr algn="l">
                        <a:spcAft>
                          <a:spcPts val="0"/>
                        </a:spcAft>
                      </a:pPr>
                      <a:r>
                        <a:rPr lang="en-US" sz="700" kern="0">
                          <a:effectLst/>
                        </a:rPr>
                        <a:t> ¥         5,000 </a:t>
                      </a:r>
                      <a:endParaRPr lang="zh-CN" sz="700" kern="100">
                        <a:effectLst/>
                        <a:latin typeface="Times New Roman"/>
                        <a:ea typeface="宋体"/>
                      </a:endParaRPr>
                    </a:p>
                  </a:txBody>
                  <a:tcPr marL="45214" marR="45214" marT="0" marB="0" anchor="ctr"/>
                </a:tc>
                <a:tc>
                  <a:txBody>
                    <a:bodyPr/>
                    <a:lstStyle/>
                    <a:p>
                      <a:pPr algn="l">
                        <a:spcAft>
                          <a:spcPts val="0"/>
                        </a:spcAft>
                      </a:pPr>
                      <a:r>
                        <a:rPr lang="zh-CN" sz="700" kern="0" dirty="0">
                          <a:effectLst/>
                        </a:rPr>
                        <a:t>　</a:t>
                      </a:r>
                      <a:endParaRPr lang="zh-CN" sz="700" kern="100" dirty="0">
                        <a:effectLst/>
                        <a:latin typeface="Times New Roman"/>
                        <a:ea typeface="宋体"/>
                      </a:endParaRPr>
                    </a:p>
                  </a:txBody>
                  <a:tcPr marL="45214" marR="45214" marT="0" marB="0" anchor="ctr"/>
                </a:tc>
              </a:tr>
            </a:tbl>
          </a:graphicData>
        </a:graphic>
      </p:graphicFrame>
    </p:spTree>
    <p:extLst>
      <p:ext uri="{BB962C8B-B14F-4D97-AF65-F5344CB8AC3E}">
        <p14:creationId xmlns:p14="http://schemas.microsoft.com/office/powerpoint/2010/main" val="35881932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85852" y="2214554"/>
            <a:ext cx="6491599" cy="2800767"/>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zh-CN" altLang="en-US" sz="8800" b="1" i="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谢谢</a:t>
            </a:r>
            <a:r>
              <a:rPr lang="en-US" altLang="zh-CN" sz="8800" b="1" i="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a:t>
            </a:r>
          </a:p>
          <a:p>
            <a:pPr algn="ctr"/>
            <a:r>
              <a:rPr lang="en-US" altLang="zh-CN" sz="8800" b="1" i="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Q &amp; A</a:t>
            </a:r>
            <a:endParaRPr lang="zh-CN" altLang="en-US" sz="8800" b="1" i="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
        <p:nvSpPr>
          <p:cNvPr id="6" name="Title 5"/>
          <p:cNvSpPr>
            <a:spLocks noGrp="1"/>
          </p:cNvSpPr>
          <p:nvPr>
            <p:ph type="title"/>
          </p:nvPr>
        </p:nvSpPr>
        <p:spPr>
          <a:xfrm>
            <a:off x="683568" y="260648"/>
            <a:ext cx="2808312" cy="487363"/>
          </a:xfrm>
        </p:spPr>
        <p:txBody>
          <a:bodyPr/>
          <a:lstStyle/>
          <a:p>
            <a:r>
              <a:rPr lang="zh-CN" altLang="en-US" sz="2400" dirty="0" smtClean="0"/>
              <a:t>问答交互时间</a:t>
            </a:r>
            <a:endParaRPr lang="en-US" sz="2400" b="1" dirty="0"/>
          </a:p>
        </p:txBody>
      </p:sp>
      <p:sp>
        <p:nvSpPr>
          <p:cNvPr id="5" name="Slide Number Placeholder 4"/>
          <p:cNvSpPr>
            <a:spLocks noGrp="1"/>
          </p:cNvSpPr>
          <p:nvPr>
            <p:ph type="sldNum" sz="quarter" idx="12"/>
          </p:nvPr>
        </p:nvSpPr>
        <p:spPr/>
        <p:txBody>
          <a:bodyPr/>
          <a:lstStyle/>
          <a:p>
            <a:pPr>
              <a:defRPr/>
            </a:pPr>
            <a:fld id="{842B3DA0-0C8F-47FB-A0DE-CF8DCBCB337C}" type="slidenum">
              <a:rPr lang="en-US" altLang="zh-CN" smtClean="0">
                <a:solidFill>
                  <a:srgbClr val="333333"/>
                </a:solidFill>
              </a:rPr>
              <a:pPr>
                <a:defRPr/>
              </a:pPr>
              <a:t>29</a:t>
            </a:fld>
            <a:endParaRPr lang="en-US" altLang="zh-CN" dirty="0">
              <a:solidFill>
                <a:srgbClr val="333333"/>
              </a:solidFill>
            </a:endParaRPr>
          </a:p>
        </p:txBody>
      </p:sp>
    </p:spTree>
    <p:extLst>
      <p:ext uri="{BB962C8B-B14F-4D97-AF65-F5344CB8AC3E}">
        <p14:creationId xmlns:p14="http://schemas.microsoft.com/office/powerpoint/2010/main" val="406156742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6vlJqxXp5kG5Q.ltcUndQ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c.a.fEEiUy78Msj6qeJ1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MLtoRY4PQEO1mcQ5fg57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Dr280EYY9kS2uyr7GMzha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5uuyfXdXEmM8J5nfNVgO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K520he3j0EeTel4R5.LSk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gi_PWPTe0.qhz.5de1r.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4nkFDvw0ykewOb78WJL0p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MLtoRY4PQEO1mcQ5fg57T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MLtoRY4PQEO1mcQ5fg57T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MLtoRY4PQEO1mcQ5fg57T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QpNcBTx0PkKtscVMH7oz4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k3cYSca1cEGED0s3I0S1u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qEuWpkwmTEq5F3jRC1_2f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xS446vKRzkClYg9ZGkF8Aw"/>
</p:tagLst>
</file>

<file path=ppt/theme/theme1.xml><?xml version="1.0" encoding="utf-8"?>
<a:theme xmlns:a="http://schemas.openxmlformats.org/drawingml/2006/main" name="281TGp_consulting_light">
  <a:themeElements>
    <a:clrScheme name="Office 主题 2">
      <a:dk1>
        <a:srgbClr val="333333"/>
      </a:dk1>
      <a:lt1>
        <a:srgbClr val="FFFFFF"/>
      </a:lt1>
      <a:dk2>
        <a:srgbClr val="000000"/>
      </a:dk2>
      <a:lt2>
        <a:srgbClr val="DDDDDD"/>
      </a:lt2>
      <a:accent1>
        <a:srgbClr val="25557B"/>
      </a:accent1>
      <a:accent2>
        <a:srgbClr val="E4C244"/>
      </a:accent2>
      <a:accent3>
        <a:srgbClr val="FFFFFF"/>
      </a:accent3>
      <a:accent4>
        <a:srgbClr val="2A2A2A"/>
      </a:accent4>
      <a:accent5>
        <a:srgbClr val="ACB4BF"/>
      </a:accent5>
      <a:accent6>
        <a:srgbClr val="CFB03D"/>
      </a:accent6>
      <a:hlink>
        <a:srgbClr val="669900"/>
      </a:hlink>
      <a:folHlink>
        <a:srgbClr val="B2B2B2"/>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主题 1">
        <a:dk1>
          <a:srgbClr val="000000"/>
        </a:dk1>
        <a:lt1>
          <a:srgbClr val="FFFFFF"/>
        </a:lt1>
        <a:dk2>
          <a:srgbClr val="003366"/>
        </a:dk2>
        <a:lt2>
          <a:srgbClr val="C0C0C0"/>
        </a:lt2>
        <a:accent1>
          <a:srgbClr val="44357C"/>
        </a:accent1>
        <a:accent2>
          <a:srgbClr val="93C052"/>
        </a:accent2>
        <a:accent3>
          <a:srgbClr val="FFFFFF"/>
        </a:accent3>
        <a:accent4>
          <a:srgbClr val="000000"/>
        </a:accent4>
        <a:accent5>
          <a:srgbClr val="B0AEBF"/>
        </a:accent5>
        <a:accent6>
          <a:srgbClr val="85AE49"/>
        </a:accent6>
        <a:hlink>
          <a:srgbClr val="9999FF"/>
        </a:hlink>
        <a:folHlink>
          <a:srgbClr val="4EA7EA"/>
        </a:folHlink>
      </a:clrScheme>
      <a:clrMap bg1="lt1" tx1="dk1" bg2="lt2" tx2="dk2" accent1="accent1" accent2="accent2" accent3="accent3" accent4="accent4" accent5="accent5" accent6="accent6" hlink="hlink" folHlink="folHlink"/>
    </a:extraClrScheme>
    <a:extraClrScheme>
      <a:clrScheme name="Office 主题 2">
        <a:dk1>
          <a:srgbClr val="333333"/>
        </a:dk1>
        <a:lt1>
          <a:srgbClr val="FFFFFF"/>
        </a:lt1>
        <a:dk2>
          <a:srgbClr val="000000"/>
        </a:dk2>
        <a:lt2>
          <a:srgbClr val="DDDDDD"/>
        </a:lt2>
        <a:accent1>
          <a:srgbClr val="25557B"/>
        </a:accent1>
        <a:accent2>
          <a:srgbClr val="E4C244"/>
        </a:accent2>
        <a:accent3>
          <a:srgbClr val="FFFFFF"/>
        </a:accent3>
        <a:accent4>
          <a:srgbClr val="2A2A2A"/>
        </a:accent4>
        <a:accent5>
          <a:srgbClr val="ACB4BF"/>
        </a:accent5>
        <a:accent6>
          <a:srgbClr val="CFB03D"/>
        </a:accent6>
        <a:hlink>
          <a:srgbClr val="669900"/>
        </a:hlink>
        <a:folHlink>
          <a:srgbClr val="B2B2B2"/>
        </a:folHlink>
      </a:clrScheme>
      <a:clrMap bg1="lt1" tx1="dk1" bg2="lt2" tx2="dk2" accent1="accent1" accent2="accent2" accent3="accent3" accent4="accent4" accent5="accent5" accent6="accent6" hlink="hlink" folHlink="folHlink"/>
    </a:extraClrScheme>
    <a:extraClrScheme>
      <a:clrScheme name="Office 主题 3">
        <a:dk1>
          <a:srgbClr val="35567B"/>
        </a:dk1>
        <a:lt1>
          <a:srgbClr val="FFFFFF"/>
        </a:lt1>
        <a:dk2>
          <a:srgbClr val="000000"/>
        </a:dk2>
        <a:lt2>
          <a:srgbClr val="DDDDDD"/>
        </a:lt2>
        <a:accent1>
          <a:srgbClr val="789F21"/>
        </a:accent1>
        <a:accent2>
          <a:srgbClr val="E9803F"/>
        </a:accent2>
        <a:accent3>
          <a:srgbClr val="FFFFFF"/>
        </a:accent3>
        <a:accent4>
          <a:srgbClr val="2C4868"/>
        </a:accent4>
        <a:accent5>
          <a:srgbClr val="BECDAB"/>
        </a:accent5>
        <a:accent6>
          <a:srgbClr val="D37338"/>
        </a:accent6>
        <a:hlink>
          <a:srgbClr val="E0C244"/>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4893</TotalTime>
  <Words>2024</Words>
  <Application>Microsoft Office PowerPoint</Application>
  <PresentationFormat>全屏显示(4:3)</PresentationFormat>
  <Paragraphs>419</Paragraphs>
  <Slides>29</Slides>
  <Notes>14</Notes>
  <HiddenSlides>0</HiddenSlides>
  <MMClips>0</MMClip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281TGp_consulting_light</vt:lpstr>
      <vt:lpstr>聚芳永官网项目建议书</vt:lpstr>
      <vt:lpstr>目录</vt:lpstr>
      <vt:lpstr>我们理解聚芳永本次官网项目的需求是……</vt:lpstr>
      <vt:lpstr>乐其对聚芳永官网体系的理解是……</vt:lpstr>
      <vt:lpstr>无数的项目经验告诉我们聚芳永官网项目成功的关键为以下四个方面</vt:lpstr>
      <vt:lpstr>PowerPoint 演示文稿</vt:lpstr>
      <vt:lpstr>PowerPoint 演示文稿</vt:lpstr>
      <vt:lpstr>所谓双线结合即所有的CRM运作应充分利用线上线下的资源，并且有效互动、紧密配合</vt:lpstr>
      <vt:lpstr>PowerPoint 演示文稿</vt:lpstr>
      <vt:lpstr>目录</vt:lpstr>
      <vt:lpstr>我们建议将项目分为三大阶段完成聚芳永官网的建设</vt:lpstr>
      <vt:lpstr>聚芳永官网系统架构图</vt:lpstr>
      <vt:lpstr>聚芳永官网一期前端-首页</vt:lpstr>
      <vt:lpstr>聚芳永官网一期前端-首页</vt:lpstr>
      <vt:lpstr>聚芳永官网一期前端-首页</vt:lpstr>
      <vt:lpstr>聚芳永官网一期前端-首页</vt:lpstr>
      <vt:lpstr>聚芳永官网一期前端-商品列表页</vt:lpstr>
      <vt:lpstr>聚芳永官网一期前端-商品详情页</vt:lpstr>
      <vt:lpstr>聚芳永官网二期CRM——建议从操作型CRM入手，先建立成熟的数据采集工作体系，再逐步构建分析型CRM，进一步开展数据挖掘工作</vt:lpstr>
      <vt:lpstr>聚芳永官网三期在线购物——建议从xTao入手，先建立官网在线购买体系，再逐步构建移动APP，进一步凝聚用户，塑造品牌</vt:lpstr>
      <vt:lpstr>目录</vt:lpstr>
      <vt:lpstr>乐其公司背景简介</vt:lpstr>
      <vt:lpstr>乐其与超过20个知名品牌建立全方位的合作关系</vt:lpstr>
      <vt:lpstr>目录</vt:lpstr>
      <vt:lpstr>我们有完整而专业的运作团队</vt:lpstr>
      <vt:lpstr>我们有高效、灵活、安全的系统可供借鉴</vt:lpstr>
      <vt:lpstr>目录</vt:lpstr>
      <vt:lpstr>项目报价</vt:lpstr>
      <vt:lpstr>问答交互时间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玛氏宠物CRM项目建议书</dc:title>
  <dc:creator>Charles Chang</dc:creator>
  <cp:lastModifiedBy>Justin</cp:lastModifiedBy>
  <cp:revision>751</cp:revision>
  <dcterms:created xsi:type="dcterms:W3CDTF">2012-01-07T03:22:26Z</dcterms:created>
  <dcterms:modified xsi:type="dcterms:W3CDTF">2013-01-14T02:29:13Z</dcterms:modified>
</cp:coreProperties>
</file>